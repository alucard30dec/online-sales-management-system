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74721-E1D5-44A4-AEBC-87C64C3869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E0492-A28B-4170-94E4-A12ECA7CF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0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final testing package for the Online Sales Management System.</a:t>
            </a:r>
          </a:p>
          <a:p>
            <a:r>
              <a:rPr lang="en-US"/>
              <a:t>Recorded execution is complete at 63 / 63 cases, but the system is not defect-free.</a:t>
            </a:r>
          </a:p>
          <a:p>
            <a:r>
              <a:rPr lang="en-US"/>
              <a:t>The rest of the deck shows how coverage, evidence, and defect tracking support that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5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system includes admin workflows, public catalog pages, and a small API surface.</a:t>
            </a:r>
          </a:p>
          <a:p>
            <a:r>
              <a:rPr lang="en-US"/>
              <a:t>These modules are suitable for testing because defects can affect permissions, stock, and transaction correctness.</a:t>
            </a:r>
          </a:p>
          <a:p>
            <a:r>
              <a:rPr lang="en-US"/>
              <a:t>The highest-risk modules drove the scope and the defect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0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member owns a non-overlapping UI subset.</a:t>
            </a:r>
          </a:p>
          <a:p>
            <a:r>
              <a:rPr lang="en-US"/>
              <a:t>The ownership split is 17, 13, and 14 UI cases, so everyone stays above the 10-case requirement.</a:t>
            </a:r>
          </a:p>
          <a:p>
            <a:r>
              <a:rPr lang="en-US"/>
              <a:t>Module ownership also made evidence and Q&amp;A easier to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7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strategy is risk-based: manual UI execution first, API regression next, and selective automation for repeatable flows.</a:t>
            </a:r>
          </a:p>
          <a:p>
            <a:r>
              <a:rPr lang="en-US"/>
              <a:t>Execution is black-box, but source inspection was used to design edge cases and role checks.</a:t>
            </a:r>
          </a:p>
          <a:p>
            <a:r>
              <a:rPr lang="en-US"/>
              <a:t>The key defense point is the chain from scenario to GitHub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07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verified outputs came from the same local environment.</a:t>
            </a:r>
          </a:p>
          <a:p>
            <a:r>
              <a:rPr lang="en-US"/>
              <a:t>That environment is enough for functional verification and evidence capture, but not for production-like claims.</a:t>
            </a:r>
          </a:p>
          <a:p>
            <a:r>
              <a:rPr lang="en-US"/>
              <a:t>Edge is included only as a focused smoke rerun, not as full browser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90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documented 42 scenarios and designed 63 cases, split into 44 UI and 19 API.</a:t>
            </a:r>
          </a:p>
          <a:p>
            <a:r>
              <a:rPr lang="en-US"/>
              <a:t>UI ownership remains non-overlapping and sums cleanly to 44.</a:t>
            </a:r>
          </a:p>
          <a:p>
            <a:r>
              <a:rPr lang="en-US"/>
              <a:t>Coverage is complete in the recorded scope, but complete coverage does not mean defect-free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00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Automation supports repeatability and bonus coverage; it does not replace final manual status decisions.</a:t>
            </a:r>
          </a:p>
          <a:p>
            <a:r>
              <a:rPr lang="en-US"/>
              <a:t>The real automated pieces are Selenium UI checks and Newman API runs.</a:t>
            </a:r>
          </a:p>
          <a:p>
            <a:r>
              <a:rPr lang="en-US"/>
              <a:t>Runtime screenshots, TRX files, and Newman outputs back up the automated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6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shows the evidence types actually used in the submission.</a:t>
            </a:r>
          </a:p>
          <a:p>
            <a:r>
              <a:rPr lang="en-US"/>
              <a:t>A pass still needs runtime proof, and a fail needs a visible mismatch plus supporting artifacts.</a:t>
            </a:r>
          </a:p>
          <a:p>
            <a:r>
              <a:rPr lang="en-US"/>
              <a:t>The failure evidence shown here matches the open defects in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33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four cases show how status was assigned in the workbook.</a:t>
            </a:r>
          </a:p>
          <a:p>
            <a:r>
              <a:rPr lang="en-US"/>
              <a:t>The pass cases prove successful runtime behavior; the fail cases show real expected-versus-actual mismatches.</a:t>
            </a:r>
          </a:p>
          <a:p>
            <a:r>
              <a:rPr lang="en-US"/>
              <a:t>Each failing case is linked to reruns or GitHub issues, not only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01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execution metrics separate coverage from product stability.</a:t>
            </a:r>
          </a:p>
          <a:p>
            <a:r>
              <a:rPr lang="en-US"/>
              <a:t>63 / 63 executed proves completeness of the run, not product correctness.</a:t>
            </a:r>
          </a:p>
          <a:p>
            <a:r>
              <a:rPr lang="en-US"/>
              <a:t>The 7 failing cases map to 4 confirmed defects, which is why fail count and defect count are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32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strongest defect is BUG-20260406-001 because it blocks the base invoice-create flow.</a:t>
            </a:r>
          </a:p>
          <a:p>
            <a:r>
              <a:rPr lang="en-US"/>
              <a:t>It also affects related invoice scenarios, so it is a better defense example than a cosmetic issue.</a:t>
            </a:r>
          </a:p>
          <a:p>
            <a:r>
              <a:rPr lang="en-US"/>
              <a:t>The screenshot, rerun artifacts, and live GitHub issue all point to the same unresolved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84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separates what the evidence proves today from what still depends on code fixes.</a:t>
            </a:r>
          </a:p>
          <a:p>
            <a:r>
              <a:rPr lang="en-US"/>
              <a:t>The submission is complete and defensible, but the open defects remain open.</a:t>
            </a:r>
          </a:p>
          <a:p>
            <a:r>
              <a:rPr lang="en-US"/>
              <a:t>The next engineering step is code fix plus focused retest, not rewriting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main deck stops here on purpose.</a:t>
            </a:r>
          </a:p>
          <a:p>
            <a:r>
              <a:rPr lang="en-US"/>
              <a:t>Backup slides exist for package structure, sample testcase format, and full defect summary.</a:t>
            </a:r>
          </a:p>
          <a:p>
            <a:r>
              <a:rPr lang="en-US"/>
              <a:t>If asked why the submission is still valid with open defects, the answer is that defect management is part of the required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04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backup slide shows where the examiner can find each required artifact in the package.</a:t>
            </a:r>
          </a:p>
          <a:p>
            <a:r>
              <a:rPr lang="en-US"/>
              <a:t>It is useful when questions move from the slides to the actual submission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5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shows that the UI testcase format meets the brief: ID, title, preconditions, steps, expected, actual, status,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75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shows the same standard for API cases, plus endpoint and method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3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lists all confirmed open defects and their severity split.</a:t>
            </a:r>
          </a:p>
          <a:p>
            <a:r>
              <a:rPr lang="en-US"/>
              <a:t>It helps answer questions about count, ownership, and issue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0492-A28B-4170-94E4-A12ECA7CFD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2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216C-9887-6F63-6BCB-E9387E97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24123-CF2F-49BE-5D72-7F37E5083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9FBF0-0527-D923-7DBB-23E5F83B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E7EC8-0C7A-9D04-D9A5-C955C4F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3AB7C-0320-9D65-0036-0B705375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3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6EA7-035E-C447-96EE-C72B33BC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512A-6392-F8C2-B405-F0298D02F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4AD0D-DF7D-B448-7E5D-D696CE22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249B4-2734-F613-49DF-BC9A567C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AAEF8-5584-0D94-EFF6-1C9B19C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6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1C4B-7717-E5CF-A719-AB48C36C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3F873-2D69-5A17-3901-8A08AD4EA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BB6F4-A66B-3D7D-AADC-9C4B11B5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B9E0B-5535-0F6E-93EB-B00E9EA3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C43BF-1133-630D-D45E-AA251EF3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C439-F75E-E2EF-4724-329D0A16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AB3F-35E7-C46B-F6D8-54C0F18BF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2E4F9-A7DF-BB84-181A-3AE04C83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8FB37-A373-BFC9-EB44-AFA5C9F8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7F9A1-AB10-16EB-1136-701F40A7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94290-1E90-CD6D-4911-4A849C0E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0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7F7A-E8D2-691D-F5F1-B0C27D13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61C4B-ECB9-FAD7-4FDB-DC7F62D28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3D65D-0B0E-2F88-C88F-E4CE069BF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86372-6646-46BF-D8CF-6F12A6B2C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C1132-3B2E-1DE3-22F4-3F24C741B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971A47-189E-60FA-388D-D75C636E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7145E-34F8-ECDA-1053-619B77CC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84E27-F49E-53FC-E7DC-A5889CEA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7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00A9-D72F-5665-29C2-0AD00637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807BA-ABF8-7687-3963-DD2BB48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27EF6-FBE8-B48E-4171-BF606CB9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3B171-695B-C9F4-8A0E-B3028887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4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6B5C4-FB36-D4DC-03A6-4E21A118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D4FC5-72B2-7EFD-7B16-DAE869F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E759-D8D4-3BBF-C869-96DB3352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8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E96D-6733-143D-1108-737D1A35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278E8-DC6B-D3AD-2810-FF185D8B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BBCCA-D704-5DD5-FECA-86EF6CAAB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35A29-7A07-2294-E009-34242E5A9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05BE0-7894-90E2-38BD-3327E8B5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4BAE1-1911-DAAB-FDBC-86550579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6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DEFE-B085-2593-4C72-FF70C740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AFAF5-855D-5572-0A12-99A875AB4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D2C21-0A70-E7EF-E39D-35C7BD9BF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F49B1-D4F6-5CBE-3D0B-F50E5B1A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7D0CD-1012-9CA2-ABB0-03E95FA5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6F0F0-FFC3-F66D-0842-4B995A81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56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481B-68B4-A038-9706-4A655F4D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29B23-D3BA-04AB-53FB-2124FF765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A2D17-561D-418A-768B-0F24210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0800-EDCB-7A73-7240-21EC872E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A9CE-14CA-3AC1-D839-C658B3CC6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4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D4820-03E3-30E6-FF86-5471D0A84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88718-786C-00CB-EDE4-94DA7AEF0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F497-25B6-5278-93F0-AF4D47A3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6FE7-3D16-222A-3E4B-9940D0C5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C1BCF-2DF2-C169-3996-54294AE0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61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8C5F8-6BB6-0D4C-9D16-9501023B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F02BB-475A-0A52-7A02-3FF1FAD4D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8949-2D5D-40F7-89FC-8AA79DDCF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EF154-6F20-4A33-904F-9409835DBC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3015B-383B-E47E-EE77-F1F4FF262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4BF41-D6AA-A152-96EC-5FBB65D27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E6585-91AE-4142-9F0E-3B6BF16C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7B8F93-D06B-454B-EA48-8BD1A848F5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C2B05E-BE62-DE8C-C36D-6A0966BDF0B7}"/>
              </a:ext>
            </a:extLst>
          </p:cNvPr>
          <p:cNvSpPr/>
          <p:nvPr/>
        </p:nvSpPr>
        <p:spPr>
          <a:xfrm>
            <a:off x="9398000" y="-508000"/>
            <a:ext cx="3302000" cy="3302000"/>
          </a:xfrm>
          <a:prstGeom prst="rect">
            <a:avLst/>
          </a:prstGeom>
          <a:solidFill>
            <a:srgbClr val="1079D9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7060E-BBBB-7DA7-D78F-71FF98DA73A9}"/>
              </a:ext>
            </a:extLst>
          </p:cNvPr>
          <p:cNvSpPr/>
          <p:nvPr/>
        </p:nvSpPr>
        <p:spPr>
          <a:xfrm>
            <a:off x="-762000" y="4572000"/>
            <a:ext cx="3556000" cy="3556000"/>
          </a:xfrm>
          <a:prstGeom prst="rect">
            <a:avLst/>
          </a:prstGeom>
          <a:solidFill>
            <a:srgbClr val="16A398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1505E-CDF6-4279-B99F-33BAD7E8A701}"/>
              </a:ext>
            </a:extLst>
          </p:cNvPr>
          <p:cNvSpPr txBox="1"/>
          <p:nvPr/>
        </p:nvSpPr>
        <p:spPr>
          <a:xfrm>
            <a:off x="736600" y="889000"/>
            <a:ext cx="6604000" cy="6360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Bahnschrift SemiBold" panose="020B0502040204020203" pitchFamily="34" charset="0"/>
              </a:rPr>
              <a:t>Online Sales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64F38-477C-41C7-D85B-4E2D43524D07}"/>
              </a:ext>
            </a:extLst>
          </p:cNvPr>
          <p:cNvSpPr txBox="1"/>
          <p:nvPr/>
        </p:nvSpPr>
        <p:spPr>
          <a:xfrm>
            <a:off x="736600" y="1600200"/>
            <a:ext cx="5334000" cy="43601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500" b="1">
                <a:solidFill>
                  <a:srgbClr val="DBEEFF"/>
                </a:solidFill>
                <a:latin typeface="Segoe UI" panose="020B0502040204020203" pitchFamily="34" charset="0"/>
              </a:rPr>
              <a:t>Software Testing Final Submission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79039-7CBC-FE6E-5F12-C8288F5F9862}"/>
              </a:ext>
            </a:extLst>
          </p:cNvPr>
          <p:cNvSpPr txBox="1"/>
          <p:nvPr/>
        </p:nvSpPr>
        <p:spPr>
          <a:xfrm>
            <a:off x="736600" y="2133600"/>
            <a:ext cx="6858000" cy="103618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 panose="020B0502040204020203" pitchFamily="34" charset="0"/>
              </a:rPr>
              <a:t>Recorded execution is complete for the documented scope: 63 / 63 cases executed, 56 pass, 7 fail, and 4 confirmed open defects tracked in GitHub.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7DA104-47EC-B9BB-25D5-BEA3BB3411BC}"/>
              </a:ext>
            </a:extLst>
          </p:cNvPr>
          <p:cNvSpPr/>
          <p:nvPr/>
        </p:nvSpPr>
        <p:spPr>
          <a:xfrm>
            <a:off x="736600" y="3403600"/>
            <a:ext cx="4318000" cy="787400"/>
          </a:xfrm>
          <a:prstGeom prst="roundRect">
            <a:avLst/>
          </a:prstGeom>
          <a:solidFill>
            <a:srgbClr val="17274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r>
              <a:rPr lang="nl-NL" sz="1300">
                <a:solidFill>
                  <a:srgbClr val="FFFFFF"/>
                </a:solidFill>
                <a:latin typeface="Segoe UI" panose="020B0502040204020203" pitchFamily="34" charset="0"/>
              </a:rPr>
              <a:t>Team
Hoang Van Thien
Nguyen Thanh Dat
Le Quang Duy</a:t>
            </a:r>
            <a:endParaRPr lang="en-US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10522-5DB4-6A3E-26B6-1164F812F491}"/>
              </a:ext>
            </a:extLst>
          </p:cNvPr>
          <p:cNvSpPr txBox="1"/>
          <p:nvPr/>
        </p:nvSpPr>
        <p:spPr>
          <a:xfrm>
            <a:off x="736600" y="6172200"/>
            <a:ext cx="4572000" cy="359073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00">
                <a:solidFill>
                  <a:srgbClr val="DBEEFF"/>
                </a:solidFill>
                <a:latin typeface="Segoe UI" panose="020B0502040204020203" pitchFamily="34" charset="0"/>
              </a:rPr>
              <a:t>Repository: github.com/Alucard30Dec/Online-Sales-Management-System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C0D087-2559-1692-51C3-8AB181058C0B}"/>
              </a:ext>
            </a:extLst>
          </p:cNvPr>
          <p:cNvSpPr/>
          <p:nvPr/>
        </p:nvSpPr>
        <p:spPr>
          <a:xfrm>
            <a:off x="7391400" y="160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E00205-C8A9-4487-BA16-CCFB5D687706}"/>
              </a:ext>
            </a:extLst>
          </p:cNvPr>
          <p:cNvSpPr/>
          <p:nvPr/>
        </p:nvSpPr>
        <p:spPr>
          <a:xfrm>
            <a:off x="7391400" y="1600200"/>
            <a:ext cx="101600" cy="11176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595F3-6F91-D92F-7792-759A79EE3560}"/>
              </a:ext>
            </a:extLst>
          </p:cNvPr>
          <p:cNvSpPr txBox="1"/>
          <p:nvPr/>
        </p:nvSpPr>
        <p:spPr>
          <a:xfrm>
            <a:off x="7645400" y="1828800"/>
            <a:ext cx="13208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200" b="1">
                <a:solidFill>
                  <a:srgbClr val="182438"/>
                </a:solidFill>
                <a:latin typeface="Bahnschrift SemiBold" panose="020B0502040204020203" pitchFamily="34" charset="0"/>
              </a:rPr>
              <a:t>63 / 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2BB72C-8E11-2A11-8C4A-57973C366271}"/>
              </a:ext>
            </a:extLst>
          </p:cNvPr>
          <p:cNvSpPr txBox="1"/>
          <p:nvPr/>
        </p:nvSpPr>
        <p:spPr>
          <a:xfrm>
            <a:off x="7645400" y="2286000"/>
            <a:ext cx="13208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Recorded execution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54AEE6-2C25-1437-6DF1-361BCF7053AF}"/>
              </a:ext>
            </a:extLst>
          </p:cNvPr>
          <p:cNvSpPr/>
          <p:nvPr/>
        </p:nvSpPr>
        <p:spPr>
          <a:xfrm>
            <a:off x="9220200" y="160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D3CF90-B53C-C4DD-B267-3BD948254A50}"/>
              </a:ext>
            </a:extLst>
          </p:cNvPr>
          <p:cNvSpPr/>
          <p:nvPr/>
        </p:nvSpPr>
        <p:spPr>
          <a:xfrm>
            <a:off x="9220200" y="1600200"/>
            <a:ext cx="101600" cy="11176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E17DC9-A9E3-5F39-BEAD-AF1D10DDEC2C}"/>
              </a:ext>
            </a:extLst>
          </p:cNvPr>
          <p:cNvSpPr txBox="1"/>
          <p:nvPr/>
        </p:nvSpPr>
        <p:spPr>
          <a:xfrm>
            <a:off x="9474200" y="1828800"/>
            <a:ext cx="13208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200" b="1">
                <a:solidFill>
                  <a:srgbClr val="182438"/>
                </a:solidFill>
                <a:latin typeface="Bahnschrift SemiBold" panose="020B0502040204020203" pitchFamily="34" charset="0"/>
              </a:rPr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9975AD-8D5B-3659-4C5A-D6AC6E842D5C}"/>
              </a:ext>
            </a:extLst>
          </p:cNvPr>
          <p:cNvSpPr txBox="1"/>
          <p:nvPr/>
        </p:nvSpPr>
        <p:spPr>
          <a:xfrm>
            <a:off x="9474200" y="228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A403EB-9074-4C9D-154F-E233BDDA24C4}"/>
              </a:ext>
            </a:extLst>
          </p:cNvPr>
          <p:cNvSpPr/>
          <p:nvPr/>
        </p:nvSpPr>
        <p:spPr>
          <a:xfrm>
            <a:off x="7391400" y="287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44A112-46DB-33F8-EF34-C84CA39361A4}"/>
              </a:ext>
            </a:extLst>
          </p:cNvPr>
          <p:cNvSpPr/>
          <p:nvPr/>
        </p:nvSpPr>
        <p:spPr>
          <a:xfrm>
            <a:off x="7391400" y="2870200"/>
            <a:ext cx="101600" cy="1117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907DB-368B-9301-0888-FD6C7294042C}"/>
              </a:ext>
            </a:extLst>
          </p:cNvPr>
          <p:cNvSpPr txBox="1"/>
          <p:nvPr/>
        </p:nvSpPr>
        <p:spPr>
          <a:xfrm>
            <a:off x="7645400" y="3098800"/>
            <a:ext cx="13208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200" b="1">
                <a:solidFill>
                  <a:srgbClr val="182438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4BA9E2-78AB-2DBD-EC61-2F3CC5776AE8}"/>
              </a:ext>
            </a:extLst>
          </p:cNvPr>
          <p:cNvSpPr txBox="1"/>
          <p:nvPr/>
        </p:nvSpPr>
        <p:spPr>
          <a:xfrm>
            <a:off x="7645400" y="355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Fail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DE8B9D-97BF-9EC6-FF61-2D3F1F36C219}"/>
              </a:ext>
            </a:extLst>
          </p:cNvPr>
          <p:cNvSpPr/>
          <p:nvPr/>
        </p:nvSpPr>
        <p:spPr>
          <a:xfrm>
            <a:off x="9220200" y="287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2FD25A-C23E-F500-D385-FF1189C51986}"/>
              </a:ext>
            </a:extLst>
          </p:cNvPr>
          <p:cNvSpPr/>
          <p:nvPr/>
        </p:nvSpPr>
        <p:spPr>
          <a:xfrm>
            <a:off x="9220200" y="2870200"/>
            <a:ext cx="101600" cy="11176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A4F8D7-0B25-667C-8F17-FC12B75B1FA5}"/>
              </a:ext>
            </a:extLst>
          </p:cNvPr>
          <p:cNvSpPr txBox="1"/>
          <p:nvPr/>
        </p:nvSpPr>
        <p:spPr>
          <a:xfrm>
            <a:off x="9474200" y="3098800"/>
            <a:ext cx="13208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200" b="1">
                <a:solidFill>
                  <a:srgbClr val="182438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E9E911-2361-FAF5-1E5D-F84A4F4A056D}"/>
              </a:ext>
            </a:extLst>
          </p:cNvPr>
          <p:cNvSpPr txBox="1"/>
          <p:nvPr/>
        </p:nvSpPr>
        <p:spPr>
          <a:xfrm>
            <a:off x="9474200" y="355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Open defects</a:t>
            </a:r>
          </a:p>
        </p:txBody>
      </p:sp>
      <p:pic>
        <p:nvPicPr>
          <p:cNvPr id="27" name="Picture 26" descr="A red and blue logo&#10;&#10;AI-generated content may be incorrect.">
            <a:extLst>
              <a:ext uri="{FF2B5EF4-FFF2-40B4-BE49-F238E27FC236}">
                <a16:creationId xmlns:a16="http://schemas.microsoft.com/office/drawing/2014/main" id="{B7770EC1-3FBD-B0DD-F8E3-A79586541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0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B0F74-C6FF-A1CD-4EA3-27C2371909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8C3E86-C87F-DFAA-C643-31E5AAC3EE0E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97BEF-9C17-3A8D-1E54-B8C8C0B2C797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01  Project Overview &amp;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9ADC6-385B-91BD-6A56-1737147955D2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System Surfaces And High-Risk Areas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2FA81-FF52-31F4-CD4E-E9FBBB361D6E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Web-based sales and inventory system. The scope centers on business-critical flows where defects can affect permissions, inventory, transaction status, or reporting.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3CEA96-295E-8491-3C01-239CC366DD7D}"/>
              </a:ext>
            </a:extLst>
          </p:cNvPr>
          <p:cNvSpPr/>
          <p:nvPr/>
        </p:nvSpPr>
        <p:spPr>
          <a:xfrm>
            <a:off x="609600" y="19050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6FBDE3-3EBD-B9B6-8DA3-C6B6535C2025}"/>
              </a:ext>
            </a:extLst>
          </p:cNvPr>
          <p:cNvSpPr/>
          <p:nvPr/>
        </p:nvSpPr>
        <p:spPr>
          <a:xfrm>
            <a:off x="609600" y="1905000"/>
            <a:ext cx="101600" cy="11938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C8E21-8281-912B-D2A7-67D027162090}"/>
              </a:ext>
            </a:extLst>
          </p:cNvPr>
          <p:cNvSpPr txBox="1"/>
          <p:nvPr/>
        </p:nvSpPr>
        <p:spPr>
          <a:xfrm>
            <a:off x="863600" y="21336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Admin 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BC456-44DB-379D-2704-9CDAC9708B4A}"/>
              </a:ext>
            </a:extLst>
          </p:cNvPr>
          <p:cNvSpPr txBox="1"/>
          <p:nvPr/>
        </p:nvSpPr>
        <p:spPr>
          <a:xfrm>
            <a:off x="863600" y="2590800"/>
            <a:ext cx="28194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Authentication, roles, products, purchases, invoices, reports, and stock operations.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394BEB-DF51-5924-162A-6CEC770BABCF}"/>
              </a:ext>
            </a:extLst>
          </p:cNvPr>
          <p:cNvSpPr/>
          <p:nvPr/>
        </p:nvSpPr>
        <p:spPr>
          <a:xfrm>
            <a:off x="4038600" y="19050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DE6F0B-E1EF-1C88-48EE-FE0A037CBFB7}"/>
              </a:ext>
            </a:extLst>
          </p:cNvPr>
          <p:cNvSpPr/>
          <p:nvPr/>
        </p:nvSpPr>
        <p:spPr>
          <a:xfrm>
            <a:off x="4038600" y="1905000"/>
            <a:ext cx="101600" cy="11938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9ED5D-4933-9CE4-9982-9E9B9EBC0988}"/>
              </a:ext>
            </a:extLst>
          </p:cNvPr>
          <p:cNvSpPr txBox="1"/>
          <p:nvPr/>
        </p:nvSpPr>
        <p:spPr>
          <a:xfrm>
            <a:off x="4292600" y="21336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Public Catalog UI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D11B4-1786-EAF5-BEB4-DFA457254A39}"/>
              </a:ext>
            </a:extLst>
          </p:cNvPr>
          <p:cNvSpPr txBox="1"/>
          <p:nvPr/>
        </p:nvSpPr>
        <p:spPr>
          <a:xfrm>
            <a:off x="4292600" y="2590800"/>
            <a:ext cx="28194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Search, sorting, product detail access, and customer-facing catalog behavior.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E50891-D2DF-883C-B099-74749FD5EF3B}"/>
              </a:ext>
            </a:extLst>
          </p:cNvPr>
          <p:cNvSpPr/>
          <p:nvPr/>
        </p:nvSpPr>
        <p:spPr>
          <a:xfrm>
            <a:off x="609600" y="32766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19A8FE-0DE7-6414-C658-B23F44670DFF}"/>
              </a:ext>
            </a:extLst>
          </p:cNvPr>
          <p:cNvSpPr/>
          <p:nvPr/>
        </p:nvSpPr>
        <p:spPr>
          <a:xfrm>
            <a:off x="609600" y="3276600"/>
            <a:ext cx="101600" cy="11938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91E39C-F72B-8448-779A-C3A7168F5118}"/>
              </a:ext>
            </a:extLst>
          </p:cNvPr>
          <p:cNvSpPr txBox="1"/>
          <p:nvPr/>
        </p:nvSpPr>
        <p:spPr>
          <a:xfrm>
            <a:off x="863600" y="35052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Health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99363E-42E3-333B-238B-F57137FC2156}"/>
              </a:ext>
            </a:extLst>
          </p:cNvPr>
          <p:cNvSpPr txBox="1"/>
          <p:nvPr/>
        </p:nvSpPr>
        <p:spPr>
          <a:xfrm>
            <a:off x="863600" y="3962400"/>
            <a:ext cx="2819400" cy="7130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Environment readiness smoke used to validate API availability before deeper runs.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F53F32-74DF-7E74-1756-3D15D515B51B}"/>
              </a:ext>
            </a:extLst>
          </p:cNvPr>
          <p:cNvSpPr/>
          <p:nvPr/>
        </p:nvSpPr>
        <p:spPr>
          <a:xfrm>
            <a:off x="4038600" y="32766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37F4B6-5F0B-4A9D-C10F-F57706EDD62C}"/>
              </a:ext>
            </a:extLst>
          </p:cNvPr>
          <p:cNvSpPr/>
          <p:nvPr/>
        </p:nvSpPr>
        <p:spPr>
          <a:xfrm>
            <a:off x="4038600" y="3276600"/>
            <a:ext cx="101600" cy="11938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A5327-B2EE-8D6D-EBB0-7AA070ADA8BB}"/>
              </a:ext>
            </a:extLst>
          </p:cNvPr>
          <p:cNvSpPr txBox="1"/>
          <p:nvPr/>
        </p:nvSpPr>
        <p:spPr>
          <a:xfrm>
            <a:off x="4292600" y="35052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Catalog API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C4F7B1-1AA9-6C45-3FAE-FA3F956D9F44}"/>
              </a:ext>
            </a:extLst>
          </p:cNvPr>
          <p:cNvSpPr txBox="1"/>
          <p:nvPr/>
        </p:nvSpPr>
        <p:spPr>
          <a:xfrm>
            <a:off x="4292600" y="3962400"/>
            <a:ext cx="2819400" cy="7130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Filtering, paging, sort, and boundary behavior through Newman collection runs.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FAFB513-C14E-AE06-CB88-094227BF4FC3}"/>
              </a:ext>
            </a:extLst>
          </p:cNvPr>
          <p:cNvSpPr/>
          <p:nvPr/>
        </p:nvSpPr>
        <p:spPr>
          <a:xfrm>
            <a:off x="7569200" y="1905000"/>
            <a:ext cx="4013200" cy="256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Highest-Risk Modules
- Authentication and permission boundaries
- Product import, stock, and inventory movement
- Purchase and invoice transaction flows
- Reports and public catalog correctness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22C9A6F-AE22-3DF2-B841-12E5B49584DA}"/>
              </a:ext>
            </a:extLst>
          </p:cNvPr>
          <p:cNvSpPr/>
          <p:nvPr/>
        </p:nvSpPr>
        <p:spPr>
          <a:xfrm>
            <a:off x="7569200" y="4724400"/>
            <a:ext cx="4013200" cy="1117600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D68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Why this matters
These areas can create false stock, invalid revenue records, or unauthorized access if they break.</a:t>
            </a:r>
          </a:p>
        </p:txBody>
      </p:sp>
      <p:pic>
        <p:nvPicPr>
          <p:cNvPr id="25" name="Picture 24" descr="A red and blue logo&#10;&#10;AI-generated content may be incorrect.">
            <a:extLst>
              <a:ext uri="{FF2B5EF4-FFF2-40B4-BE49-F238E27FC236}">
                <a16:creationId xmlns:a16="http://schemas.microsoft.com/office/drawing/2014/main" id="{FF6B33D1-DD27-3209-382E-0DE7368BD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3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2547CB-F473-17A6-E36F-A6050125F3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5B223-E98A-56FC-4C0A-5BF0373E6F8D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EBA5E-7577-4BDC-E19E-B2DFE6CC846E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02  Team &amp; Task Allocation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387BD-4E1D-EA74-D0E0-7BC1DDF4786C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Ownership Is Split By Module And UI Test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DE4F2-63B4-AF51-CC80-7E86A235C615}"/>
              </a:ext>
            </a:extLst>
          </p:cNvPr>
          <p:cNvSpPr txBox="1"/>
          <p:nvPr/>
        </p:nvSpPr>
        <p:spPr>
          <a:xfrm>
            <a:off x="609600" y="1295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Each member owns a non-overlapping UI subset and one clear module cluster.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61105C-8A3C-0254-B8B3-E1061648C9F8}"/>
              </a:ext>
            </a:extLst>
          </p:cNvPr>
          <p:cNvSpPr/>
          <p:nvPr/>
        </p:nvSpPr>
        <p:spPr>
          <a:xfrm>
            <a:off x="609600" y="1905000"/>
            <a:ext cx="3403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endParaRPr lang="en-US" sz="1350">
              <a:solidFill>
                <a:srgbClr val="18243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0A7904-83CA-F103-E5F9-5B7B4FB0B259}"/>
              </a:ext>
            </a:extLst>
          </p:cNvPr>
          <p:cNvSpPr/>
          <p:nvPr/>
        </p:nvSpPr>
        <p:spPr>
          <a:xfrm>
            <a:off x="609600" y="1905000"/>
            <a:ext cx="3403600" cy="231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0CD6DD-99C2-D2A0-758A-13ABD999E572}"/>
              </a:ext>
            </a:extLst>
          </p:cNvPr>
          <p:cNvSpPr/>
          <p:nvPr/>
        </p:nvSpPr>
        <p:spPr>
          <a:xfrm>
            <a:off x="609600" y="1905000"/>
            <a:ext cx="101600" cy="2311400"/>
          </a:xfrm>
          <a:prstGeom prst="rect">
            <a:avLst/>
          </a:prstGeom>
          <a:solidFill>
            <a:srgbClr val="DB7F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AF2A9-0136-9848-0B4D-B797CC3FE8A5}"/>
              </a:ext>
            </a:extLst>
          </p:cNvPr>
          <p:cNvSpPr txBox="1"/>
          <p:nvPr/>
        </p:nvSpPr>
        <p:spPr>
          <a:xfrm>
            <a:off x="863600" y="2108200"/>
            <a:ext cx="29972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Hoang Van Thien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17 UI cases</a:t>
            </a:r>
          </a:p>
          <a:p>
            <a:endParaRPr lang="en-US">
              <a:solidFill>
                <a:srgbClr val="573B2B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Auth + permissions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Users/groups + reports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Invoices + public UI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DFC65D-FE72-8341-AF4A-3E314E1E67EC}"/>
              </a:ext>
            </a:extLst>
          </p:cNvPr>
          <p:cNvSpPr/>
          <p:nvPr/>
        </p:nvSpPr>
        <p:spPr>
          <a:xfrm>
            <a:off x="4394200" y="1905000"/>
            <a:ext cx="3403600" cy="231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2466D4-B1A2-8226-1EDE-E6B0907289F7}"/>
              </a:ext>
            </a:extLst>
          </p:cNvPr>
          <p:cNvSpPr/>
          <p:nvPr/>
        </p:nvSpPr>
        <p:spPr>
          <a:xfrm>
            <a:off x="4394200" y="1905000"/>
            <a:ext cx="101600" cy="2311400"/>
          </a:xfrm>
          <a:prstGeom prst="rect">
            <a:avLst/>
          </a:prstGeom>
          <a:solidFill>
            <a:srgbClr val="AAB4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C95C96-C069-ED52-9FE1-92991E8C7251}"/>
              </a:ext>
            </a:extLst>
          </p:cNvPr>
          <p:cNvSpPr txBox="1"/>
          <p:nvPr/>
        </p:nvSpPr>
        <p:spPr>
          <a:xfrm>
            <a:off x="4648200" y="2108200"/>
            <a:ext cx="29972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Nguyen Thanh Dat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13 UI cases</a:t>
            </a:r>
          </a:p>
          <a:p>
            <a:endParaRPr lang="en-US">
              <a:solidFill>
                <a:srgbClr val="573B2B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Customers + suppliers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Purchases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Stock (partial)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6709D2-2A3A-7E68-1A04-AF7CA5DDF4A2}"/>
              </a:ext>
            </a:extLst>
          </p:cNvPr>
          <p:cNvSpPr/>
          <p:nvPr/>
        </p:nvSpPr>
        <p:spPr>
          <a:xfrm>
            <a:off x="8178800" y="1905000"/>
            <a:ext cx="3403600" cy="231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843AD4-E036-05C6-B61E-7605C0130AAE}"/>
              </a:ext>
            </a:extLst>
          </p:cNvPr>
          <p:cNvSpPr/>
          <p:nvPr/>
        </p:nvSpPr>
        <p:spPr>
          <a:xfrm>
            <a:off x="8178800" y="1905000"/>
            <a:ext cx="101600" cy="2311400"/>
          </a:xfrm>
          <a:prstGeom prst="rect">
            <a:avLst/>
          </a:prstGeom>
          <a:solidFill>
            <a:srgbClr val="009A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73334A-47FA-AE28-3838-CA8801946166}"/>
              </a:ext>
            </a:extLst>
          </p:cNvPr>
          <p:cNvSpPr txBox="1"/>
          <p:nvPr/>
        </p:nvSpPr>
        <p:spPr>
          <a:xfrm>
            <a:off x="8432800" y="2108200"/>
            <a:ext cx="29972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Le Quang Duy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14 UI cases</a:t>
            </a:r>
          </a:p>
          <a:p>
            <a:endParaRPr lang="en-US">
              <a:solidFill>
                <a:srgbClr val="573B2B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Products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Import + stock (partial)</a:t>
            </a:r>
          </a:p>
          <a:p>
            <a:r>
              <a:rPr lang="en-US">
                <a:solidFill>
                  <a:srgbClr val="573B2B"/>
                </a:solidFill>
                <a:latin typeface="Aptos" panose="020B0004020202020204" pitchFamily="34" charset="0"/>
              </a:rPr>
              <a:t>Public catalog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D7950F-08E1-2882-61CA-D1E69DE87699}"/>
              </a:ext>
            </a:extLst>
          </p:cNvPr>
          <p:cNvSpPr/>
          <p:nvPr/>
        </p:nvSpPr>
        <p:spPr>
          <a:xfrm>
            <a:off x="609600" y="4521200"/>
            <a:ext cx="10972800" cy="914400"/>
          </a:xfrm>
          <a:prstGeom prst="roundRect">
            <a:avLst/>
          </a:prstGeom>
          <a:solidFill>
            <a:srgbClr val="FFF7EF"/>
          </a:solidFill>
          <a:ln w="19050">
            <a:solidFill>
              <a:srgbClr val="DB7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0C586-0C35-8C6A-724F-4E23DDA62C76}"/>
              </a:ext>
            </a:extLst>
          </p:cNvPr>
          <p:cNvSpPr/>
          <p:nvPr/>
        </p:nvSpPr>
        <p:spPr>
          <a:xfrm>
            <a:off x="609600" y="4521200"/>
            <a:ext cx="101600" cy="914400"/>
          </a:xfrm>
          <a:prstGeom prst="rect">
            <a:avLst/>
          </a:prstGeom>
          <a:solidFill>
            <a:srgbClr val="DB7F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557CFA-773C-59A4-906C-43C70392926D}"/>
              </a:ext>
            </a:extLst>
          </p:cNvPr>
          <p:cNvSpPr txBox="1"/>
          <p:nvPr/>
        </p:nvSpPr>
        <p:spPr>
          <a:xfrm>
            <a:off x="863600" y="4724400"/>
            <a:ext cx="104648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573B2B"/>
                </a:solidFill>
                <a:latin typeface="Aptos" panose="020B0004020202020204" pitchFamily="34" charset="0"/>
              </a:rPr>
              <a:t>17 + 13 + 14 = 44 UI cases. Every member stays above the 10-case requirement, and ownership stays non-overlapping.</a:t>
            </a:r>
          </a:p>
        </p:txBody>
      </p:sp>
      <p:pic>
        <p:nvPicPr>
          <p:cNvPr id="20" name="Picture 19" descr="A red and blue logo&#10;&#10;AI-generated content may be incorrect.">
            <a:extLst>
              <a:ext uri="{FF2B5EF4-FFF2-40B4-BE49-F238E27FC236}">
                <a16:creationId xmlns:a16="http://schemas.microsoft.com/office/drawing/2014/main" id="{2ABB59A6-4FD1-2A78-881B-6A7D28D53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8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9AC3FA-F183-6A40-DB29-5EA24EE894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270FE-F942-D805-8B2F-36A464D71F66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20873-1C5E-14C2-A97F-6433CE020E17}"/>
              </a:ext>
            </a:extLst>
          </p:cNvPr>
          <p:cNvSpPr txBox="1"/>
          <p:nvPr/>
        </p:nvSpPr>
        <p:spPr>
          <a:xfrm>
            <a:off x="609600" y="508000"/>
            <a:ext cx="3011424" cy="45140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 b="1">
                <a:solidFill>
                  <a:srgbClr val="1079D9"/>
                </a:solidFill>
                <a:latin typeface="Segoe UI" panose="020B0502040204020203" pitchFamily="34" charset="0"/>
              </a:rPr>
              <a:t>03  Test Strategy &amp;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0DE1F-1D42-6CF8-6C58-3663880C5E53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Manual Execution Drives Coverage; Automation Adds Repeatability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C5D55-1AFC-C859-7013-D02A2FFA3C97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The strategy combines manual UI testing, API regression, selective automation, and source-informed edge-case design.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47BBE3-40FA-DA57-DB1F-AA6805E34799}"/>
              </a:ext>
            </a:extLst>
          </p:cNvPr>
          <p:cNvSpPr/>
          <p:nvPr/>
        </p:nvSpPr>
        <p:spPr>
          <a:xfrm>
            <a:off x="609600" y="19050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Approach</a:t>
            </a:r>
          </a:p>
          <a:p>
            <a:endParaRPr lang="en-US" sz="1500">
              <a:solidFill>
                <a:srgbClr val="182438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risk-based scope and business-critical flows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manual UI execution plus API regression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selective automation for repeatable smoke and reruns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86DB26-2AEE-0CE3-992E-6BBE32DBA649}"/>
              </a:ext>
            </a:extLst>
          </p:cNvPr>
          <p:cNvSpPr/>
          <p:nvPr/>
        </p:nvSpPr>
        <p:spPr>
          <a:xfrm>
            <a:off x="4445000" y="1905000"/>
            <a:ext cx="7137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Design logic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black-box execution for visible behavior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white-box-informed design for routes, roles, and validation paths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entry: runnable app + seeded data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exit: all cases executed and evidence synchronized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6C10B2-7996-0CFB-5097-82B28AA9C7B9}"/>
              </a:ext>
            </a:extLst>
          </p:cNvPr>
          <p:cNvSpPr/>
          <p:nvPr/>
        </p:nvSpPr>
        <p:spPr>
          <a:xfrm>
            <a:off x="4445000" y="3733800"/>
            <a:ext cx="965200" cy="8382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Scenario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8B51DA-D635-A42A-9B74-55C9810E830B}"/>
              </a:ext>
            </a:extLst>
          </p:cNvPr>
          <p:cNvCxnSpPr/>
          <p:nvPr/>
        </p:nvCxnSpPr>
        <p:spPr>
          <a:xfrm>
            <a:off x="54102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9CEA5E-1685-40D1-0ACC-3E9B32CDA0EB}"/>
              </a:ext>
            </a:extLst>
          </p:cNvPr>
          <p:cNvSpPr/>
          <p:nvPr/>
        </p:nvSpPr>
        <p:spPr>
          <a:xfrm>
            <a:off x="5562600" y="3733800"/>
            <a:ext cx="965200" cy="8382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Test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D1925D-6BA5-0CF5-579C-EEFE9BDDAEAC}"/>
              </a:ext>
            </a:extLst>
          </p:cNvPr>
          <p:cNvCxnSpPr/>
          <p:nvPr/>
        </p:nvCxnSpPr>
        <p:spPr>
          <a:xfrm>
            <a:off x="65278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07CB6B-6747-DACB-E14A-5AFD62162DAF}"/>
              </a:ext>
            </a:extLst>
          </p:cNvPr>
          <p:cNvSpPr/>
          <p:nvPr/>
        </p:nvSpPr>
        <p:spPr>
          <a:xfrm>
            <a:off x="6680200" y="3733800"/>
            <a:ext cx="965200" cy="8382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Execution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66CB4A-2264-E453-09E3-AB32E9298A09}"/>
              </a:ext>
            </a:extLst>
          </p:cNvPr>
          <p:cNvCxnSpPr/>
          <p:nvPr/>
        </p:nvCxnSpPr>
        <p:spPr>
          <a:xfrm>
            <a:off x="76454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F6BB19-3B46-3112-5C32-95581E94DE04}"/>
              </a:ext>
            </a:extLst>
          </p:cNvPr>
          <p:cNvSpPr/>
          <p:nvPr/>
        </p:nvSpPr>
        <p:spPr>
          <a:xfrm>
            <a:off x="7797800" y="3733800"/>
            <a:ext cx="965200" cy="8382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Evidence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1B9C6C-85D5-81BC-7D77-F0E639FC9534}"/>
              </a:ext>
            </a:extLst>
          </p:cNvPr>
          <p:cNvCxnSpPr/>
          <p:nvPr/>
        </p:nvCxnSpPr>
        <p:spPr>
          <a:xfrm>
            <a:off x="87630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B3F4D2-39F8-9868-3454-82B082EFA6A9}"/>
              </a:ext>
            </a:extLst>
          </p:cNvPr>
          <p:cNvSpPr/>
          <p:nvPr/>
        </p:nvSpPr>
        <p:spPr>
          <a:xfrm>
            <a:off x="8915400" y="3733800"/>
            <a:ext cx="965200" cy="8382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Defect Log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3F279C-3C5F-9580-A81D-0843CACCD5E0}"/>
              </a:ext>
            </a:extLst>
          </p:cNvPr>
          <p:cNvCxnSpPr/>
          <p:nvPr/>
        </p:nvCxnSpPr>
        <p:spPr>
          <a:xfrm>
            <a:off x="98806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8C9AEE-E17D-8C0A-752E-DE851A344926}"/>
              </a:ext>
            </a:extLst>
          </p:cNvPr>
          <p:cNvSpPr/>
          <p:nvPr/>
        </p:nvSpPr>
        <p:spPr>
          <a:xfrm>
            <a:off x="10033000" y="3733800"/>
            <a:ext cx="965200" cy="838200"/>
          </a:xfrm>
          <a:prstGeom prst="roundRect">
            <a:avLst/>
          </a:prstGeom>
          <a:solidFill>
            <a:srgbClr val="1824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GitHub Issue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32C3052-3627-87BC-2BDF-C60E86E4E37F}"/>
              </a:ext>
            </a:extLst>
          </p:cNvPr>
          <p:cNvSpPr/>
          <p:nvPr/>
        </p:nvSpPr>
        <p:spPr>
          <a:xfrm>
            <a:off x="609600" y="4622800"/>
            <a:ext cx="10972800" cy="1244600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107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300">
                <a:solidFill>
                  <a:srgbClr val="182438"/>
                </a:solidFill>
                <a:latin typeface="Segoe UI" panose="020B0502040204020203" pitchFamily="34" charset="0"/>
              </a:rPr>
              <a:t>Defense point</a:t>
            </a:r>
          </a:p>
          <a:p>
            <a:r>
              <a:rPr lang="en-US" sz="1300">
                <a:solidFill>
                  <a:srgbClr val="182438"/>
                </a:solidFill>
                <a:latin typeface="Segoe UI" panose="020B0502040204020203" pitchFamily="34" charset="0"/>
              </a:rPr>
              <a:t>This chain is the core review answer: each reported result can be traced from scenario and test case to runtime evidence and, when confirmed as a defect, to a live GitHub issue.</a:t>
            </a:r>
          </a:p>
        </p:txBody>
      </p:sp>
      <p:pic>
        <p:nvPicPr>
          <p:cNvPr id="21" name="Picture 20" descr="A red and blue logo&#10;&#10;AI-generated content may be incorrect.">
            <a:extLst>
              <a:ext uri="{FF2B5EF4-FFF2-40B4-BE49-F238E27FC236}">
                <a16:creationId xmlns:a16="http://schemas.microsoft.com/office/drawing/2014/main" id="{FE5D2E20-8163-B427-E552-4F5F082B8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0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F3606E-97CF-8BEB-C78F-C56F2EBDDE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4FE332-0491-EA7E-F623-45D973E33BAC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CF52B-7F46-830F-E8F9-76742F89597B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04  Environment &amp;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D4AA7-BB4D-29C2-9F74-E8778D2C70F4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The Test Environment Was Controlled, Local, And Repeatable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E19F5-5FED-A967-23F0-A18F9A62A41D}"/>
              </a:ext>
            </a:extLst>
          </p:cNvPr>
          <p:cNvSpPr txBox="1"/>
          <p:nvPr/>
        </p:nvSpPr>
        <p:spPr>
          <a:xfrm>
            <a:off x="609600" y="1295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same environment supported manual execution, UI automation, API regression, screenshots, metrics export, and GitHub-based defect tracking.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E859BD-6545-80ED-A9DB-C7582E630E53}"/>
              </a:ext>
            </a:extLst>
          </p:cNvPr>
          <p:cNvSpPr/>
          <p:nvPr/>
        </p:nvSpPr>
        <p:spPr>
          <a:xfrm>
            <a:off x="609600" y="1905000"/>
            <a:ext cx="3860800" cy="208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Environment
- Windows 11 workstation
- ASP.NET Core MVC (.NET 8)
- localhost:5068
- local seeded test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FEE288-AA97-8578-8916-AEBB187C331F}"/>
              </a:ext>
            </a:extLst>
          </p:cNvPr>
          <p:cNvSpPr/>
          <p:nvPr/>
        </p:nvSpPr>
        <p:spPr>
          <a:xfrm>
            <a:off x="4699000" y="1905000"/>
            <a:ext cx="3251200" cy="208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Browsers and devices
- Chrome as main UI baseline
- Edge for focused smoke rerun
- desktop environment only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850947-2463-10B3-3E67-724723422483}"/>
              </a:ext>
            </a:extLst>
          </p:cNvPr>
          <p:cNvSpPr/>
          <p:nvPr/>
        </p:nvSpPr>
        <p:spPr>
          <a:xfrm>
            <a:off x="8178800" y="1905000"/>
            <a:ext cx="3403600" cy="208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Core tools
- Selenium
- xUnit
- Postman
- Newman
- GitHub Issues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F90F93-0277-DE0C-8F16-5E94E936070D}"/>
              </a:ext>
            </a:extLst>
          </p:cNvPr>
          <p:cNvSpPr/>
          <p:nvPr/>
        </p:nvSpPr>
        <p:spPr>
          <a:xfrm>
            <a:off x="609600" y="44704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.NET 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7EC4BB-CAA0-701B-0EDB-3CF0956A2BE7}"/>
              </a:ext>
            </a:extLst>
          </p:cNvPr>
          <p:cNvSpPr/>
          <p:nvPr/>
        </p:nvSpPr>
        <p:spPr>
          <a:xfrm>
            <a:off x="2768600" y="44704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Windows 11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D018A1-F343-0BE1-C2FE-3F4738D0E501}"/>
              </a:ext>
            </a:extLst>
          </p:cNvPr>
          <p:cNvSpPr/>
          <p:nvPr/>
        </p:nvSpPr>
        <p:spPr>
          <a:xfrm>
            <a:off x="4927600" y="44704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Chrome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7F82E8-E8D0-A928-0123-E44A390CE325}"/>
              </a:ext>
            </a:extLst>
          </p:cNvPr>
          <p:cNvSpPr/>
          <p:nvPr/>
        </p:nvSpPr>
        <p:spPr>
          <a:xfrm>
            <a:off x="7086600" y="44704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Edge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B62208-D5D9-C57F-EFDA-7EAB2F670FD3}"/>
              </a:ext>
            </a:extLst>
          </p:cNvPr>
          <p:cNvSpPr/>
          <p:nvPr/>
        </p:nvSpPr>
        <p:spPr>
          <a:xfrm>
            <a:off x="9245600" y="44704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localhost:5068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0854CB-5CD2-F459-FDD4-7CABA7FECDBF}"/>
              </a:ext>
            </a:extLst>
          </p:cNvPr>
          <p:cNvSpPr/>
          <p:nvPr/>
        </p:nvSpPr>
        <p:spPr>
          <a:xfrm>
            <a:off x="609600" y="50038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Selenium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4CCD4A-0D23-1054-A3E5-59C111620CAB}"/>
              </a:ext>
            </a:extLst>
          </p:cNvPr>
          <p:cNvSpPr/>
          <p:nvPr/>
        </p:nvSpPr>
        <p:spPr>
          <a:xfrm>
            <a:off x="2768600" y="50038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xUnit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DD6274-C177-3D74-0B07-79B8E838F648}"/>
              </a:ext>
            </a:extLst>
          </p:cNvPr>
          <p:cNvSpPr/>
          <p:nvPr/>
        </p:nvSpPr>
        <p:spPr>
          <a:xfrm>
            <a:off x="4927600" y="50038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Postman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E04C6E-BC6B-787B-B53E-234E9E14BB2B}"/>
              </a:ext>
            </a:extLst>
          </p:cNvPr>
          <p:cNvSpPr/>
          <p:nvPr/>
        </p:nvSpPr>
        <p:spPr>
          <a:xfrm>
            <a:off x="7086600" y="50038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Newman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A45057-AC6B-F723-CBFC-4924BCA4D5DC}"/>
              </a:ext>
            </a:extLst>
          </p:cNvPr>
          <p:cNvSpPr/>
          <p:nvPr/>
        </p:nvSpPr>
        <p:spPr>
          <a:xfrm>
            <a:off x="9245600" y="5003800"/>
            <a:ext cx="1930400" cy="3302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182438"/>
                </a:solidFill>
                <a:latin typeface="Segoe UI" panose="020B0502040204020203" pitchFamily="34" charset="0"/>
              </a:rPr>
              <a:t>GitHub Issues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58D8A1-2201-6F80-7F70-6DC730154C37}"/>
              </a:ext>
            </a:extLst>
          </p:cNvPr>
          <p:cNvSpPr txBox="1"/>
          <p:nvPr/>
        </p:nvSpPr>
        <p:spPr>
          <a:xfrm>
            <a:off x="609600" y="5638800"/>
            <a:ext cx="10972800" cy="55912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50">
                <a:solidFill>
                  <a:srgbClr val="58647D"/>
                </a:solidFill>
                <a:latin typeface="Segoe UI" panose="020B0502040204020203" pitchFamily="34" charset="0"/>
              </a:rPr>
              <a:t>This environment is enough to justify functional execution, automation artifacts, and issue-tracker evidence, but not enough to claim production-like deployment coverage.</a:t>
            </a:r>
          </a:p>
        </p:txBody>
      </p:sp>
      <p:pic>
        <p:nvPicPr>
          <p:cNvPr id="21" name="Picture 20" descr="A red and blue logo&#10;&#10;AI-generated content may be incorrect.">
            <a:extLst>
              <a:ext uri="{FF2B5EF4-FFF2-40B4-BE49-F238E27FC236}">
                <a16:creationId xmlns:a16="http://schemas.microsoft.com/office/drawing/2014/main" id="{F86D3064-4F34-42AC-45C4-4ACED1E63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8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46816B-D432-A769-8437-379636A527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F0C578-A546-DD7C-A0C3-2977EEA28AA4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7A697-6D90-4A41-982A-C92FAE953FD8}"/>
              </a:ext>
            </a:extLst>
          </p:cNvPr>
          <p:cNvSpPr txBox="1"/>
          <p:nvPr/>
        </p:nvSpPr>
        <p:spPr>
          <a:xfrm>
            <a:off x="609600" y="508000"/>
            <a:ext cx="3175000" cy="45140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 b="1">
                <a:solidFill>
                  <a:srgbClr val="1079D9"/>
                </a:solidFill>
                <a:latin typeface="Segoe UI" panose="020B0502040204020203" pitchFamily="34" charset="0"/>
              </a:rPr>
              <a:t>05  Coverage &amp; Ownership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67D89-2233-0267-8C23-EBE36D1049F3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Coverage Is Complete, And Ownership Stays Non-Overlapping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3C502-E803-CB73-11B3-0B90CC791A36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The final case set covers the documented scope and still keeps individual UI ownership clear enough to defend.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B99CB5-12FE-D497-E401-D6D17EEEE856}"/>
              </a:ext>
            </a:extLst>
          </p:cNvPr>
          <p:cNvSpPr/>
          <p:nvPr/>
        </p:nvSpPr>
        <p:spPr>
          <a:xfrm>
            <a:off x="609600" y="1879600"/>
            <a:ext cx="2514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F5BED4-DE77-716E-FEC7-5A60809BC688}"/>
              </a:ext>
            </a:extLst>
          </p:cNvPr>
          <p:cNvSpPr/>
          <p:nvPr/>
        </p:nvSpPr>
        <p:spPr>
          <a:xfrm>
            <a:off x="609600" y="1879600"/>
            <a:ext cx="101600" cy="10922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9D86A-A828-9C42-6572-36337BA5E516}"/>
              </a:ext>
            </a:extLst>
          </p:cNvPr>
          <p:cNvSpPr txBox="1"/>
          <p:nvPr/>
        </p:nvSpPr>
        <p:spPr>
          <a:xfrm>
            <a:off x="863600" y="2108200"/>
            <a:ext cx="2159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56CC1-7527-FF38-90F3-AE62FF651A5B}"/>
              </a:ext>
            </a:extLst>
          </p:cNvPr>
          <p:cNvSpPr txBox="1"/>
          <p:nvPr/>
        </p:nvSpPr>
        <p:spPr>
          <a:xfrm>
            <a:off x="863600" y="2565400"/>
            <a:ext cx="2159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Documented scenarios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B9F284-CBC6-24F6-8DC1-FC793D174C10}"/>
              </a:ext>
            </a:extLst>
          </p:cNvPr>
          <p:cNvSpPr/>
          <p:nvPr/>
        </p:nvSpPr>
        <p:spPr>
          <a:xfrm>
            <a:off x="3302000" y="1879600"/>
            <a:ext cx="2514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854B24-5EC4-6088-C28B-19BC25DC23A6}"/>
              </a:ext>
            </a:extLst>
          </p:cNvPr>
          <p:cNvSpPr/>
          <p:nvPr/>
        </p:nvSpPr>
        <p:spPr>
          <a:xfrm>
            <a:off x="3302000" y="1879600"/>
            <a:ext cx="101600" cy="10922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F3A50-CF4D-A1DF-D313-766628C77CFF}"/>
              </a:ext>
            </a:extLst>
          </p:cNvPr>
          <p:cNvSpPr txBox="1"/>
          <p:nvPr/>
        </p:nvSpPr>
        <p:spPr>
          <a:xfrm>
            <a:off x="3556000" y="2108200"/>
            <a:ext cx="2159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8DB17B-68A7-2D75-BEDB-E0E5ED23ACC9}"/>
              </a:ext>
            </a:extLst>
          </p:cNvPr>
          <p:cNvSpPr txBox="1"/>
          <p:nvPr/>
        </p:nvSpPr>
        <p:spPr>
          <a:xfrm>
            <a:off x="3556000" y="2565400"/>
            <a:ext cx="2159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Total test cases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86FED7-7D4E-81F4-80A5-53A07AC2A740}"/>
              </a:ext>
            </a:extLst>
          </p:cNvPr>
          <p:cNvSpPr/>
          <p:nvPr/>
        </p:nvSpPr>
        <p:spPr>
          <a:xfrm>
            <a:off x="5994400" y="1879600"/>
            <a:ext cx="2514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9EB368-C2FB-ACF1-EFC0-E290A6BF6D37}"/>
              </a:ext>
            </a:extLst>
          </p:cNvPr>
          <p:cNvSpPr/>
          <p:nvPr/>
        </p:nvSpPr>
        <p:spPr>
          <a:xfrm>
            <a:off x="5994400" y="1879600"/>
            <a:ext cx="101600" cy="10922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86B0C-B4DC-280E-A0FC-7A622A823E6A}"/>
              </a:ext>
            </a:extLst>
          </p:cNvPr>
          <p:cNvSpPr txBox="1"/>
          <p:nvPr/>
        </p:nvSpPr>
        <p:spPr>
          <a:xfrm>
            <a:off x="6248400" y="2108200"/>
            <a:ext cx="2159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44 UI / 19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41521-EBEC-D462-EB8A-70A132BD8450}"/>
              </a:ext>
            </a:extLst>
          </p:cNvPr>
          <p:cNvSpPr txBox="1"/>
          <p:nvPr/>
        </p:nvSpPr>
        <p:spPr>
          <a:xfrm>
            <a:off x="6248400" y="2565400"/>
            <a:ext cx="2159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Design split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1ADC8B-0670-616D-9F3B-D33BBD4E94EA}"/>
              </a:ext>
            </a:extLst>
          </p:cNvPr>
          <p:cNvSpPr/>
          <p:nvPr/>
        </p:nvSpPr>
        <p:spPr>
          <a:xfrm>
            <a:off x="8686800" y="1879600"/>
            <a:ext cx="2895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F76078-E795-2F04-35AB-DEEF3A29F6D5}"/>
              </a:ext>
            </a:extLst>
          </p:cNvPr>
          <p:cNvSpPr/>
          <p:nvPr/>
        </p:nvSpPr>
        <p:spPr>
          <a:xfrm>
            <a:off x="8686800" y="1879600"/>
            <a:ext cx="101600" cy="10922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E5947B-8BCB-B737-FF9D-DB9099A2BF72}"/>
              </a:ext>
            </a:extLst>
          </p:cNvPr>
          <p:cNvSpPr txBox="1"/>
          <p:nvPr/>
        </p:nvSpPr>
        <p:spPr>
          <a:xfrm>
            <a:off x="8940800" y="2108200"/>
            <a:ext cx="2540000" cy="5129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000" b="1">
                <a:solidFill>
                  <a:srgbClr val="182438"/>
                </a:solidFill>
                <a:latin typeface="Bahnschrift SemiBold" panose="020B0502040204020203" pitchFamily="34" charset="0"/>
              </a:rPr>
              <a:t>All &gt;10 UI cases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3E9BC-8173-3D0F-6A6F-AB3599F90FCF}"/>
              </a:ext>
            </a:extLst>
          </p:cNvPr>
          <p:cNvSpPr txBox="1"/>
          <p:nvPr/>
        </p:nvSpPr>
        <p:spPr>
          <a:xfrm>
            <a:off x="8940800" y="2565400"/>
            <a:ext cx="2540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Requirement fit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CD6E48D-A0BA-3E5C-A7F3-4446D321BF7B}"/>
              </a:ext>
            </a:extLst>
          </p:cNvPr>
          <p:cNvSpPr/>
          <p:nvPr/>
        </p:nvSpPr>
        <p:spPr>
          <a:xfrm>
            <a:off x="609600" y="3632200"/>
            <a:ext cx="5130800" cy="152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C2B707-A652-3F37-235E-ECA72CB363AD}"/>
              </a:ext>
            </a:extLst>
          </p:cNvPr>
          <p:cNvSpPr/>
          <p:nvPr/>
        </p:nvSpPr>
        <p:spPr>
          <a:xfrm>
            <a:off x="609600" y="3632200"/>
            <a:ext cx="101600" cy="1524000"/>
          </a:xfrm>
          <a:prstGeom prst="rect">
            <a:avLst/>
          </a:prstGeom>
          <a:solidFill>
            <a:srgbClr val="DB7F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66080-A6D4-E816-632A-DE54F8DA751B}"/>
              </a:ext>
            </a:extLst>
          </p:cNvPr>
          <p:cNvSpPr txBox="1"/>
          <p:nvPr/>
        </p:nvSpPr>
        <p:spPr>
          <a:xfrm>
            <a:off x="863600" y="3835400"/>
            <a:ext cx="47244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573B2B"/>
                </a:solidFill>
                <a:latin typeface="Aptos" panose="020B0004020202020204" pitchFamily="34" charset="0"/>
              </a:rPr>
              <a:t>Ownership check</a:t>
            </a:r>
          </a:p>
          <a:p>
            <a:r>
              <a:rPr lang="en-US" sz="2200">
                <a:solidFill>
                  <a:srgbClr val="573B2B"/>
                </a:solidFill>
                <a:latin typeface="Aptos" panose="020B0004020202020204" pitchFamily="34" charset="0"/>
              </a:rPr>
              <a:t>17 / 13 / 14</a:t>
            </a:r>
          </a:p>
          <a:p>
            <a:r>
              <a:rPr lang="en-US" sz="2200">
                <a:solidFill>
                  <a:srgbClr val="573B2B"/>
                </a:solidFill>
                <a:latin typeface="Aptos" panose="020B0004020202020204" pitchFamily="34" charset="0"/>
              </a:rPr>
              <a:t>UI ownership stays non-overlapping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9A41AC-CFD3-DC76-F03E-8DDE00EC7189}"/>
              </a:ext>
            </a:extLst>
          </p:cNvPr>
          <p:cNvSpPr/>
          <p:nvPr/>
        </p:nvSpPr>
        <p:spPr>
          <a:xfrm>
            <a:off x="6096000" y="3632200"/>
            <a:ext cx="5486400" cy="1524000"/>
          </a:xfrm>
          <a:prstGeom prst="roundRect">
            <a:avLst/>
          </a:prstGeom>
          <a:solidFill>
            <a:srgbClr val="FFF7EF"/>
          </a:solidFill>
          <a:ln w="15875">
            <a:solidFill>
              <a:srgbClr val="DB7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78274F-3654-823F-AC5F-3EB59A625A76}"/>
              </a:ext>
            </a:extLst>
          </p:cNvPr>
          <p:cNvSpPr/>
          <p:nvPr/>
        </p:nvSpPr>
        <p:spPr>
          <a:xfrm>
            <a:off x="6096000" y="3632200"/>
            <a:ext cx="101600" cy="1524000"/>
          </a:xfrm>
          <a:prstGeom prst="rect">
            <a:avLst/>
          </a:prstGeom>
          <a:solidFill>
            <a:srgbClr val="AAB4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26B480-79C2-0462-F9CE-DA4F22D7BBFA}"/>
              </a:ext>
            </a:extLst>
          </p:cNvPr>
          <p:cNvSpPr txBox="1"/>
          <p:nvPr/>
        </p:nvSpPr>
        <p:spPr>
          <a:xfrm>
            <a:off x="6350000" y="3835400"/>
            <a:ext cx="5080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573B2B"/>
                </a:solidFill>
                <a:latin typeface="Aptos" panose="020B0004020202020204" pitchFamily="34" charset="0"/>
              </a:rPr>
              <a:t>Why it matters</a:t>
            </a:r>
          </a:p>
          <a:p>
            <a:r>
              <a:rPr lang="en-US" sz="2000">
                <a:solidFill>
                  <a:srgbClr val="573B2B"/>
                </a:solidFill>
                <a:latin typeface="Aptos" panose="020B0004020202020204" pitchFamily="34" charset="0"/>
              </a:rPr>
              <a:t>- all 44 UI cases are assigned once</a:t>
            </a:r>
          </a:p>
          <a:p>
            <a:r>
              <a:rPr lang="en-US" sz="2000">
                <a:solidFill>
                  <a:srgbClr val="573B2B"/>
                </a:solidFill>
                <a:latin typeface="Aptos" panose="020B0004020202020204" pitchFamily="34" charset="0"/>
              </a:rPr>
              <a:t>- every member stays above 10 cases</a:t>
            </a:r>
          </a:p>
          <a:p>
            <a:r>
              <a:rPr lang="en-US" sz="2000">
                <a:solidFill>
                  <a:srgbClr val="573B2B"/>
                </a:solidFill>
                <a:latin typeface="Aptos" panose="020B0004020202020204" pitchFamily="34" charset="0"/>
              </a:rPr>
              <a:t>- module ownership is easier to defend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259AE-C3D2-12FF-0EE1-455478BCDDF3}"/>
              </a:ext>
            </a:extLst>
          </p:cNvPr>
          <p:cNvSpPr txBox="1"/>
          <p:nvPr/>
        </p:nvSpPr>
        <p:spPr>
          <a:xfrm>
            <a:off x="609600" y="5461000"/>
            <a:ext cx="109728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94705D"/>
                </a:solidFill>
                <a:latin typeface="Aptos" panose="020B0004020202020204" pitchFamily="34" charset="0"/>
              </a:rPr>
              <a:t>Coverage is complete for the documented scope, but the remaining 7 fails still map to 4 confirmed open defects.</a:t>
            </a:r>
          </a:p>
        </p:txBody>
      </p:sp>
      <p:pic>
        <p:nvPicPr>
          <p:cNvPr id="23" name="Picture 22" descr="A red and blue logo&#10;&#10;AI-generated content may be incorrect.">
            <a:extLst>
              <a:ext uri="{FF2B5EF4-FFF2-40B4-BE49-F238E27FC236}">
                <a16:creationId xmlns:a16="http://schemas.microsoft.com/office/drawing/2014/main" id="{9B343EF0-D1B9-D97A-6002-AAF0529F7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2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BD7DBA-4FA8-FDC7-2F3A-3BB01365F2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CDB207-AA30-4BE1-4CD1-33577852897E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7FB81-66C9-E06A-1969-D15F425004E4}"/>
              </a:ext>
            </a:extLst>
          </p:cNvPr>
          <p:cNvSpPr txBox="1"/>
          <p:nvPr/>
        </p:nvSpPr>
        <p:spPr>
          <a:xfrm>
            <a:off x="609600" y="508000"/>
            <a:ext cx="3075432" cy="45140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 b="1">
                <a:solidFill>
                  <a:srgbClr val="16A398"/>
                </a:solidFill>
                <a:latin typeface="Segoe UI" panose="020B0502040204020203" pitchFamily="34" charset="0"/>
              </a:rPr>
              <a:t>06  Automation Support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4C4F4-1A74-596F-7CAB-5B0BF30EFE16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Automation Adds Repeatability To The Recorded Baseline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F96B9-0B88-F67E-1B8F-F92D609F915A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DBEEFF"/>
                </a:solidFill>
                <a:latin typeface="Segoe UI" panose="020B0502040204020203" pitchFamily="34" charset="0"/>
              </a:rPr>
              <a:t>Selenium and Newman strengthen the evidence set, but final status still depends on runtime behavior recorded in the workbooks.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F9E182-23B6-9787-9C36-BF98E171834F}"/>
              </a:ext>
            </a:extLst>
          </p:cNvPr>
          <p:cNvSpPr/>
          <p:nvPr/>
        </p:nvSpPr>
        <p:spPr>
          <a:xfrm>
            <a:off x="609600" y="1905000"/>
            <a:ext cx="3327400" cy="23368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107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.NET UI support</a:t>
            </a:r>
          </a:p>
          <a:p>
            <a:endParaRPr lang="en-US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.NET 8, xUnit, Selenium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page objects, waits, and screenshot helper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focused login, permission, and rerun coverage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CDF92C-5112-31AB-BB87-544C83F84A84}"/>
              </a:ext>
            </a:extLst>
          </p:cNvPr>
          <p:cNvSpPr/>
          <p:nvPr/>
        </p:nvSpPr>
        <p:spPr>
          <a:xfrm>
            <a:off x="4191000" y="1905000"/>
            <a:ext cx="3327400" cy="23368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16A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API support</a:t>
            </a:r>
          </a:p>
          <a:p>
            <a:endParaRPr lang="en-US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Postman collection + Newman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text and XML runner artifacts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repeatable health and catalog regression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AAD528-8516-8B8F-8DF8-F8D3133EB1A2}"/>
              </a:ext>
            </a:extLst>
          </p:cNvPr>
          <p:cNvSpPr/>
          <p:nvPr/>
        </p:nvSpPr>
        <p:spPr>
          <a:xfrm>
            <a:off x="7772400" y="1905000"/>
            <a:ext cx="3810000" cy="23368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D68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What was actually automated</a:t>
            </a:r>
          </a:p>
          <a:p>
            <a:endParaRPr lang="en-US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TC-UI-AUTH-001 smoke rerun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TC-UI-IMP-002 preview validation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TC-API-HLT-001 in Newman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focused reruns for confirmed defects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6BA3AE-F60A-A112-EFE3-AD301FE274FC}"/>
              </a:ext>
            </a:extLst>
          </p:cNvPr>
          <p:cNvSpPr/>
          <p:nvPr/>
        </p:nvSpPr>
        <p:spPr>
          <a:xfrm>
            <a:off x="609600" y="4597400"/>
            <a:ext cx="10972800" cy="12446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Execution principle</a:t>
            </a:r>
          </a:p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Automation is used for repeatability, smoke support, and bonus evidence. Final status still depends on visible runtime behavior, screenshots, runner outputs, and the synchronized result files.</a:t>
            </a:r>
          </a:p>
        </p:txBody>
      </p:sp>
      <p:pic>
        <p:nvPicPr>
          <p:cNvPr id="11" name="Picture 10" descr="A red and blue logo&#10;&#10;AI-generated content may be incorrect.">
            <a:extLst>
              <a:ext uri="{FF2B5EF4-FFF2-40B4-BE49-F238E27FC236}">
                <a16:creationId xmlns:a16="http://schemas.microsoft.com/office/drawing/2014/main" id="{E5F3E99D-B173-E699-DAA6-0155FDF91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6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20007B-DA26-57EB-8FED-55800983B9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5CB16-EC6E-5A20-D38B-8E455C1E758C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2A85D-22EB-9980-B1A5-9CC3AD3AEBFE}"/>
              </a:ext>
            </a:extLst>
          </p:cNvPr>
          <p:cNvSpPr txBox="1"/>
          <p:nvPr/>
        </p:nvSpPr>
        <p:spPr>
          <a:xfrm>
            <a:off x="609600" y="508000"/>
            <a:ext cx="3230880" cy="45140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 b="1">
                <a:solidFill>
                  <a:srgbClr val="1079D9"/>
                </a:solidFill>
                <a:latin typeface="Segoe UI" panose="020B0502040204020203" pitchFamily="34" charset="0"/>
              </a:rPr>
              <a:t>07  Evidence-First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4C140-5D5B-ADFC-1383-AF48C1AF874D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Real Runtime Output Supports Both Pass And Fail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8284C-26E7-B65C-FAE6-ACA9F8591B80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The deck only uses recorded screenshots and runner artifacts that already exist in the submission package.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C97725-EE88-B2B9-D46D-49891493E097}"/>
              </a:ext>
            </a:extLst>
          </p:cNvPr>
          <p:cNvSpPr/>
          <p:nvPr/>
        </p:nvSpPr>
        <p:spPr>
          <a:xfrm>
            <a:off x="609600" y="2006600"/>
            <a:ext cx="36576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354B65-C4D0-F538-CE12-B8729FD59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08200"/>
            <a:ext cx="3454400" cy="149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3C4725-D245-F1FE-B120-2EDF47B4376C}"/>
              </a:ext>
            </a:extLst>
          </p:cNvPr>
          <p:cNvSpPr txBox="1"/>
          <p:nvPr/>
        </p:nvSpPr>
        <p:spPr>
          <a:xfrm>
            <a:off x="711200" y="3632200"/>
            <a:ext cx="3454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TC-UI-AUTH-001 pass on focused login smoke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512246-7C58-45DA-872B-F232B0E5B546}"/>
              </a:ext>
            </a:extLst>
          </p:cNvPr>
          <p:cNvSpPr/>
          <p:nvPr/>
        </p:nvSpPr>
        <p:spPr>
          <a:xfrm>
            <a:off x="4470400" y="2006600"/>
            <a:ext cx="36576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614A09-A46B-6FED-0FB1-372D65E52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08200"/>
            <a:ext cx="3454400" cy="1498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1894CC-29B2-45CC-E3C2-DA5ACD966F90}"/>
              </a:ext>
            </a:extLst>
          </p:cNvPr>
          <p:cNvSpPr txBox="1"/>
          <p:nvPr/>
        </p:nvSpPr>
        <p:spPr>
          <a:xfrm>
            <a:off x="4572000" y="3632200"/>
            <a:ext cx="3454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TC-UI-IMP-002 preview shows 6 / 1 / 5 counts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C80D1A-FE46-969C-3640-9A19409F23E6}"/>
              </a:ext>
            </a:extLst>
          </p:cNvPr>
          <p:cNvSpPr/>
          <p:nvPr/>
        </p:nvSpPr>
        <p:spPr>
          <a:xfrm>
            <a:off x="609600" y="4140200"/>
            <a:ext cx="7518400" cy="208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367B3D-70F6-0CDA-52BC-F20D89E96D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241800"/>
            <a:ext cx="7315200" cy="1625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81D5F4E-CA29-F06D-508A-0041E07F2795}"/>
              </a:ext>
            </a:extLst>
          </p:cNvPr>
          <p:cNvSpPr txBox="1"/>
          <p:nvPr/>
        </p:nvSpPr>
        <p:spPr>
          <a:xfrm>
            <a:off x="711200" y="5892800"/>
            <a:ext cx="73152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Newman full run proves API regression passed 19 / 19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6B6BE1-073D-E090-1E09-2372FF879A83}"/>
              </a:ext>
            </a:extLst>
          </p:cNvPr>
          <p:cNvSpPr/>
          <p:nvPr/>
        </p:nvSpPr>
        <p:spPr>
          <a:xfrm>
            <a:off x="8382000" y="2006600"/>
            <a:ext cx="3200400" cy="421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Traceability rules</a:t>
            </a:r>
          </a:p>
          <a:p>
            <a:endParaRPr lang="en-US" sz="1500">
              <a:solidFill>
                <a:srgbClr val="182438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pass requires runtime proof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fail requires mismatch plus evidence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confirmed defects link to GitHub issues</a:t>
            </a:r>
          </a:p>
          <a:p>
            <a:endParaRPr lang="en-US" sz="1500">
              <a:solidFill>
                <a:srgbClr val="182438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Fail areas shown in scope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purchase validation banner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import confirm flow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invoice create flow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invoice cancel flow</a:t>
            </a:r>
          </a:p>
        </p:txBody>
      </p:sp>
      <p:pic>
        <p:nvPicPr>
          <p:cNvPr id="8" name="Picture 7" descr="A red and blue logo&#10;&#10;AI-generated content may be incorrect.">
            <a:extLst>
              <a:ext uri="{FF2B5EF4-FFF2-40B4-BE49-F238E27FC236}">
                <a16:creationId xmlns:a16="http://schemas.microsoft.com/office/drawing/2014/main" id="{0A9C7790-010C-4BD8-A370-D74E79837F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FD63F4-A353-9C9F-EA69-A389ED0366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C34CF2-FD7E-541D-682B-94153A5E2110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1CE21-F13A-0547-593D-38EB623D3538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08  Result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CAE98-B431-B00F-F4A5-61ACE8EFC505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Two Pass Cases And Two Fail Cases Show How Status Was Assigned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3B408-392A-B5EB-3363-2CD6546B107F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Each status below is grounded in expected-versus-actual behavior and linked evidence, not summary labels alone.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0BB8AC-8456-7C51-C740-A5FE3D077834}"/>
              </a:ext>
            </a:extLst>
          </p:cNvPr>
          <p:cNvSpPr/>
          <p:nvPr/>
        </p:nvSpPr>
        <p:spPr>
          <a:xfrm>
            <a:off x="609600" y="20574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BDFA1C-F8E1-0F2F-35BE-159E9E7A8E6A}"/>
              </a:ext>
            </a:extLst>
          </p:cNvPr>
          <p:cNvSpPr/>
          <p:nvPr/>
        </p:nvSpPr>
        <p:spPr>
          <a:xfrm>
            <a:off x="609600" y="2057400"/>
            <a:ext cx="5207000" cy="1016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AD0DA-95E9-8467-EC07-04043255DAC0}"/>
              </a:ext>
            </a:extLst>
          </p:cNvPr>
          <p:cNvSpPr txBox="1"/>
          <p:nvPr/>
        </p:nvSpPr>
        <p:spPr>
          <a:xfrm>
            <a:off x="787400" y="22606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TC-UI-AUTH-001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61CCCE-7DDB-9DE8-589E-06A1B892B004}"/>
              </a:ext>
            </a:extLst>
          </p:cNvPr>
          <p:cNvSpPr/>
          <p:nvPr/>
        </p:nvSpPr>
        <p:spPr>
          <a:xfrm>
            <a:off x="4876800" y="2235200"/>
            <a:ext cx="736600" cy="2540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E07001-10ED-22FF-8DF9-6D7AF18BDBA3}"/>
              </a:ext>
            </a:extLst>
          </p:cNvPr>
          <p:cNvSpPr txBox="1"/>
          <p:nvPr/>
        </p:nvSpPr>
        <p:spPr>
          <a:xfrm>
            <a:off x="787400" y="24892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Valid admin login reaches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98369-72F0-084A-6F06-B128A7DF8459}"/>
              </a:ext>
            </a:extLst>
          </p:cNvPr>
          <p:cNvSpPr txBox="1"/>
          <p:nvPr/>
        </p:nvSpPr>
        <p:spPr>
          <a:xfrm>
            <a:off x="787400" y="2921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Admin login must redirect to dashboard without validation error.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66FAC-F1CD-CC1A-F22E-B17B24DBAF18}"/>
              </a:ext>
            </a:extLst>
          </p:cNvPr>
          <p:cNvSpPr txBox="1"/>
          <p:nvPr/>
        </p:nvSpPr>
        <p:spPr>
          <a:xfrm>
            <a:off x="787400" y="3429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Chrome and Edge smoke reruns both reached the dashboard.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6008F2-EA84-2462-519F-203D4020B420}"/>
              </a:ext>
            </a:extLst>
          </p:cNvPr>
          <p:cNvSpPr txBox="1"/>
          <p:nvPr/>
        </p:nvSpPr>
        <p:spPr>
          <a:xfrm>
            <a:off x="787400" y="3835400"/>
            <a:ext cx="4851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Evidence: screenshot + smoke TRX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9D7755-3F3B-2797-3DDB-B71053C382E9}"/>
              </a:ext>
            </a:extLst>
          </p:cNvPr>
          <p:cNvSpPr/>
          <p:nvPr/>
        </p:nvSpPr>
        <p:spPr>
          <a:xfrm>
            <a:off x="6350000" y="20574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DB1F32-AF07-5843-A69C-4E0781CB5DCF}"/>
              </a:ext>
            </a:extLst>
          </p:cNvPr>
          <p:cNvSpPr/>
          <p:nvPr/>
        </p:nvSpPr>
        <p:spPr>
          <a:xfrm>
            <a:off x="6350000" y="2057400"/>
            <a:ext cx="5207000" cy="1016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E4D18-F186-36F5-81AE-99D5F58316C5}"/>
              </a:ext>
            </a:extLst>
          </p:cNvPr>
          <p:cNvSpPr txBox="1"/>
          <p:nvPr/>
        </p:nvSpPr>
        <p:spPr>
          <a:xfrm>
            <a:off x="6527800" y="22606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TC-UI-IMP-002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C657CF-348D-5FEC-49D3-14101E16E802}"/>
              </a:ext>
            </a:extLst>
          </p:cNvPr>
          <p:cNvSpPr/>
          <p:nvPr/>
        </p:nvSpPr>
        <p:spPr>
          <a:xfrm>
            <a:off x="10617200" y="2235200"/>
            <a:ext cx="736600" cy="2540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4BF8F1-A6DA-D98B-2B1D-E68F763FF405}"/>
              </a:ext>
            </a:extLst>
          </p:cNvPr>
          <p:cNvSpPr txBox="1"/>
          <p:nvPr/>
        </p:nvSpPr>
        <p:spPr>
          <a:xfrm>
            <a:off x="6527800" y="24892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Import preview shows valid and invalid counts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1FF4F1-0FCC-FC28-7FA0-D9A23A568D0F}"/>
              </a:ext>
            </a:extLst>
          </p:cNvPr>
          <p:cNvSpPr txBox="1"/>
          <p:nvPr/>
        </p:nvSpPr>
        <p:spPr>
          <a:xfrm>
            <a:off x="6527800" y="2921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Preview must show row counts and row-level validation info.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A4C63-48A5-2637-924A-987A3DED68D2}"/>
              </a:ext>
            </a:extLst>
          </p:cNvPr>
          <p:cNvSpPr txBox="1"/>
          <p:nvPr/>
        </p:nvSpPr>
        <p:spPr>
          <a:xfrm>
            <a:off x="6527800" y="3429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Preview showed 6 total, 1 valid, and 5 invalid rows.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E3E66-2D8A-AE1F-602E-B574328FF55B}"/>
              </a:ext>
            </a:extLst>
          </p:cNvPr>
          <p:cNvSpPr txBox="1"/>
          <p:nvPr/>
        </p:nvSpPr>
        <p:spPr>
          <a:xfrm>
            <a:off x="6527800" y="3835400"/>
            <a:ext cx="4851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Evidence: screenshot + rerun TRX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56D11B-99CB-119E-5FEF-64F96FC704EA}"/>
              </a:ext>
            </a:extLst>
          </p:cNvPr>
          <p:cNvSpPr/>
          <p:nvPr/>
        </p:nvSpPr>
        <p:spPr>
          <a:xfrm>
            <a:off x="609600" y="42926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280F3BD-6AB5-B24C-281E-2867501BBEDE}"/>
              </a:ext>
            </a:extLst>
          </p:cNvPr>
          <p:cNvSpPr/>
          <p:nvPr/>
        </p:nvSpPr>
        <p:spPr>
          <a:xfrm>
            <a:off x="609600" y="4292600"/>
            <a:ext cx="5207000" cy="101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1B8F0E-AC7B-58FD-C92E-E66358F26DBF}"/>
              </a:ext>
            </a:extLst>
          </p:cNvPr>
          <p:cNvSpPr txBox="1"/>
          <p:nvPr/>
        </p:nvSpPr>
        <p:spPr>
          <a:xfrm>
            <a:off x="787400" y="44958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TC-UI-PUR-002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7D64B38-3214-7E57-87B6-515232672069}"/>
              </a:ext>
            </a:extLst>
          </p:cNvPr>
          <p:cNvSpPr/>
          <p:nvPr/>
        </p:nvSpPr>
        <p:spPr>
          <a:xfrm>
            <a:off x="4876800" y="4470400"/>
            <a:ext cx="736600" cy="2540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Fail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07F2DC-6CD5-8D63-8DC2-26430ECC6032}"/>
              </a:ext>
            </a:extLst>
          </p:cNvPr>
          <p:cNvSpPr txBox="1"/>
          <p:nvPr/>
        </p:nvSpPr>
        <p:spPr>
          <a:xfrm>
            <a:off x="787400" y="47244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Readable supplier validation should be shown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00D01B-1192-F264-0CC6-6B7D5E3652E4}"/>
              </a:ext>
            </a:extLst>
          </p:cNvPr>
          <p:cNvSpPr txBox="1"/>
          <p:nvPr/>
        </p:nvSpPr>
        <p:spPr>
          <a:xfrm>
            <a:off x="787400" y="5156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Supplier-missing submission should show a readable error.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3ACCD-22E5-6C4A-1C2B-4800FCCCA47A}"/>
              </a:ext>
            </a:extLst>
          </p:cNvPr>
          <p:cNvSpPr txBox="1"/>
          <p:nvPr/>
        </p:nvSpPr>
        <p:spPr>
          <a:xfrm>
            <a:off x="787400" y="5664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Submission was blocked, but the validation banner remained unreadable.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AE8B5C-9428-D022-502D-7B79C6C58F24}"/>
              </a:ext>
            </a:extLst>
          </p:cNvPr>
          <p:cNvSpPr txBox="1"/>
          <p:nvPr/>
        </p:nvSpPr>
        <p:spPr>
          <a:xfrm>
            <a:off x="787400" y="6070600"/>
            <a:ext cx="4851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Evidence: screenshot + GitHub issue #2 + rerun TRX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58F38E0-4C30-D7DD-6B16-5632E723200C}"/>
              </a:ext>
            </a:extLst>
          </p:cNvPr>
          <p:cNvSpPr/>
          <p:nvPr/>
        </p:nvSpPr>
        <p:spPr>
          <a:xfrm>
            <a:off x="6350000" y="42926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484257-4B31-00A1-2E55-4CB445D9344E}"/>
              </a:ext>
            </a:extLst>
          </p:cNvPr>
          <p:cNvSpPr/>
          <p:nvPr/>
        </p:nvSpPr>
        <p:spPr>
          <a:xfrm>
            <a:off x="6350000" y="4292600"/>
            <a:ext cx="5207000" cy="101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218A09-F542-CE7C-9DB1-C58541A32933}"/>
              </a:ext>
            </a:extLst>
          </p:cNvPr>
          <p:cNvSpPr txBox="1"/>
          <p:nvPr/>
        </p:nvSpPr>
        <p:spPr>
          <a:xfrm>
            <a:off x="6527800" y="44958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TC-UI-INV-001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0271C4-B490-D039-D3D9-AF686ADA01F2}"/>
              </a:ext>
            </a:extLst>
          </p:cNvPr>
          <p:cNvSpPr/>
          <p:nvPr/>
        </p:nvSpPr>
        <p:spPr>
          <a:xfrm>
            <a:off x="10617200" y="4470400"/>
            <a:ext cx="736600" cy="2540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Fail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441833-E40D-931A-3FCD-5DB6534FE1F1}"/>
              </a:ext>
            </a:extLst>
          </p:cNvPr>
          <p:cNvSpPr txBox="1"/>
          <p:nvPr/>
        </p:nvSpPr>
        <p:spPr>
          <a:xfrm>
            <a:off x="6527800" y="47244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Valid walk-in invoice should be created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44D068-B249-14F1-22ED-7CB0FF1B165A}"/>
              </a:ext>
            </a:extLst>
          </p:cNvPr>
          <p:cNvSpPr txBox="1"/>
          <p:nvPr/>
        </p:nvSpPr>
        <p:spPr>
          <a:xfrm>
            <a:off x="6527800" y="5156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A valid unpaid invoice should redirect to invoice details.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49DE18-F9A9-2EE7-725A-1A98ACC19407}"/>
              </a:ext>
            </a:extLst>
          </p:cNvPr>
          <p:cNvSpPr txBox="1"/>
          <p:nvPr/>
        </p:nvSpPr>
        <p:spPr>
          <a:xfrm>
            <a:off x="6527800" y="5664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Create returned to the form with a failure toast and still reproduced.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BEECDD-B4B6-B6E5-8C33-20F1FE093DDC}"/>
              </a:ext>
            </a:extLst>
          </p:cNvPr>
          <p:cNvSpPr txBox="1"/>
          <p:nvPr/>
        </p:nvSpPr>
        <p:spPr>
          <a:xfrm>
            <a:off x="6527800" y="6070600"/>
            <a:ext cx="4851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Evidence: screenshot + GitHub issue #1 + rerun TRX</a:t>
            </a:r>
          </a:p>
        </p:txBody>
      </p:sp>
      <p:pic>
        <p:nvPicPr>
          <p:cNvPr id="39" name="Picture 38" descr="A red and blue logo&#10;&#10;AI-generated content may be incorrect.">
            <a:extLst>
              <a:ext uri="{FF2B5EF4-FFF2-40B4-BE49-F238E27FC236}">
                <a16:creationId xmlns:a16="http://schemas.microsoft.com/office/drawing/2014/main" id="{76947FB2-C52A-CBEF-18CA-22C43D541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92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EF75B2-45D1-3432-5A81-DFDAD58179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A658A-6963-8344-82D5-90054D66D1E7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1CC6D-7A9E-7064-4F5A-9B6ECA9E4004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09  Metrics Snapshot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56D8B-EF42-A526-B011-EB21684756AB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Execution Is Complete, Stability Is Not Yet Complete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D4E0D-3134-4F42-D918-E55C91944BDF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The metrics prove complete recorded execution, while the fail and defect counts show why the product is not yet defect-free.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0136EB-BF54-05E5-343B-74BDB1ED5991}"/>
              </a:ext>
            </a:extLst>
          </p:cNvPr>
          <p:cNvSpPr/>
          <p:nvPr/>
        </p:nvSpPr>
        <p:spPr>
          <a:xfrm>
            <a:off x="609600" y="1828800"/>
            <a:ext cx="60198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EA50A8-B96D-9653-E05E-83789C29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930400"/>
            <a:ext cx="5816600" cy="317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325A92-ACC9-AD4D-8D68-6993D931B549}"/>
              </a:ext>
            </a:extLst>
          </p:cNvPr>
          <p:cNvSpPr txBox="1"/>
          <p:nvPr/>
        </p:nvSpPr>
        <p:spPr>
          <a:xfrm>
            <a:off x="711200" y="5130800"/>
            <a:ext cx="58166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Metrics workbook snapshot as of 2026-04-11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8A5011-466D-499B-D79E-A4F003EBF9AF}"/>
              </a:ext>
            </a:extLst>
          </p:cNvPr>
          <p:cNvSpPr/>
          <p:nvPr/>
        </p:nvSpPr>
        <p:spPr>
          <a:xfrm>
            <a:off x="6934200" y="1828800"/>
            <a:ext cx="215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163924-91D4-D01C-1926-AFB11C8E3925}"/>
              </a:ext>
            </a:extLst>
          </p:cNvPr>
          <p:cNvSpPr/>
          <p:nvPr/>
        </p:nvSpPr>
        <p:spPr>
          <a:xfrm>
            <a:off x="6934200" y="1828800"/>
            <a:ext cx="101600" cy="10414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6AA45E-EBF1-2B79-6229-BCE3A2EF961A}"/>
              </a:ext>
            </a:extLst>
          </p:cNvPr>
          <p:cNvSpPr txBox="1"/>
          <p:nvPr/>
        </p:nvSpPr>
        <p:spPr>
          <a:xfrm>
            <a:off x="7188200" y="2057400"/>
            <a:ext cx="1803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63 / 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3E7EC-C5AA-BAF4-1E54-11ECC6074315}"/>
              </a:ext>
            </a:extLst>
          </p:cNvPr>
          <p:cNvSpPr txBox="1"/>
          <p:nvPr/>
        </p:nvSpPr>
        <p:spPr>
          <a:xfrm>
            <a:off x="7188200" y="2514600"/>
            <a:ext cx="1803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Executed cases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3671B9-12F3-4D84-B98E-B053ABA0869F}"/>
              </a:ext>
            </a:extLst>
          </p:cNvPr>
          <p:cNvSpPr/>
          <p:nvPr/>
        </p:nvSpPr>
        <p:spPr>
          <a:xfrm>
            <a:off x="9296400" y="1828800"/>
            <a:ext cx="2286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7DF457-B90B-64FF-E6FB-9B68F0CFCB52}"/>
              </a:ext>
            </a:extLst>
          </p:cNvPr>
          <p:cNvSpPr/>
          <p:nvPr/>
        </p:nvSpPr>
        <p:spPr>
          <a:xfrm>
            <a:off x="9296400" y="1828800"/>
            <a:ext cx="101600" cy="10414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42B109-6685-3EB8-1D9D-E1D306251FD9}"/>
              </a:ext>
            </a:extLst>
          </p:cNvPr>
          <p:cNvSpPr txBox="1"/>
          <p:nvPr/>
        </p:nvSpPr>
        <p:spPr>
          <a:xfrm>
            <a:off x="9550400" y="2057400"/>
            <a:ext cx="1930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56 pass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F19A19-771B-1786-E029-0364A8C942D5}"/>
              </a:ext>
            </a:extLst>
          </p:cNvPr>
          <p:cNvSpPr txBox="1"/>
          <p:nvPr/>
        </p:nvSpPr>
        <p:spPr>
          <a:xfrm>
            <a:off x="9550400" y="2514600"/>
            <a:ext cx="1930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Pass rate 88.89%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7BB2DD-3580-8244-44E4-3ADC1F0E101A}"/>
              </a:ext>
            </a:extLst>
          </p:cNvPr>
          <p:cNvSpPr/>
          <p:nvPr/>
        </p:nvSpPr>
        <p:spPr>
          <a:xfrm>
            <a:off x="6934200" y="3022600"/>
            <a:ext cx="215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943FA5B-B528-540C-D552-DDD37BAF405B}"/>
              </a:ext>
            </a:extLst>
          </p:cNvPr>
          <p:cNvSpPr/>
          <p:nvPr/>
        </p:nvSpPr>
        <p:spPr>
          <a:xfrm>
            <a:off x="6934200" y="3022600"/>
            <a:ext cx="101600" cy="10414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17681A-00FB-C254-1DC0-FEC28460FCD6}"/>
              </a:ext>
            </a:extLst>
          </p:cNvPr>
          <p:cNvSpPr txBox="1"/>
          <p:nvPr/>
        </p:nvSpPr>
        <p:spPr>
          <a:xfrm>
            <a:off x="7188200" y="3251200"/>
            <a:ext cx="1803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7 fail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C02DE-89D8-A3BD-A89D-7B13CCD01C60}"/>
              </a:ext>
            </a:extLst>
          </p:cNvPr>
          <p:cNvSpPr txBox="1"/>
          <p:nvPr/>
        </p:nvSpPr>
        <p:spPr>
          <a:xfrm>
            <a:off x="7188200" y="3708400"/>
            <a:ext cx="1803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Fail rate 11.11%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60A408C-706B-3C11-AAA9-08CA3E0905A1}"/>
              </a:ext>
            </a:extLst>
          </p:cNvPr>
          <p:cNvSpPr/>
          <p:nvPr/>
        </p:nvSpPr>
        <p:spPr>
          <a:xfrm>
            <a:off x="9296400" y="3022600"/>
            <a:ext cx="2286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5C534F1-2707-79BE-EC09-3D1F0DCD2180}"/>
              </a:ext>
            </a:extLst>
          </p:cNvPr>
          <p:cNvSpPr/>
          <p:nvPr/>
        </p:nvSpPr>
        <p:spPr>
          <a:xfrm>
            <a:off x="9296400" y="3022600"/>
            <a:ext cx="101600" cy="10414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D2C95A-899B-9DF1-A10F-8F94F7AC47E6}"/>
              </a:ext>
            </a:extLst>
          </p:cNvPr>
          <p:cNvSpPr txBox="1"/>
          <p:nvPr/>
        </p:nvSpPr>
        <p:spPr>
          <a:xfrm>
            <a:off x="9550400" y="3251200"/>
            <a:ext cx="1930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 live issues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FCA919-41CD-1E10-4DDB-998144CC2007}"/>
              </a:ext>
            </a:extLst>
          </p:cNvPr>
          <p:cNvSpPr txBox="1"/>
          <p:nvPr/>
        </p:nvSpPr>
        <p:spPr>
          <a:xfrm>
            <a:off x="9550400" y="3708400"/>
            <a:ext cx="19304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Confirmed defects in GitHub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6010DD-4258-477B-092C-A006910515C4}"/>
              </a:ext>
            </a:extLst>
          </p:cNvPr>
          <p:cNvSpPr/>
          <p:nvPr/>
        </p:nvSpPr>
        <p:spPr>
          <a:xfrm>
            <a:off x="6934200" y="4318000"/>
            <a:ext cx="46482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Interface view</a:t>
            </a:r>
          </a:p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- Admin UI: 41 executed</a:t>
            </a:r>
          </a:p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- API: 19 executed and fully passed</a:t>
            </a:r>
          </a:p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- Public UI: 3 executed</a:t>
            </a:r>
          </a:p>
          <a:p>
            <a:endParaRPr lang="en-US" sz="1400">
              <a:solidFill>
                <a:srgbClr val="182438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Interpretation</a:t>
            </a:r>
          </a:p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Full execution proves coverage, not a defect-free system.</a:t>
            </a:r>
          </a:p>
        </p:txBody>
      </p:sp>
      <p:pic>
        <p:nvPicPr>
          <p:cNvPr id="8" name="Picture 7" descr="A red and blue logo&#10;&#10;AI-generated content may be incorrect.">
            <a:extLst>
              <a:ext uri="{FF2B5EF4-FFF2-40B4-BE49-F238E27FC236}">
                <a16:creationId xmlns:a16="http://schemas.microsoft.com/office/drawing/2014/main" id="{42DAFB94-E5CF-0314-EC8F-A34EBC964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2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39AA99-F293-A857-BF45-C18453C343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6DC9D-78C5-C37A-FCB6-5C95366DEEF1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0A5AA-1F51-CDFA-AF62-02B011984252}"/>
              </a:ext>
            </a:extLst>
          </p:cNvPr>
          <p:cNvSpPr txBox="1"/>
          <p:nvPr/>
        </p:nvSpPr>
        <p:spPr>
          <a:xfrm>
            <a:off x="609600" y="508000"/>
            <a:ext cx="2413000" cy="45140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 b="1">
                <a:solidFill>
                  <a:srgbClr val="1079D9"/>
                </a:solidFill>
                <a:latin typeface="Segoe UI" panose="020B0502040204020203" pitchFamily="34" charset="0"/>
              </a:rPr>
              <a:t>10  Defect Deep Dive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3EC77-3A12-707B-E829-5D5E5A2EED4B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BUG-20260406-001 Blocks Valid Invoice Creation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76F71-7DB8-EC29-CB82-967C122D4958}"/>
              </a:ext>
            </a:extLst>
          </p:cNvPr>
          <p:cNvSpPr txBox="1"/>
          <p:nvPr/>
        </p:nvSpPr>
        <p:spPr>
          <a:xfrm>
            <a:off x="609600" y="1549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This is the strongest defect for defense because it blocks the base invoice-create flow and also affects related invoice scenarios.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39ACC8-A994-6AF1-850A-2822BC742C62}"/>
              </a:ext>
            </a:extLst>
          </p:cNvPr>
          <p:cNvSpPr/>
          <p:nvPr/>
        </p:nvSpPr>
        <p:spPr>
          <a:xfrm>
            <a:off x="609600" y="1828800"/>
            <a:ext cx="5384800" cy="421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5F2-CE0A-97F6-1F71-F19495C2D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930400"/>
            <a:ext cx="5181600" cy="375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058A35-02C6-F62B-91DF-E400F45C20EF}"/>
              </a:ext>
            </a:extLst>
          </p:cNvPr>
          <p:cNvSpPr txBox="1"/>
          <p:nvPr/>
        </p:nvSpPr>
        <p:spPr>
          <a:xfrm>
            <a:off x="711200" y="5715000"/>
            <a:ext cx="51816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Representative GitHub issue #1 for BUG-20260406-001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808EE9-643A-78A7-CDD9-C47D55C57562}"/>
              </a:ext>
            </a:extLst>
          </p:cNvPr>
          <p:cNvSpPr/>
          <p:nvPr/>
        </p:nvSpPr>
        <p:spPr>
          <a:xfrm>
            <a:off x="6299200" y="1828800"/>
            <a:ext cx="5283200" cy="1117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548C1-DB82-A557-9E94-776ABC5E331C}"/>
              </a:ext>
            </a:extLst>
          </p:cNvPr>
          <p:cNvSpPr txBox="1"/>
          <p:nvPr/>
        </p:nvSpPr>
        <p:spPr>
          <a:xfrm>
            <a:off x="6502400" y="1981200"/>
            <a:ext cx="4876800" cy="8382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Summary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ID: BUG-20260406-001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Module: Invoices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Severity / Priority: High / High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Status: Open - Confirmed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447407-164C-6941-8A83-E70403E14A1B}"/>
              </a:ext>
            </a:extLst>
          </p:cNvPr>
          <p:cNvSpPr/>
          <p:nvPr/>
        </p:nvSpPr>
        <p:spPr>
          <a:xfrm>
            <a:off x="6299200" y="3048000"/>
            <a:ext cx="5283200" cy="121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41418D-3919-4FAC-7420-041F4BDFB15F}"/>
              </a:ext>
            </a:extLst>
          </p:cNvPr>
          <p:cNvSpPr txBox="1"/>
          <p:nvPr/>
        </p:nvSpPr>
        <p:spPr>
          <a:xfrm>
            <a:off x="6502400" y="3200400"/>
            <a:ext cx="4876800" cy="939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Steps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1 Log in as admin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2 Open /Admin/Invoices/Create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3 Add SP010 qty 1 for walk-in sale</a:t>
            </a:r>
          </a:p>
          <a:p>
            <a:r>
              <a:rPr lang="en-US" sz="1200">
                <a:solidFill>
                  <a:srgbClr val="573B2B"/>
                </a:solidFill>
                <a:latin typeface="Aptos" panose="020B0004020202020204" pitchFamily="34" charset="0"/>
              </a:rPr>
              <a:t>4 Submit invoice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6E1FFF-8E03-7D82-231C-B84C00C4EA18}"/>
              </a:ext>
            </a:extLst>
          </p:cNvPr>
          <p:cNvSpPr/>
          <p:nvPr/>
        </p:nvSpPr>
        <p:spPr>
          <a:xfrm>
            <a:off x="6299200" y="4368800"/>
            <a:ext cx="27432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F26932-F717-F3EC-2BAA-7CF671DAD446}"/>
              </a:ext>
            </a:extLst>
          </p:cNvPr>
          <p:cNvSpPr txBox="1"/>
          <p:nvPr/>
        </p:nvSpPr>
        <p:spPr>
          <a:xfrm>
            <a:off x="6451600" y="4521200"/>
            <a:ext cx="2438400" cy="762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573B2B"/>
                </a:solidFill>
                <a:latin typeface="Aptos" panose="020B0004020202020204" pitchFamily="34" charset="0"/>
              </a:rPr>
              <a:t>Expected vs actual</a:t>
            </a:r>
          </a:p>
          <a:p>
            <a:r>
              <a:rPr lang="en-US" sz="1100">
                <a:solidFill>
                  <a:srgbClr val="573B2B"/>
                </a:solidFill>
                <a:latin typeface="Aptos" panose="020B0004020202020204" pitchFamily="34" charset="0"/>
              </a:rPr>
              <a:t>Expected: invoice opens details.</a:t>
            </a:r>
          </a:p>
          <a:p>
            <a:r>
              <a:rPr lang="en-US" sz="1100">
                <a:solidFill>
                  <a:srgbClr val="573B2B"/>
                </a:solidFill>
                <a:latin typeface="Aptos" panose="020B0004020202020204" pitchFamily="34" charset="0"/>
              </a:rPr>
              <a:t>Actual: create stays on the form and shows a failure toast.</a:t>
            </a:r>
          </a:p>
        </p:txBody>
      </p:sp>
      <p:pic>
        <p:nvPicPr>
          <p:cNvPr id="25" name="INV001FailureCrop">
            <a:extLst>
              <a:ext uri="{FF2B5EF4-FFF2-40B4-BE49-F238E27FC236}">
                <a16:creationId xmlns:a16="http://schemas.microsoft.com/office/drawing/2014/main" id="{C9876BEA-8656-4871-839E-903DDCF02DB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800" y="4368800"/>
            <a:ext cx="2387600" cy="1041400"/>
          </a:xfrm>
          <a:prstGeom prst="rect">
            <a:avLst/>
          </a:prstGeom>
          <a:ln w="12700">
            <a:solidFill>
              <a:srgbClr val="F5E6DC"/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8221E01-F3AD-C48C-AAEB-6FF694F289E2}"/>
              </a:ext>
            </a:extLst>
          </p:cNvPr>
          <p:cNvSpPr/>
          <p:nvPr/>
        </p:nvSpPr>
        <p:spPr>
          <a:xfrm>
            <a:off x="6299200" y="5511800"/>
            <a:ext cx="5283200" cy="88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97E43C-B1AD-4694-2C4E-41B55759C20F}"/>
              </a:ext>
            </a:extLst>
          </p:cNvPr>
          <p:cNvSpPr txBox="1"/>
          <p:nvPr/>
        </p:nvSpPr>
        <p:spPr>
          <a:xfrm>
            <a:off x="6502400" y="5664200"/>
            <a:ext cx="4876800" cy="609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573B2B"/>
                </a:solidFill>
                <a:latin typeface="Aptos" panose="020B0004020202020204" pitchFamily="34" charset="0"/>
              </a:rPr>
              <a:t>Impact / links</a:t>
            </a:r>
          </a:p>
          <a:p>
            <a:r>
              <a:rPr lang="en-US" sz="1100">
                <a:solidFill>
                  <a:srgbClr val="573B2B"/>
                </a:solidFill>
                <a:latin typeface="Aptos" panose="020B0004020202020204" pitchFamily="34" charset="0"/>
              </a:rPr>
              <a:t>Related: TC-UI-INV-001, -003, -006</a:t>
            </a:r>
          </a:p>
          <a:p>
            <a:r>
              <a:rPr lang="en-US" sz="1100">
                <a:solidFill>
                  <a:srgbClr val="573B2B"/>
                </a:solidFill>
                <a:latin typeface="Aptos" panose="020B0004020202020204" pitchFamily="34" charset="0"/>
              </a:rPr>
              <a:t>Evidence: failure screenshot + GitHub issue #1 + rerun TRX + server log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4ADD2E-9364-D296-A453-88007CF8D7EA}"/>
              </a:ext>
            </a:extLst>
          </p:cNvPr>
          <p:cNvSpPr txBox="1"/>
          <p:nvPr/>
        </p:nvSpPr>
        <p:spPr>
          <a:xfrm>
            <a:off x="6299200" y="6400800"/>
            <a:ext cx="5283200" cy="25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94705D"/>
                </a:solidFill>
                <a:latin typeface="Aptos" panose="020B0004020202020204" pitchFamily="34" charset="0"/>
              </a:rPr>
              <a:t>Open defect summary: #1 invoice create, #2 purchase banner, #3 import confirm, #4 invoice cancel.</a:t>
            </a:r>
          </a:p>
        </p:txBody>
      </p:sp>
      <p:pic>
        <p:nvPicPr>
          <p:cNvPr id="11" name="Picture 10" descr="A red and blue logo&#10;&#10;AI-generated content may be incorrect.">
            <a:extLst>
              <a:ext uri="{FF2B5EF4-FFF2-40B4-BE49-F238E27FC236}">
                <a16:creationId xmlns:a16="http://schemas.microsoft.com/office/drawing/2014/main" id="{19F5BF67-F5C3-160F-58DF-F77C46181F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3ECA38-4B0E-6BA2-231F-B893F1FAAA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6757B-4269-8CCA-E744-B2B77D7B2B5F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A8BC0-98A5-E891-6DCF-5B166C4BE0BF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6A398"/>
                </a:solidFill>
                <a:latin typeface="Segoe UI" panose="020B0502040204020203" pitchFamily="34" charset="0"/>
              </a:rPr>
              <a:t>11  Final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6E7D0-ED19-8E42-A12D-338F34431A0D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What Is Proven Today, And What Still Needs Code Fixes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F7B42-456A-9D67-326F-6DB3EFDAFD41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DBEEFF"/>
                </a:solidFill>
                <a:latin typeface="Segoe UI" panose="020B0502040204020203" pitchFamily="34" charset="0"/>
              </a:rPr>
              <a:t>The final assessment is intentionally split between what the evidence proves now and what depends on future product changes.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4D0F21-B72F-32C8-7EFE-127D0AAAAD66}"/>
              </a:ext>
            </a:extLst>
          </p:cNvPr>
          <p:cNvSpPr/>
          <p:nvPr/>
        </p:nvSpPr>
        <p:spPr>
          <a:xfrm>
            <a:off x="609600" y="1879600"/>
            <a:ext cx="5105400" cy="26162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2A7F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Proven today</a:t>
            </a:r>
          </a:p>
          <a:p>
            <a:endParaRPr lang="en-US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- 63 / 63 cases executed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- 42 documented scenarios mapped to cases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evidence chain runs from scenario to issue tracker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submission package is complete and reviewable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0899C7-617B-2F77-D07E-4AB8BF68549A}"/>
              </a:ext>
            </a:extLst>
          </p:cNvPr>
          <p:cNvSpPr/>
          <p:nvPr/>
        </p:nvSpPr>
        <p:spPr>
          <a:xfrm>
            <a:off x="6350000" y="1879600"/>
            <a:ext cx="5232400" cy="26162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Still open</a:t>
            </a:r>
          </a:p>
          <a:p>
            <a:endParaRPr lang="en-US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- 4 confirmed defects remain unresolved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post-fix retest still depends on code changes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browser proof beyond Edge smoke is not claimed</a:t>
            </a:r>
          </a:p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- invoice and import remain the highest-risk flows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067A10-BD28-5717-5332-BB695FBA5BE4}"/>
              </a:ext>
            </a:extLst>
          </p:cNvPr>
          <p:cNvSpPr/>
          <p:nvPr/>
        </p:nvSpPr>
        <p:spPr>
          <a:xfrm>
            <a:off x="609600" y="4851400"/>
            <a:ext cx="3454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6DFDDC-6C0F-B94B-FED2-2E8B120E50DB}"/>
              </a:ext>
            </a:extLst>
          </p:cNvPr>
          <p:cNvSpPr/>
          <p:nvPr/>
        </p:nvSpPr>
        <p:spPr>
          <a:xfrm>
            <a:off x="609600" y="4851400"/>
            <a:ext cx="101600" cy="1117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DE896F-2137-CF60-594D-37239D6ECB3C}"/>
              </a:ext>
            </a:extLst>
          </p:cNvPr>
          <p:cNvSpPr txBox="1"/>
          <p:nvPr/>
        </p:nvSpPr>
        <p:spPr>
          <a:xfrm>
            <a:off x="863600" y="5080000"/>
            <a:ext cx="3098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48705-3B97-F9D7-C13B-FEBD86903612}"/>
              </a:ext>
            </a:extLst>
          </p:cNvPr>
          <p:cNvSpPr txBox="1"/>
          <p:nvPr/>
        </p:nvSpPr>
        <p:spPr>
          <a:xfrm>
            <a:off x="863600" y="5537200"/>
            <a:ext cx="3098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Fix invoice create and invoice cancel first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2ACFA0-7A22-2062-02E5-8A8D7BC975A6}"/>
              </a:ext>
            </a:extLst>
          </p:cNvPr>
          <p:cNvSpPr/>
          <p:nvPr/>
        </p:nvSpPr>
        <p:spPr>
          <a:xfrm>
            <a:off x="4368800" y="4851400"/>
            <a:ext cx="3454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F4D63A-0F09-F9AD-8FA7-01558FB9B2F4}"/>
              </a:ext>
            </a:extLst>
          </p:cNvPr>
          <p:cNvSpPr/>
          <p:nvPr/>
        </p:nvSpPr>
        <p:spPr>
          <a:xfrm>
            <a:off x="4368800" y="4851400"/>
            <a:ext cx="101600" cy="11176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C93D4-2A91-77CF-4D59-10CDD48E308F}"/>
              </a:ext>
            </a:extLst>
          </p:cNvPr>
          <p:cNvSpPr txBox="1"/>
          <p:nvPr/>
        </p:nvSpPr>
        <p:spPr>
          <a:xfrm>
            <a:off x="4622800" y="5080000"/>
            <a:ext cx="3098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88AA8-353F-FB67-643C-2BECF91D0DA8}"/>
              </a:ext>
            </a:extLst>
          </p:cNvPr>
          <p:cNvSpPr txBox="1"/>
          <p:nvPr/>
        </p:nvSpPr>
        <p:spPr>
          <a:xfrm>
            <a:off x="4622800" y="5537200"/>
            <a:ext cx="3098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Fix purchase validation and import confirm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A07C38-E6CB-6074-0E90-6F72B1629CB3}"/>
              </a:ext>
            </a:extLst>
          </p:cNvPr>
          <p:cNvSpPr/>
          <p:nvPr/>
        </p:nvSpPr>
        <p:spPr>
          <a:xfrm>
            <a:off x="8128000" y="4851400"/>
            <a:ext cx="3454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69131F-6E2C-6629-28AB-A375C655DFA9}"/>
              </a:ext>
            </a:extLst>
          </p:cNvPr>
          <p:cNvSpPr/>
          <p:nvPr/>
        </p:nvSpPr>
        <p:spPr>
          <a:xfrm>
            <a:off x="8128000" y="4851400"/>
            <a:ext cx="101600" cy="11176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7395B-2246-93F7-028F-9255954139FE}"/>
              </a:ext>
            </a:extLst>
          </p:cNvPr>
          <p:cNvSpPr txBox="1"/>
          <p:nvPr/>
        </p:nvSpPr>
        <p:spPr>
          <a:xfrm>
            <a:off x="8382000" y="5080000"/>
            <a:ext cx="3098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45F12-2788-5B6A-A7DA-2C2594C69E4D}"/>
              </a:ext>
            </a:extLst>
          </p:cNvPr>
          <p:cNvSpPr txBox="1"/>
          <p:nvPr/>
        </p:nvSpPr>
        <p:spPr>
          <a:xfrm>
            <a:off x="8382000" y="5537200"/>
            <a:ext cx="3098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Rerun failed cases and attach post-fix evidence</a:t>
            </a:r>
          </a:p>
        </p:txBody>
      </p:sp>
      <p:pic>
        <p:nvPicPr>
          <p:cNvPr id="21" name="Picture 20" descr="A red and blue logo&#10;&#10;AI-generated content may be incorrect.">
            <a:extLst>
              <a:ext uri="{FF2B5EF4-FFF2-40B4-BE49-F238E27FC236}">
                <a16:creationId xmlns:a16="http://schemas.microsoft.com/office/drawing/2014/main" id="{7893CE24-2448-1BF6-CB3C-6B62D8A1D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49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A3F2AD-B52B-35DB-C294-B0F0D0F55A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C9430-86C3-AA47-6110-9518BC3675F8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DAE2B-4CA3-774E-3C01-24810D440917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12  Closing / Q&amp;A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98666-2C5B-AF36-BD3C-5E82A7936A99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The Package Is Ready For Review, And The Open Risks Are Clear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13594-1F2F-AF69-19C9-F9939A65535B}"/>
              </a:ext>
            </a:extLst>
          </p:cNvPr>
          <p:cNvSpPr txBox="1"/>
          <p:nvPr/>
        </p:nvSpPr>
        <p:spPr>
          <a:xfrm>
            <a:off x="609600" y="1295400"/>
            <a:ext cx="10972800" cy="420628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400">
                <a:solidFill>
                  <a:srgbClr val="58647D"/>
                </a:solidFill>
                <a:latin typeface="Segoe UI" panose="020B0502040204020203" pitchFamily="34" charset="0"/>
              </a:rPr>
              <a:t>This closing slide stays short so the team can move directly into Q&amp;A and open the backup slides only when needed.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AA2DB5-3365-CE21-75B3-EF6E23E0683C}"/>
              </a:ext>
            </a:extLst>
          </p:cNvPr>
          <p:cNvSpPr/>
          <p:nvPr/>
        </p:nvSpPr>
        <p:spPr>
          <a:xfrm>
            <a:off x="609600" y="1930400"/>
            <a:ext cx="332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A4BC45-5814-6980-B808-C03931B95DE1}"/>
              </a:ext>
            </a:extLst>
          </p:cNvPr>
          <p:cNvSpPr/>
          <p:nvPr/>
        </p:nvSpPr>
        <p:spPr>
          <a:xfrm>
            <a:off x="609600" y="1930400"/>
            <a:ext cx="101600" cy="11430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37276-FE2E-C807-FC2D-9CEFFB4755C2}"/>
              </a:ext>
            </a:extLst>
          </p:cNvPr>
          <p:cNvSpPr txBox="1"/>
          <p:nvPr/>
        </p:nvSpPr>
        <p:spPr>
          <a:xfrm>
            <a:off x="863600" y="2133600"/>
            <a:ext cx="2971800" cy="5129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000" b="1">
                <a:solidFill>
                  <a:srgbClr val="182438"/>
                </a:solidFill>
                <a:latin typeface="Bahnschrift SemiBold" panose="020B0502040204020203" pitchFamily="34" charset="0"/>
              </a:rPr>
              <a:t>63 / 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FFFD2-53A2-98FE-0BCA-D6FDB6717FEF}"/>
              </a:ext>
            </a:extLst>
          </p:cNvPr>
          <p:cNvSpPr txBox="1"/>
          <p:nvPr/>
        </p:nvSpPr>
        <p:spPr>
          <a:xfrm>
            <a:off x="863600" y="2489200"/>
            <a:ext cx="29718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>
                <a:solidFill>
                  <a:srgbClr val="58647D"/>
                </a:solidFill>
                <a:latin typeface="Segoe UI" panose="020B0502040204020203" pitchFamily="34" charset="0"/>
              </a:rPr>
              <a:t>Recorded execution coverage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B178C1-58B9-3F75-EABD-3E0A5E68E2AF}"/>
              </a:ext>
            </a:extLst>
          </p:cNvPr>
          <p:cNvSpPr/>
          <p:nvPr/>
        </p:nvSpPr>
        <p:spPr>
          <a:xfrm>
            <a:off x="4140200" y="1930400"/>
            <a:ext cx="332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2E9E4B-6966-36BF-DFAC-651964DFE524}"/>
              </a:ext>
            </a:extLst>
          </p:cNvPr>
          <p:cNvSpPr/>
          <p:nvPr/>
        </p:nvSpPr>
        <p:spPr>
          <a:xfrm>
            <a:off x="4140200" y="1930400"/>
            <a:ext cx="101600" cy="11430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0BF1F-3EAB-4E67-0E61-F77792E7A55C}"/>
              </a:ext>
            </a:extLst>
          </p:cNvPr>
          <p:cNvSpPr txBox="1"/>
          <p:nvPr/>
        </p:nvSpPr>
        <p:spPr>
          <a:xfrm>
            <a:off x="4394200" y="2133600"/>
            <a:ext cx="2971800" cy="5129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000" b="1">
                <a:solidFill>
                  <a:srgbClr val="182438"/>
                </a:solidFill>
                <a:latin typeface="Bahnschrift SemiBold" panose="020B0502040204020203" pitchFamily="34" charset="0"/>
              </a:rPr>
              <a:t>4 open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860B9-9868-9DC1-957B-79377B190063}"/>
              </a:ext>
            </a:extLst>
          </p:cNvPr>
          <p:cNvSpPr txBox="1"/>
          <p:nvPr/>
        </p:nvSpPr>
        <p:spPr>
          <a:xfrm>
            <a:off x="4394200" y="2489200"/>
            <a:ext cx="29718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>
                <a:solidFill>
                  <a:srgbClr val="58647D"/>
                </a:solidFill>
                <a:latin typeface="Segoe UI" panose="020B0502040204020203" pitchFamily="34" charset="0"/>
              </a:rPr>
              <a:t>Confirmed defects still active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5DDA88-2356-7352-E766-8E6BDA5B6DB8}"/>
              </a:ext>
            </a:extLst>
          </p:cNvPr>
          <p:cNvSpPr/>
          <p:nvPr/>
        </p:nvSpPr>
        <p:spPr>
          <a:xfrm>
            <a:off x="7670800" y="1930400"/>
            <a:ext cx="3911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95AD83-66B1-C221-4B35-88E39659DA39}"/>
              </a:ext>
            </a:extLst>
          </p:cNvPr>
          <p:cNvSpPr/>
          <p:nvPr/>
        </p:nvSpPr>
        <p:spPr>
          <a:xfrm>
            <a:off x="7670800" y="1930400"/>
            <a:ext cx="101600" cy="11430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B3ECC-86B9-7068-6B6E-EEA2BDBA9E3F}"/>
              </a:ext>
            </a:extLst>
          </p:cNvPr>
          <p:cNvSpPr txBox="1"/>
          <p:nvPr/>
        </p:nvSpPr>
        <p:spPr>
          <a:xfrm>
            <a:off x="7924800" y="2133600"/>
            <a:ext cx="3556000" cy="5129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000" b="1">
                <a:solidFill>
                  <a:srgbClr val="182438"/>
                </a:solidFill>
                <a:latin typeface="Bahnschrift SemiBold" panose="020B0502040204020203" pitchFamily="34" charset="0"/>
              </a:rPr>
              <a:t>Evidence-first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911BCD-E90D-6471-1AFB-B089941E5FF6}"/>
              </a:ext>
            </a:extLst>
          </p:cNvPr>
          <p:cNvSpPr txBox="1"/>
          <p:nvPr/>
        </p:nvSpPr>
        <p:spPr>
          <a:xfrm>
            <a:off x="7924800" y="2489200"/>
            <a:ext cx="3556000" cy="5283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>
                <a:solidFill>
                  <a:srgbClr val="58647D"/>
                </a:solidFill>
                <a:latin typeface="Segoe UI" panose="020B0502040204020203" pitchFamily="34" charset="0"/>
              </a:rPr>
              <a:t>Screenshots, runner files, workbooks, and issues stay aligned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D17DB5-1C3B-19CE-8E22-27FE02FB33BE}"/>
              </a:ext>
            </a:extLst>
          </p:cNvPr>
          <p:cNvSpPr/>
          <p:nvPr/>
        </p:nvSpPr>
        <p:spPr>
          <a:xfrm>
            <a:off x="609600" y="3505200"/>
            <a:ext cx="10972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Closing message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the report package is complete and reviewable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the key claims are backed by workbooks, runner files, screenshots, and issues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open defects are real and already tracked in GitHub</a:t>
            </a:r>
          </a:p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- the next engineering step is code fix plus focused retest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C046B-FEC0-C8E3-E775-D496BF6A5DF7}"/>
              </a:ext>
            </a:extLst>
          </p:cNvPr>
          <p:cNvSpPr txBox="1"/>
          <p:nvPr/>
        </p:nvSpPr>
        <p:spPr>
          <a:xfrm>
            <a:off x="609600" y="5562600"/>
            <a:ext cx="10972800" cy="482183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pPr algn="ctr"/>
            <a:r>
              <a:rPr lang="en-US" b="1">
                <a:solidFill>
                  <a:srgbClr val="1079D9"/>
                </a:solidFill>
                <a:latin typeface="Bahnschrift SemiBold" panose="020B0502040204020203" pitchFamily="34" charset="0"/>
              </a:rPr>
              <a:t>Thank you. We are ready for questions.</a:t>
            </a:r>
          </a:p>
        </p:txBody>
      </p:sp>
      <p:pic>
        <p:nvPicPr>
          <p:cNvPr id="21" name="Picture 20" descr="A red and blue logo&#10;&#10;AI-generated content may be incorrect.">
            <a:extLst>
              <a:ext uri="{FF2B5EF4-FFF2-40B4-BE49-F238E27FC236}">
                <a16:creationId xmlns:a16="http://schemas.microsoft.com/office/drawing/2014/main" id="{44D0ECD9-D21E-463B-B19E-739E82405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15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856E47-B163-9776-9569-E54F3CD44C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6B3DD7-7B49-BA03-3A6A-3F97CB7D3189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D1AEE-038F-1906-F8DA-545991C57C92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Backup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86E1-BB81-16E4-4A7B-C12890CF1ECA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Submission Package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43561-8668-D5C9-59EB-FE69747B82B4}"/>
              </a:ext>
            </a:extLst>
          </p:cNvPr>
          <p:cNvSpPr txBox="1"/>
          <p:nvPr/>
        </p:nvSpPr>
        <p:spPr>
          <a:xfrm>
            <a:off x="609600" y="1295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This slide supports questions about where the examiner can find the report, evidence, scripts, and video.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232C5-9DC2-6F50-9D02-F52351C4168A}"/>
              </a:ext>
            </a:extLst>
          </p:cNvPr>
          <p:cNvSpPr/>
          <p:nvPr/>
        </p:nvSpPr>
        <p:spPr>
          <a:xfrm>
            <a:off x="609600" y="2133600"/>
            <a:ext cx="32512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A68769-6B06-ABD1-3532-A2FB57DE2B80}"/>
              </a:ext>
            </a:extLst>
          </p:cNvPr>
          <p:cNvSpPr/>
          <p:nvPr/>
        </p:nvSpPr>
        <p:spPr>
          <a:xfrm>
            <a:off x="609600" y="2133600"/>
            <a:ext cx="101600" cy="1092200"/>
          </a:xfrm>
          <a:prstGeom prst="rect">
            <a:avLst/>
          </a:prstGeom>
          <a:solidFill>
            <a:srgbClr val="1F7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46BDF8-6B94-D634-53F1-3BCE935723A5}"/>
              </a:ext>
            </a:extLst>
          </p:cNvPr>
          <p:cNvSpPr txBox="1"/>
          <p:nvPr/>
        </p:nvSpPr>
        <p:spPr>
          <a:xfrm>
            <a:off x="863600" y="2311400"/>
            <a:ext cx="28956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1F2D47"/>
                </a:solidFill>
              </a:rPr>
              <a:t>MainReport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8BA743-F662-5AA8-8903-F4CE2FD373CA}"/>
              </a:ext>
            </a:extLst>
          </p:cNvPr>
          <p:cNvSpPr txBox="1"/>
          <p:nvPr/>
        </p:nvSpPr>
        <p:spPr>
          <a:xfrm>
            <a:off x="863600" y="2692400"/>
            <a:ext cx="28956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5A6B8C"/>
                </a:solidFill>
              </a:rPr>
              <a:t>Word report and slides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F9F3600-A114-FD41-5322-3E1851FE199E}"/>
              </a:ext>
            </a:extLst>
          </p:cNvPr>
          <p:cNvSpPr/>
          <p:nvPr/>
        </p:nvSpPr>
        <p:spPr>
          <a:xfrm>
            <a:off x="4165600" y="2133600"/>
            <a:ext cx="32512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500635-A05F-0EF2-562D-7CC72B22595F}"/>
              </a:ext>
            </a:extLst>
          </p:cNvPr>
          <p:cNvSpPr/>
          <p:nvPr/>
        </p:nvSpPr>
        <p:spPr>
          <a:xfrm>
            <a:off x="4165600" y="2133600"/>
            <a:ext cx="101600" cy="1092200"/>
          </a:xfrm>
          <a:prstGeom prst="rect">
            <a:avLst/>
          </a:prstGeom>
          <a:solidFill>
            <a:srgbClr val="1F7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193228-75BA-0915-5537-18037B8BF1EF}"/>
              </a:ext>
            </a:extLst>
          </p:cNvPr>
          <p:cNvSpPr txBox="1"/>
          <p:nvPr/>
        </p:nvSpPr>
        <p:spPr>
          <a:xfrm>
            <a:off x="4419600" y="2311400"/>
            <a:ext cx="28956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1F2D47"/>
                </a:solidFill>
              </a:rPr>
              <a:t>TestCases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7EFFDA-D341-4E91-109D-7D00B3374BF7}"/>
              </a:ext>
            </a:extLst>
          </p:cNvPr>
          <p:cNvSpPr txBox="1"/>
          <p:nvPr/>
        </p:nvSpPr>
        <p:spPr>
          <a:xfrm>
            <a:off x="4419600" y="2692400"/>
            <a:ext cx="28956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5A6B8C"/>
                </a:solidFill>
              </a:rPr>
              <a:t>UI and API case files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62A2539-26E1-55C2-FC52-5F30C03E575A}"/>
              </a:ext>
            </a:extLst>
          </p:cNvPr>
          <p:cNvSpPr/>
          <p:nvPr/>
        </p:nvSpPr>
        <p:spPr>
          <a:xfrm>
            <a:off x="7721600" y="2133600"/>
            <a:ext cx="38608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F44ED9-8F24-53C4-8539-6E5B33E193D3}"/>
              </a:ext>
            </a:extLst>
          </p:cNvPr>
          <p:cNvSpPr/>
          <p:nvPr/>
        </p:nvSpPr>
        <p:spPr>
          <a:xfrm>
            <a:off x="7721600" y="2133600"/>
            <a:ext cx="101600" cy="1092200"/>
          </a:xfrm>
          <a:prstGeom prst="rect">
            <a:avLst/>
          </a:prstGeom>
          <a:solidFill>
            <a:srgbClr val="1F7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258676-1857-D72F-3765-13DF0CC70625}"/>
              </a:ext>
            </a:extLst>
          </p:cNvPr>
          <p:cNvSpPr txBox="1"/>
          <p:nvPr/>
        </p:nvSpPr>
        <p:spPr>
          <a:xfrm>
            <a:off x="7975600" y="2311400"/>
            <a:ext cx="3505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1F2D47"/>
                </a:solidFill>
              </a:rPr>
              <a:t>TestResults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2EE1D8-0E1A-1F8F-B74E-6471251F6DF5}"/>
              </a:ext>
            </a:extLst>
          </p:cNvPr>
          <p:cNvSpPr txBox="1"/>
          <p:nvPr/>
        </p:nvSpPr>
        <p:spPr>
          <a:xfrm>
            <a:off x="7975600" y="2692400"/>
            <a:ext cx="3505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5A6B8C"/>
                </a:solidFill>
              </a:rPr>
              <a:t>Results, metrics, and evidence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D3CF90E-C0F1-D578-9368-0C835C6A1A8D}"/>
              </a:ext>
            </a:extLst>
          </p:cNvPr>
          <p:cNvSpPr/>
          <p:nvPr/>
        </p:nvSpPr>
        <p:spPr>
          <a:xfrm>
            <a:off x="609600" y="3454400"/>
            <a:ext cx="533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47F3BD-1408-4385-F03E-B0E4F35026E3}"/>
              </a:ext>
            </a:extLst>
          </p:cNvPr>
          <p:cNvSpPr/>
          <p:nvPr/>
        </p:nvSpPr>
        <p:spPr>
          <a:xfrm>
            <a:off x="609600" y="3454400"/>
            <a:ext cx="101600" cy="1092200"/>
          </a:xfrm>
          <a:prstGeom prst="rect">
            <a:avLst/>
          </a:prstGeom>
          <a:solidFill>
            <a:srgbClr val="1F7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B74F14-DD05-C878-53DA-B30D1F615E51}"/>
              </a:ext>
            </a:extLst>
          </p:cNvPr>
          <p:cNvSpPr txBox="1"/>
          <p:nvPr/>
        </p:nvSpPr>
        <p:spPr>
          <a:xfrm>
            <a:off x="863600" y="3632200"/>
            <a:ext cx="4978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1F2D47"/>
                </a:solidFill>
              </a:rPr>
              <a:t>TestScript-Data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77C696-51A8-93ED-0CA7-43584C8C475A}"/>
              </a:ext>
            </a:extLst>
          </p:cNvPr>
          <p:cNvSpPr txBox="1"/>
          <p:nvPr/>
        </p:nvSpPr>
        <p:spPr>
          <a:xfrm>
            <a:off x="863600" y="4013200"/>
            <a:ext cx="49784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5A6B8C"/>
                </a:solidFill>
              </a:rPr>
              <a:t>Automation scripts and test data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2F0D0C8-4C56-B1B3-0A06-49AE7D3355C4}"/>
              </a:ext>
            </a:extLst>
          </p:cNvPr>
          <p:cNvSpPr/>
          <p:nvPr/>
        </p:nvSpPr>
        <p:spPr>
          <a:xfrm>
            <a:off x="6248400" y="3454400"/>
            <a:ext cx="533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9DA659-3E60-3F29-9447-AEE35650FD26}"/>
              </a:ext>
            </a:extLst>
          </p:cNvPr>
          <p:cNvSpPr/>
          <p:nvPr/>
        </p:nvSpPr>
        <p:spPr>
          <a:xfrm>
            <a:off x="6248400" y="3454400"/>
            <a:ext cx="101600" cy="1092200"/>
          </a:xfrm>
          <a:prstGeom prst="rect">
            <a:avLst/>
          </a:prstGeom>
          <a:solidFill>
            <a:srgbClr val="1F7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F72811-51CB-A8C9-460B-D9AFAD7782E7}"/>
              </a:ext>
            </a:extLst>
          </p:cNvPr>
          <p:cNvSpPr txBox="1"/>
          <p:nvPr/>
        </p:nvSpPr>
        <p:spPr>
          <a:xfrm>
            <a:off x="6502400" y="3632200"/>
            <a:ext cx="4978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1F2D47"/>
                </a:solidFill>
              </a:rPr>
              <a:t>Videos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6F62E7-E73B-6C39-D906-7981BA473C8D}"/>
              </a:ext>
            </a:extLst>
          </p:cNvPr>
          <p:cNvSpPr txBox="1"/>
          <p:nvPr/>
        </p:nvSpPr>
        <p:spPr>
          <a:xfrm>
            <a:off x="6502400" y="4013200"/>
            <a:ext cx="49784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5A6B8C"/>
                </a:solidFill>
              </a:rPr>
              <a:t>Automation demo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6DB394F-1DB4-B019-BFE5-082E67BC3589}"/>
              </a:ext>
            </a:extLst>
          </p:cNvPr>
          <p:cNvSpPr/>
          <p:nvPr/>
        </p:nvSpPr>
        <p:spPr>
          <a:xfrm>
            <a:off x="609600" y="4800600"/>
            <a:ext cx="1097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77800" rIns="228600" bIns="152400" rtlCol="0" anchor="ctr"/>
          <a:lstStyle/>
          <a:p>
            <a:pPr algn="ctr"/>
            <a:r>
              <a:rPr lang="en-US" sz="1150">
                <a:solidFill>
                  <a:srgbClr val="1F2D47"/>
                </a:solidFill>
              </a:rPr>
              <a:t>How to read the package</a:t>
            </a:r>
          </a:p>
          <a:p>
            <a:pPr algn="ctr"/>
            <a:r>
              <a:rPr lang="en-US" sz="1150">
                <a:solidFill>
                  <a:srgbClr val="1F2D47"/>
                </a:solidFill>
              </a:rPr>
              <a:t>- MainReport contains the Word report and presentation</a:t>
            </a:r>
          </a:p>
          <a:p>
            <a:pPr algn="ctr"/>
            <a:r>
              <a:rPr lang="en-US" sz="1150">
                <a:solidFill>
                  <a:srgbClr val="1F2D47"/>
                </a:solidFill>
              </a:rPr>
              <a:t>- TestCases contains the UI and API case files</a:t>
            </a:r>
          </a:p>
          <a:p>
            <a:pPr algn="ctr"/>
            <a:r>
              <a:rPr lang="en-US" sz="1150">
                <a:solidFill>
                  <a:srgbClr val="1F2D47"/>
                </a:solidFill>
              </a:rPr>
              <a:t>- TestResults contains execution outcomes, metrics, runner outputs, and defect evidence</a:t>
            </a:r>
          </a:p>
          <a:p>
            <a:pPr algn="ctr"/>
            <a:r>
              <a:rPr lang="en-US" sz="1150">
                <a:solidFill>
                  <a:srgbClr val="1F2D47"/>
                </a:solidFill>
              </a:rPr>
              <a:t>- TestScript-Data contains automation scripts and test data</a:t>
            </a:r>
          </a:p>
          <a:p>
            <a:pPr algn="ctr"/>
            <a:r>
              <a:rPr lang="en-US" sz="1150">
                <a:solidFill>
                  <a:srgbClr val="1F2D47"/>
                </a:solidFill>
              </a:rPr>
              <a:t>- Videos contains the automation demo</a:t>
            </a:r>
          </a:p>
        </p:txBody>
      </p:sp>
      <p:pic>
        <p:nvPicPr>
          <p:cNvPr id="7" name="Picture 6" descr="A red and blue logo&#10;&#10;AI-generated content may be incorrect.">
            <a:extLst>
              <a:ext uri="{FF2B5EF4-FFF2-40B4-BE49-F238E27FC236}">
                <a16:creationId xmlns:a16="http://schemas.microsoft.com/office/drawing/2014/main" id="{6D7B22D5-767A-FCCB-659B-6B66E5CC4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57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653C8D-A657-6CAF-916E-D2ED9F0C41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510337-0F9B-6B05-619C-23495BB997D3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2221E-9EA2-1DA4-A3B0-9D0F8BF87610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Backup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DFFDD-C2F5-D395-5CC7-A499281F8E0D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Sample UI Test Case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53596-A7B8-7B34-F640-45F9D81AE8E7}"/>
              </a:ext>
            </a:extLst>
          </p:cNvPr>
          <p:cNvSpPr txBox="1"/>
          <p:nvPr/>
        </p:nvSpPr>
        <p:spPr>
          <a:xfrm>
            <a:off x="609600" y="1295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UI testcase artifacts follow the required field structure: ID, title, preconditions, steps, expected result, actual result, status, and evidence.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91FFAD-3EA2-4553-1253-DD5157865FA3}"/>
              </a:ext>
            </a:extLst>
          </p:cNvPr>
          <p:cNvSpPr/>
          <p:nvPr/>
        </p:nvSpPr>
        <p:spPr>
          <a:xfrm>
            <a:off x="609600" y="1905000"/>
            <a:ext cx="26162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80">
                <a:solidFill>
                  <a:srgbClr val="182438"/>
                </a:solidFill>
                <a:latin typeface="Segoe UI" panose="020B0502040204020203" pitchFamily="34" charset="0"/>
              </a:rPr>
              <a:t>Sample case
ID: TC-UI-AUTH-001
Title: Login succeeds with valid admin account
Owner: Hoang Van Thien
Module: Authentication
Priority: Critical
Status: Pass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F6E69A-10C3-6B8A-5313-77F6ECBB353B}"/>
              </a:ext>
            </a:extLst>
          </p:cNvPr>
          <p:cNvSpPr/>
          <p:nvPr/>
        </p:nvSpPr>
        <p:spPr>
          <a:xfrm>
            <a:off x="3454400" y="1905000"/>
            <a:ext cx="3810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120">
                <a:solidFill>
                  <a:srgbClr val="182438"/>
                </a:solidFill>
                <a:latin typeface="Segoe UI" panose="020B0502040204020203" pitchFamily="34" charset="0"/>
              </a:rPr>
              <a:t>Preconditions and steps
Preconditions: Application is running locally and seeded admin account exists.
Steps: 1 Open /Admin/Auth/Login; 2 Enter admin email; 3 Enter valid password; 4 Click Sign in.
Test data: Email=admin@osms.local; Password=Admin@12345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34A90A-FF50-EBE9-1AF7-3CAA5C378D09}"/>
              </a:ext>
            </a:extLst>
          </p:cNvPr>
          <p:cNvSpPr/>
          <p:nvPr/>
        </p:nvSpPr>
        <p:spPr>
          <a:xfrm>
            <a:off x="7493000" y="1905000"/>
            <a:ext cx="40894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100">
                <a:solidFill>
                  <a:srgbClr val="182438"/>
                </a:solidFill>
                <a:latin typeface="Segoe UI" panose="020B0502040204020203" pitchFamily="34" charset="0"/>
              </a:rPr>
              <a:t>Outcome fields
Expected: User is redirected to the admin area dashboard; authenticated session is established; no validation error is shown.
Actual: Valid admin login reached the admin dashboard successfully in both the focused Chrome rerun and a secondary Edge smoke rerun on 2026-04-11.
Evidence: TestResults/Evidence/UI/automation/20260406_053930_TC-UI-AUTH-001-success.png ; TestResults/Evidence/UI/automation/20260411_143741_TC-UI-AUTH-001-success.png ; TestResults/RunnerOutput/UI/auth-permission-rerun.trx ; TestResults/RunnerOutput/UI/edge-auth-smoke.trx ; Videos/OSMS-Automation-Demo.mp4</a:t>
            </a:r>
          </a:p>
        </p:txBody>
      </p:sp>
      <p:pic>
        <p:nvPicPr>
          <p:cNvPr id="10" name="Picture 9" descr="A red and blue logo&#10;&#10;AI-generated content may be incorrect.">
            <a:extLst>
              <a:ext uri="{FF2B5EF4-FFF2-40B4-BE49-F238E27FC236}">
                <a16:creationId xmlns:a16="http://schemas.microsoft.com/office/drawing/2014/main" id="{A0A30515-A57A-6A8C-6D5B-E87F8405B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6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7A5B00-D241-9220-6BDC-4BF58A7F60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08A5B1-C571-67A3-42B5-8767ED5410F0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93362-0E2F-24FA-0515-287ACF8A0221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Backup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7C571-EDEC-4EFE-81E4-D84F8363EDE5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Sample API Test Case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6EB49-31D5-112E-1F5E-B66EB15FDF5B}"/>
              </a:ext>
            </a:extLst>
          </p:cNvPr>
          <p:cNvSpPr txBox="1"/>
          <p:nvPr/>
        </p:nvSpPr>
        <p:spPr>
          <a:xfrm>
            <a:off x="609600" y="1295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API testcase artifacts include endpoint, method, parameters, expected status, expected body, actual result, status, and evidence.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5B6C8B-08FB-D233-AB44-75C9FC5562EE}"/>
              </a:ext>
            </a:extLst>
          </p:cNvPr>
          <p:cNvSpPr/>
          <p:nvPr/>
        </p:nvSpPr>
        <p:spPr>
          <a:xfrm>
            <a:off x="609600" y="1905000"/>
            <a:ext cx="2921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60">
                <a:solidFill>
                  <a:srgbClr val="182438"/>
                </a:solidFill>
                <a:latin typeface="Segoe UI" panose="020B0502040204020203" pitchFamily="34" charset="0"/>
              </a:rPr>
              <a:t>Sample case
ID: TC-API-HLT-001
Title: Health endpoint returns service availability metadata
Module: Health API
Method: GET
Endpoint: /api/v1/health
Priority: Medium
Status: Pass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FC3394-02E9-C100-EF8C-7A5BB137EB4D}"/>
              </a:ext>
            </a:extLst>
          </p:cNvPr>
          <p:cNvSpPr/>
          <p:nvPr/>
        </p:nvSpPr>
        <p:spPr>
          <a:xfrm>
            <a:off x="3759200" y="1905000"/>
            <a:ext cx="3708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110">
                <a:solidFill>
                  <a:srgbClr val="182438"/>
                </a:solidFill>
                <a:latin typeface="Segoe UI" panose="020B0502040204020203" pitchFamily="34" charset="0"/>
              </a:rPr>
              <a:t>Request side
Auth: None
Params / Body: No params; body=N/A
Test data: Base URL=http://localhost:5068
Steps: 1 Ensure the application is running locally; 2 Send GET request to http://localhost:5068/api/v1/health using Postman or browser.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E6F303-224D-60E7-B716-90F6794CA509}"/>
              </a:ext>
            </a:extLst>
          </p:cNvPr>
          <p:cNvSpPr/>
          <p:nvPr/>
        </p:nvSpPr>
        <p:spPr>
          <a:xfrm>
            <a:off x="7696200" y="1905000"/>
            <a:ext cx="38862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100">
                <a:solidFill>
                  <a:srgbClr val="182438"/>
                </a:solidFill>
                <a:latin typeface="Segoe UI" panose="020B0502040204020203" pitchFamily="34" charset="0"/>
              </a:rPr>
              <a:t>Expected and actual
Expected status: 200
Expected body: JSON response contains non-empty fields for status, service, serverTimeUtc, and version; status value is ok.
Actual: Health endpoint returned 200 OK and all Newman assertions for status, service, serverTimeUtc, and version passed in the full collection rerun.
Evidence: Primary evidence: TestResults/Evidence/API/newman-full-run.txt ; Secondary artifact: TestResults/RunnerOutput/API/newman-results.xml</a:t>
            </a:r>
          </a:p>
        </p:txBody>
      </p:sp>
      <p:pic>
        <p:nvPicPr>
          <p:cNvPr id="10" name="Picture 9" descr="A red and blue logo&#10;&#10;AI-generated content may be incorrect.">
            <a:extLst>
              <a:ext uri="{FF2B5EF4-FFF2-40B4-BE49-F238E27FC236}">
                <a16:creationId xmlns:a16="http://schemas.microsoft.com/office/drawing/2014/main" id="{A0AFB12A-D177-9113-8BF2-65636BE25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65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7A945B-2FAC-3E03-48D6-C4E5D0BDBC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C8127D-FDDB-53CA-01AB-35D08F670C3A}"/>
              </a:ext>
            </a:extLst>
          </p:cNvPr>
          <p:cNvSpPr/>
          <p:nvPr/>
        </p:nvSpPr>
        <p:spPr>
          <a:xfrm>
            <a:off x="609600" y="381000"/>
            <a:ext cx="4318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31843D-FB6E-B59F-1F7A-2BD7C007EBE3}"/>
              </a:ext>
            </a:extLst>
          </p:cNvPr>
          <p:cNvSpPr txBox="1"/>
          <p:nvPr/>
        </p:nvSpPr>
        <p:spPr>
          <a:xfrm>
            <a:off x="609600" y="482600"/>
            <a:ext cx="2794000" cy="36676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50" b="1">
                <a:solidFill>
                  <a:srgbClr val="1079D9"/>
                </a:solidFill>
                <a:latin typeface="Segoe UI" panose="020B0502040204020203" pitchFamily="34" charset="0"/>
              </a:rPr>
              <a:t>Backup 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E9C0C-912B-505B-6C89-FAEF965874F1}"/>
              </a:ext>
            </a:extLst>
          </p:cNvPr>
          <p:cNvSpPr txBox="1"/>
          <p:nvPr/>
        </p:nvSpPr>
        <p:spPr>
          <a:xfrm>
            <a:off x="609600" y="7620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Full Confirmed Defect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B1E1F-5CBE-5E6F-04DC-8D83A35FF166}"/>
              </a:ext>
            </a:extLst>
          </p:cNvPr>
          <p:cNvSpPr txBox="1"/>
          <p:nvPr/>
        </p:nvSpPr>
        <p:spPr>
          <a:xfrm>
            <a:off x="609600" y="1295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This slide supports questions about the defect count, severity split, related cases, and issue-tracker links.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15BB95-B8D8-9EC0-0927-1C5D12A6FD66}"/>
              </a:ext>
            </a:extLst>
          </p:cNvPr>
          <p:cNvSpPr/>
          <p:nvPr/>
        </p:nvSpPr>
        <p:spPr>
          <a:xfrm>
            <a:off x="609600" y="1879600"/>
            <a:ext cx="109728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10">
                <a:solidFill>
                  <a:srgbClr val="182438"/>
                </a:solidFill>
                <a:latin typeface="Segoe UI" panose="020B0502040204020203" pitchFamily="34" charset="0"/>
              </a:rPr>
              <a:t>BUG-20260406-001  |  Module: Invoices  |  Severity: High  |  Priority: High  |  Status: Open - Confirmed  |  GitHub issue #1  |  Related cases: TC-UI-INV-001; TC-UI-INV-003; TC-UI-INV-006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B0500F-204A-750A-CEF4-DEF9258B6BFE}"/>
              </a:ext>
            </a:extLst>
          </p:cNvPr>
          <p:cNvSpPr/>
          <p:nvPr/>
        </p:nvSpPr>
        <p:spPr>
          <a:xfrm>
            <a:off x="609600" y="2971800"/>
            <a:ext cx="109728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8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10">
                <a:solidFill>
                  <a:srgbClr val="182438"/>
                </a:solidFill>
                <a:latin typeface="Segoe UI" panose="020B0502040204020203" pitchFamily="34" charset="0"/>
              </a:rPr>
              <a:t>BUG-20260411-002  |  Module: Purchases  |  Severity: Medium  |  Priority: Medium  |  Status: Open - Confirmed  |  GitHub issue #2  |  Related cases: TC-UI-PUR-002; TC-UI-PUR-003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50E640-3D8B-9BCD-DC7D-BB7BB545EDA8}"/>
              </a:ext>
            </a:extLst>
          </p:cNvPr>
          <p:cNvSpPr/>
          <p:nvPr/>
        </p:nvSpPr>
        <p:spPr>
          <a:xfrm>
            <a:off x="609600" y="4064000"/>
            <a:ext cx="109728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10">
                <a:solidFill>
                  <a:srgbClr val="182438"/>
                </a:solidFill>
                <a:latin typeface="Segoe UI" panose="020B0502040204020203" pitchFamily="34" charset="0"/>
              </a:rPr>
              <a:t>BUG-20260411-003  |  Module: Product Import  |  Severity: High  |  Priority: High  |  Status: Open - Confirmed  |  GitHub issue #3  |  Related cases: TC-UI-IMP-003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6F4CD3-527E-D8BA-71C7-78303EBFEE4F}"/>
              </a:ext>
            </a:extLst>
          </p:cNvPr>
          <p:cNvSpPr/>
          <p:nvPr/>
        </p:nvSpPr>
        <p:spPr>
          <a:xfrm>
            <a:off x="609600" y="5156200"/>
            <a:ext cx="109728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10">
                <a:solidFill>
                  <a:srgbClr val="182438"/>
                </a:solidFill>
                <a:latin typeface="Segoe UI" panose="020B0502040204020203" pitchFamily="34" charset="0"/>
              </a:rPr>
              <a:t>BUG-20260411-004  |  Module: Invoices  |  Severity: High  |  Priority: High  |  Status: Open - Confirmed  |  GitHub issue #4  |  Related cases: TC-UI-INV-005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F6457-4FEB-B8B6-3199-E8F0E59B4F3F}"/>
              </a:ext>
            </a:extLst>
          </p:cNvPr>
          <p:cNvSpPr txBox="1"/>
          <p:nvPr/>
        </p:nvSpPr>
        <p:spPr>
          <a:xfrm>
            <a:off x="609600" y="6248400"/>
            <a:ext cx="10972800" cy="38215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50">
                <a:solidFill>
                  <a:srgbClr val="58647D"/>
                </a:solidFill>
                <a:latin typeface="Segoe UI" panose="020B0502040204020203" pitchFamily="34" charset="0"/>
              </a:rPr>
              <a:t>Severity split confirmed from the defect register: 3 High, 1 Medium, 0 Critical, 0 Low.</a:t>
            </a:r>
          </a:p>
        </p:txBody>
      </p:sp>
      <p:pic>
        <p:nvPicPr>
          <p:cNvPr id="12" name="Picture 11" descr="A red and blue logo&#10;&#10;AI-generated content may be incorrect.">
            <a:extLst>
              <a:ext uri="{FF2B5EF4-FFF2-40B4-BE49-F238E27FC236}">
                <a16:creationId xmlns:a16="http://schemas.microsoft.com/office/drawing/2014/main" id="{E2EC26D5-40DE-FD9E-02A9-BEADFCDD4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11" y="228628"/>
            <a:ext cx="1334193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3088</Words>
  <Application>Microsoft Office PowerPoint</Application>
  <PresentationFormat>Widescreen</PresentationFormat>
  <Paragraphs>347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Bahnschrift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Thiên Hoàng</dc:creator>
  <cp:lastModifiedBy>Thiên Hoàng</cp:lastModifiedBy>
  <cp:revision>22</cp:revision>
  <dcterms:created xsi:type="dcterms:W3CDTF">2026-04-12T11:44:38Z</dcterms:created>
  <dcterms:modified xsi:type="dcterms:W3CDTF">2026-04-12T14:18:20Z</dcterms:modified>
</cp:coreProperties>
</file>