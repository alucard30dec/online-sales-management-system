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4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7E9DB-6F4D-2E48-B762-4E815C903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D9FC15-4DED-304A-5BF5-30B191793F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3F9F2-568C-CE13-2DCA-26852F8C3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451B5-DDF7-7DB0-38CA-C3BC2B47D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35DA-F22E-C933-A0E1-0E877086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318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9E9D-3682-400E-46AA-768FDE20F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180EB-0447-0F19-6310-46029C175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D451-13F0-89E5-CC98-55AFFF5B3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F00702-AC6D-655C-6B08-63C44B707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D3773-FFE6-0892-3B31-7A9442E7F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8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875FB-A45F-5D3D-7D76-97CDBDE1D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32AF4-186A-C653-6697-3B530A406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CC4C4-8F65-DD5E-8B8F-ABC7D7E3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E44E5-3FD9-0316-E009-DF1201AA6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5D1C0-9F29-634E-59FB-4F883E76C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81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4CB8-8E80-EF81-6198-F1258615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EF501-51BA-E337-BC52-B8586ED00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AC2B4-0D11-35A4-57A7-447E42C1EF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37122-A647-DAD0-1034-1DA30577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3998A-A703-AD8A-3B79-974227C04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D9FDB-A537-B934-9C7C-10AE7532B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346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C7359-BED8-92A8-6B78-42CD348AB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A9EDC-9F08-B3BE-FEFE-CD246740E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77114-C14D-62A6-EAC8-F8D0DBE5E6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0A8120-EC70-8D1C-0274-8BDA04973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E06DA7-7E8C-C50A-A1A3-65E6F382C2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68E038-92EB-D7C2-741B-ABF37A79E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C928DD-D080-DA11-8113-B01117598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FD2498-C4FC-DBB6-6ACB-5717EF675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334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8EAD6-6C5E-0D53-B244-179CAE75E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B224F5-CF55-49C4-8D9C-0A846B3BA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4FA18B-96F6-5258-4E03-E70864E7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6C2C6E-7DFB-E94D-BC3E-40C246AC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35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6556FF-929F-C81D-ABAB-7130DC25D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D6A08A-77D2-B541-9487-65E32F670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819B9-E410-25F2-C198-30FA15507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6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7619-0365-76FA-2955-91A8C815C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EA332-205C-F2E0-A668-5C1EFC9A6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B7BA8D-A462-AC4C-D56F-0C87B1B4A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CD761-CC09-A71A-487F-4E9A358F5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E47DC-7FD1-4CD0-B02D-81543FAC9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30C7C-D4AE-39CC-2C56-1A9659E6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238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8190-33A6-8BEB-1C94-757207DE9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059234-81C5-E1A5-7A88-4F55FA458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A9937-BF08-0103-A966-516A2F2DB6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4DF5EB-F421-EB66-C62B-3D4355B20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3F7AB-96BA-5520-F330-ADB6B6202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51E3A-35D5-6D84-329E-6CD8B9E60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911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46BE-BB37-456B-325F-1CB4F6847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5D86D3-29AB-81C2-D5A7-E4F43C7C1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1124F-FCFE-B4A4-399D-B11F35B57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02ED7-7E57-484B-E89F-D81226693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54466-5BA4-02BB-E2D6-DD1572F2F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293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D7685F-5945-9DE1-50CB-BF7B9442F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21A90C-79F5-BF73-A5B7-D9FF3AFE8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AE9B4-285E-E44D-B3F9-F005C010E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0610B-AA47-2607-13D3-37EEA715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DB8AD-C2AA-8FE2-E645-F137BE066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0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146DB9-50B0-F213-F977-EAEAEE400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BA4E3F-7439-2B6A-CD49-8622F7B76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CE438-235C-47F3-23FD-F6C9F2917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03D479-A847-4CF3-8F6E-A4789BE1C28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8F18-62EE-3438-B5FA-9F4BB69C8F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F577D-9F7F-66ED-A262-31EB2A015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AE5709-5EE4-4DBE-B94B-3B1DFE4C08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75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EF408-FD89-9687-66D1-DAB2A5DA6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Powered by GPT - Software Quality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23A76-8611-B383-C997-3320A78C0ABB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System Under Test: Online Sales Management System</a:t>
            </a:r>
          </a:p>
          <a:p>
            <a:r>
              <a:rPr lang="en-US" sz="2200">
                <a:latin typeface="Aptos" panose="020B0004020202020204" pitchFamily="34" charset="0"/>
              </a:rPr>
              <a:t>Course: Software Testing</a:t>
            </a:r>
          </a:p>
          <a:p>
            <a:r>
              <a:rPr lang="en-US" sz="2200">
                <a:latin typeface="Aptos" panose="020B0004020202020204" pitchFamily="34" charset="0"/>
              </a:rPr>
              <a:t>Team: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</a:t>
            </a:r>
          </a:p>
          <a:p>
            <a:r>
              <a:rPr lang="en-US" sz="2200">
                <a:latin typeface="Aptos" panose="020B0004020202020204" pitchFamily="34" charset="0"/>
              </a:rPr>
              <a:t>Le Quang Duy</a:t>
            </a:r>
          </a:p>
          <a:p>
            <a:r>
              <a:rPr lang="en-US" sz="2200">
                <a:latin typeface="Aptos" panose="020B0004020202020204" pitchFamily="34" charset="0"/>
              </a:rPr>
              <a:t>Repository:</a:t>
            </a:r>
          </a:p>
          <a:p>
            <a:r>
              <a:rPr lang="en-US" sz="2200">
                <a:latin typeface="Aptos" panose="020B0004020202020204" pitchFamily="34" charset="0"/>
              </a:rPr>
              <a:t>github.com/Alucard30Dec/Online-Sales-Management-System</a:t>
            </a:r>
          </a:p>
        </p:txBody>
      </p:sp>
    </p:spTree>
    <p:extLst>
      <p:ext uri="{BB962C8B-B14F-4D97-AF65-F5344CB8AC3E}">
        <p14:creationId xmlns:p14="http://schemas.microsoft.com/office/powerpoint/2010/main" val="1093404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85A2B-E87B-096E-5B0E-F177187A6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Project And Test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13BAD-D8CA-7365-46B2-892CA481763A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Tested</a:t>
            </a:r>
          </a:p>
          <a:p>
            <a:r>
              <a:rPr lang="en-US" sz="2200">
                <a:latin typeface="Aptos" panose="020B0004020202020204" pitchFamily="34" charset="0"/>
              </a:rPr>
              <a:t>Admin UI</a:t>
            </a:r>
          </a:p>
          <a:p>
            <a:r>
              <a:rPr lang="en-US" sz="2200">
                <a:latin typeface="Aptos" panose="020B0004020202020204" pitchFamily="34" charset="0"/>
              </a:rPr>
              <a:t>Public Product Catalog</a:t>
            </a:r>
          </a:p>
          <a:p>
            <a:r>
              <a:rPr lang="en-US" sz="2200">
                <a:latin typeface="Aptos" panose="020B0004020202020204" pitchFamily="34" charset="0"/>
              </a:rPr>
              <a:t>Health API</a:t>
            </a:r>
          </a:p>
          <a:p>
            <a:r>
              <a:rPr lang="en-US" sz="2200">
                <a:latin typeface="Aptos" panose="020B0004020202020204" pitchFamily="34" charset="0"/>
              </a:rPr>
              <a:t>Catalog API</a:t>
            </a:r>
          </a:p>
          <a:p>
            <a:r>
              <a:rPr lang="en-US" sz="2200">
                <a:latin typeface="Aptos" panose="020B0004020202020204" pitchFamily="34" charset="0"/>
              </a:rPr>
              <a:t>Highest-Risk Business Areas</a:t>
            </a:r>
          </a:p>
          <a:p>
            <a:r>
              <a:rPr lang="en-US" sz="2200">
                <a:latin typeface="Aptos" panose="020B0004020202020204" pitchFamily="34" charset="0"/>
              </a:rPr>
              <a:t>Authentication and permissions</a:t>
            </a:r>
          </a:p>
          <a:p>
            <a:r>
              <a:rPr lang="en-US" sz="2200">
                <a:latin typeface="Aptos" panose="020B0004020202020204" pitchFamily="34" charset="0"/>
              </a:rPr>
              <a:t>Products and product import</a:t>
            </a:r>
          </a:p>
          <a:p>
            <a:r>
              <a:rPr lang="en-US" sz="2200">
                <a:latin typeface="Aptos" panose="020B0004020202020204" pitchFamily="34" charset="0"/>
              </a:rPr>
              <a:t>Purchases</a:t>
            </a:r>
          </a:p>
          <a:p>
            <a:r>
              <a:rPr lang="en-US" sz="2200">
                <a:latin typeface="Aptos" panose="020B0004020202020204" pitchFamily="34" charset="0"/>
              </a:rPr>
              <a:t>Invoices</a:t>
            </a:r>
          </a:p>
          <a:p>
            <a:r>
              <a:rPr lang="en-US" sz="2200">
                <a:latin typeface="Aptos" panose="020B0004020202020204" pitchFamily="34" charset="0"/>
              </a:rPr>
              <a:t>Stock and reports</a:t>
            </a:r>
          </a:p>
        </p:txBody>
      </p:sp>
    </p:spTree>
    <p:extLst>
      <p:ext uri="{BB962C8B-B14F-4D97-AF65-F5344CB8AC3E}">
        <p14:creationId xmlns:p14="http://schemas.microsoft.com/office/powerpoint/2010/main" val="2193095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B8192-C5E9-74B2-2F53-AC4BE53C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Test Strategy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4458D1-0012-613F-DC17-EFF3D5D6AA12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Strategy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project audit, not generic template testing</a:t>
            </a:r>
          </a:p>
          <a:p>
            <a:r>
              <a:rPr lang="en-US" sz="2200">
                <a:latin typeface="Aptos" panose="020B0004020202020204" pitchFamily="34" charset="0"/>
              </a:rPr>
              <a:t>black-box execution + white-box-informed test design</a:t>
            </a:r>
          </a:p>
          <a:p>
            <a:r>
              <a:rPr lang="en-US" sz="2200">
                <a:latin typeface="Aptos" panose="020B0004020202020204" pitchFamily="34" charset="0"/>
              </a:rPr>
              <a:t>manual testing for business logic and visible validation</a:t>
            </a:r>
          </a:p>
          <a:p>
            <a:r>
              <a:rPr lang="en-US" sz="2200">
                <a:latin typeface="Aptos" panose="020B0004020202020204" pitchFamily="34" charset="0"/>
              </a:rPr>
              <a:t>targeted automation for high-value regression paths</a:t>
            </a:r>
          </a:p>
          <a:p>
            <a:r>
              <a:rPr lang="en-US" sz="2200">
                <a:latin typeface="Aptos" panose="020B0004020202020204" pitchFamily="34" charset="0"/>
              </a:rPr>
              <a:t>Automation Stack</a:t>
            </a:r>
          </a:p>
          <a:p>
            <a:r>
              <a:rPr lang="en-US" sz="2200">
                <a:latin typeface="Aptos" panose="020B0004020202020204" pitchFamily="34" charset="0"/>
              </a:rPr>
              <a:t>UI: .NET 8 + xUnit + Selenium</a:t>
            </a:r>
          </a:p>
          <a:p>
            <a:r>
              <a:rPr lang="en-US" sz="2200">
                <a:latin typeface="Aptos" panose="020B0004020202020204" pitchFamily="34" charset="0"/>
              </a:rPr>
              <a:t>API: Postman + Newman</a:t>
            </a:r>
          </a:p>
          <a:p>
            <a:r>
              <a:rPr lang="en-US" sz="2200">
                <a:latin typeface="Aptos" panose="020B0004020202020204" pitchFamily="34" charset="0"/>
              </a:rPr>
              <a:t>structure: Page Object Model + reusable helpers</a:t>
            </a:r>
          </a:p>
        </p:txBody>
      </p:sp>
    </p:spTree>
    <p:extLst>
      <p:ext uri="{BB962C8B-B14F-4D97-AF65-F5344CB8AC3E}">
        <p14:creationId xmlns:p14="http://schemas.microsoft.com/office/powerpoint/2010/main" val="3555988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A5B74-38A0-7540-1C28-6C6CFE411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Coverage And Team Allocation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40130A-64E4-309F-A581-0B3F1427C783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42 documented scenarios</a:t>
            </a:r>
          </a:p>
          <a:p>
            <a:r>
              <a:rPr lang="en-US" sz="2200">
                <a:latin typeface="Aptos" panose="020B0004020202020204" pitchFamily="34" charset="0"/>
              </a:rPr>
              <a:t>63 total test cases</a:t>
            </a:r>
          </a:p>
          <a:p>
            <a:r>
              <a:rPr lang="en-US" sz="2200">
                <a:latin typeface="Aptos" panose="020B0004020202020204" pitchFamily="34" charset="0"/>
              </a:rPr>
              <a:t>44 UI</a:t>
            </a:r>
          </a:p>
          <a:p>
            <a:r>
              <a:rPr lang="en-US" sz="2200">
                <a:latin typeface="Aptos" panose="020B0004020202020204" pitchFamily="34" charset="0"/>
              </a:rPr>
              <a:t>19 API</a:t>
            </a:r>
          </a:p>
          <a:p>
            <a:r>
              <a:rPr lang="en-US" sz="2200">
                <a:latin typeface="Aptos" panose="020B0004020202020204" pitchFamily="34" charset="0"/>
              </a:rPr>
              <a:t>100% scenario 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Team Allocation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Thien: 17 UI cases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Dat: 13 UI cases</a:t>
            </a:r>
          </a:p>
          <a:p>
            <a:r>
              <a:rPr lang="en-US" sz="2200">
                <a:latin typeface="Aptos" panose="020B0004020202020204" pitchFamily="34" charset="0"/>
              </a:rPr>
              <a:t>Le Quang Duy: 14 UI cases</a:t>
            </a:r>
          </a:p>
        </p:txBody>
      </p:sp>
    </p:spTree>
    <p:extLst>
      <p:ext uri="{BB962C8B-B14F-4D97-AF65-F5344CB8AC3E}">
        <p14:creationId xmlns:p14="http://schemas.microsoft.com/office/powerpoint/2010/main" val="234028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99160-78C7-0DBD-8A77-901F25F5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Automation Implementation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7CC265-1AE8-9C0C-E965-B3D55092BB18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Implemented Automation Assets</a:t>
            </a:r>
          </a:p>
          <a:p>
            <a:r>
              <a:rPr lang="en-US" sz="2200">
                <a:latin typeface="Aptos" panose="020B0004020202020204" pitchFamily="34" charset="0"/>
              </a:rPr>
              <a:t>Selenium UI project with Page Objects</a:t>
            </a:r>
          </a:p>
          <a:p>
            <a:r>
              <a:rPr lang="en-US" sz="2200">
                <a:latin typeface="Aptos" panose="020B0004020202020204" pitchFamily="34" charset="0"/>
              </a:rPr>
              <a:t>shared config, wait helpers, screenshot capture</a:t>
            </a:r>
          </a:p>
          <a:p>
            <a:r>
              <a:rPr lang="en-US" sz="2200">
                <a:latin typeface="Aptos" panose="020B0004020202020204" pitchFamily="34" charset="0"/>
              </a:rPr>
              <a:t>Postman collection with Newman runner</a:t>
            </a:r>
          </a:p>
          <a:p>
            <a:r>
              <a:rPr lang="en-US" sz="2200">
                <a:latin typeface="Aptos" panose="020B0004020202020204" pitchFamily="34" charset="0"/>
              </a:rPr>
              <a:t>Priority Automated Flows</a:t>
            </a:r>
          </a:p>
          <a:p>
            <a:r>
              <a:rPr lang="en-US" sz="2200">
                <a:latin typeface="Aptos" panose="020B0004020202020204" pitchFamily="34" charset="0"/>
              </a:rPr>
              <a:t>admin login smoke</a:t>
            </a:r>
          </a:p>
          <a:p>
            <a:r>
              <a:rPr lang="en-US" sz="2200">
                <a:latin typeface="Aptos" panose="020B0004020202020204" pitchFamily="34" charset="0"/>
              </a:rPr>
              <a:t>sales permission check</a:t>
            </a:r>
          </a:p>
          <a:p>
            <a:r>
              <a:rPr lang="en-US" sz="2200">
                <a:latin typeface="Aptos" panose="020B0004020202020204" pitchFamily="34" charset="0"/>
              </a:rPr>
              <a:t>purchase creation</a:t>
            </a:r>
          </a:p>
          <a:p>
            <a:r>
              <a:rPr lang="en-US" sz="2200">
                <a:latin typeface="Aptos" panose="020B0004020202020204" pitchFamily="34" charset="0"/>
              </a:rPr>
              <a:t>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</a:t>
            </a:r>
          </a:p>
          <a:p>
            <a:r>
              <a:rPr lang="en-US" sz="2200">
                <a:latin typeface="Aptos" panose="020B0004020202020204" pitchFamily="34" charset="0"/>
              </a:rPr>
              <a:t>API health and catalog groups</a:t>
            </a:r>
          </a:p>
        </p:txBody>
      </p:sp>
    </p:spTree>
    <p:extLst>
      <p:ext uri="{BB962C8B-B14F-4D97-AF65-F5344CB8AC3E}">
        <p14:creationId xmlns:p14="http://schemas.microsoft.com/office/powerpoint/2010/main" val="1720811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92C36-F73E-D039-ACDC-422B84FB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Real Execution Evidence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201614-D677-5487-4B8A-8F3AC592531E}"/>
              </a:ext>
            </a:extLst>
          </p:cNvPr>
          <p:cNvSpPr txBox="1"/>
          <p:nvPr/>
        </p:nvSpPr>
        <p:spPr>
          <a:xfrm>
            <a:off x="698500" y="1587500"/>
            <a:ext cx="6604000" cy="449353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Pass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TC-UI-AUTH-001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TC-UI-AUTH-003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TC-UI-IMP-002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TC-UI-PUR-001 and TC-UI-PUR-007 passed</a:t>
            </a:r>
          </a:p>
          <a:p>
            <a:r>
              <a:rPr lang="en-US" sz="2200">
                <a:latin typeface="Aptos" panose="020B0004020202020204" pitchFamily="34" charset="0"/>
              </a:rPr>
              <a:t>full API collection passed (19 / 19)</a:t>
            </a:r>
          </a:p>
          <a:p>
            <a:r>
              <a:rPr lang="en-US" sz="2200">
                <a:latin typeface="Aptos" panose="020B0004020202020204" pitchFamily="34" charset="0"/>
              </a:rPr>
              <a:t>Confirmed Fail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TC-UI-INV-001 failed with UI and server-log proof</a:t>
            </a:r>
          </a:p>
          <a:p>
            <a:r>
              <a:rPr lang="en-US" sz="2200">
                <a:latin typeface="Aptos" panose="020B0004020202020204" pitchFamily="34" charset="0"/>
              </a:rPr>
              <a:t>Important Rule</a:t>
            </a:r>
          </a:p>
          <a:p>
            <a:r>
              <a:rPr lang="en-US" sz="2200">
                <a:latin typeface="Aptos" panose="020B0004020202020204" pitchFamily="34" charset="0"/>
              </a:rPr>
              <a:t>no unexecuted test was marked as pass</a:t>
            </a:r>
          </a:p>
          <a:p>
            <a:r>
              <a:rPr lang="en-US" sz="2200">
                <a:latin typeface="Aptos" panose="020B0004020202020204" pitchFamily="34" charset="0"/>
              </a:rPr>
              <a:t>only one issue was promoted into a confirmed defect because the root cause was proven by server log evidence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28CEBE-FA00-ECA8-BE6B-EFCCB8556CB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6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03E9-8E76-3DEB-6D2E-970E042A2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Current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9D2AB-2CA8-A9EC-64A7-F477ACBB7CB7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Execution Summary As Of 2026-04-06</a:t>
            </a:r>
          </a:p>
          <a:p>
            <a:r>
              <a:rPr lang="en-US" sz="2200">
                <a:latin typeface="Aptos" panose="020B0004020202020204" pitchFamily="34" charset="0"/>
              </a:rPr>
              <a:t>total cases: 63</a:t>
            </a:r>
          </a:p>
          <a:p>
            <a:r>
              <a:rPr lang="en-US" sz="2200">
                <a:latin typeface="Aptos" panose="020B0004020202020204" pitchFamily="34" charset="0"/>
              </a:rPr>
              <a:t>executed: 25</a:t>
            </a:r>
          </a:p>
          <a:p>
            <a:r>
              <a:rPr lang="en-US" sz="2200">
                <a:latin typeface="Aptos" panose="020B0004020202020204" pitchFamily="34" charset="0"/>
              </a:rPr>
              <a:t>pass: 24</a:t>
            </a:r>
          </a:p>
          <a:p>
            <a:r>
              <a:rPr lang="en-US" sz="2200">
                <a:latin typeface="Aptos" panose="020B0004020202020204" pitchFamily="34" charset="0"/>
              </a:rPr>
              <a:t>fail: 1</a:t>
            </a:r>
          </a:p>
          <a:p>
            <a:r>
              <a:rPr lang="en-US" sz="2200">
                <a:latin typeface="Aptos" panose="020B0004020202020204" pitchFamily="34" charset="0"/>
              </a:rPr>
              <a:t>blocked: 0</a:t>
            </a:r>
          </a:p>
          <a:p>
            <a:r>
              <a:rPr lang="en-US" sz="2200">
                <a:latin typeface="Aptos" panose="020B0004020202020204" pitchFamily="34" charset="0"/>
              </a:rPr>
              <a:t>not run: 38</a:t>
            </a:r>
          </a:p>
          <a:p>
            <a:r>
              <a:rPr lang="en-US" sz="2200">
                <a:latin typeface="Aptos" panose="020B0004020202020204" pitchFamily="34" charset="0"/>
              </a:rPr>
              <a:t>execution progress: 39.68%</a:t>
            </a:r>
          </a:p>
          <a:p>
            <a:r>
              <a:rPr lang="en-US" sz="2200">
                <a:latin typeface="Aptos" panose="020B0004020202020204" pitchFamily="34" charset="0"/>
              </a:rPr>
              <a:t>Interface View</a:t>
            </a:r>
          </a:p>
          <a:p>
            <a:r>
              <a:rPr lang="en-US" sz="2200">
                <a:latin typeface="Aptos" panose="020B0004020202020204" pitchFamily="34" charset="0"/>
              </a:rPr>
              <a:t>Admin UI: 6 executed, 5 pass, 1 fail</a:t>
            </a:r>
          </a:p>
          <a:p>
            <a:r>
              <a:rPr lang="en-US" sz="2200">
                <a:latin typeface="Aptos" panose="020B0004020202020204" pitchFamily="34" charset="0"/>
              </a:rPr>
              <a:t>API: 19 executed, 19 pass</a:t>
            </a:r>
          </a:p>
        </p:txBody>
      </p:sp>
    </p:spTree>
    <p:extLst>
      <p:ext uri="{BB962C8B-B14F-4D97-AF65-F5344CB8AC3E}">
        <p14:creationId xmlns:p14="http://schemas.microsoft.com/office/powerpoint/2010/main" val="494659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ED0A0-096B-54C5-457F-8A1F284AC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Defect And Risk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55C07F-EA6C-E2DF-FB3D-449EDD4C43F6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1 confirmed defect</a:t>
            </a:r>
          </a:p>
          <a:p>
            <a:r>
              <a:rPr lang="en-US" sz="2200">
                <a:latin typeface="Aptos" panose="020B0004020202020204" pitchFamily="34" charset="0"/>
              </a:rPr>
              <a:t>BUG-20260406-001 in 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Closed Observations</a:t>
            </a:r>
          </a:p>
          <a:p>
            <a:r>
              <a:rPr lang="en-US" sz="2200">
                <a:latin typeface="Aptos" panose="020B0004020202020204" pitchFamily="34" charset="0"/>
              </a:rPr>
              <a:t>authorization redirect behavior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 locator issue</a:t>
            </a:r>
          </a:p>
          <a:p>
            <a:r>
              <a:rPr lang="en-US" sz="2200">
                <a:latin typeface="Aptos" panose="020B0004020202020204" pitchFamily="34" charset="0"/>
              </a:rPr>
              <a:t>Highest Business Risks Still Unverified</a:t>
            </a:r>
          </a:p>
          <a:p>
            <a:r>
              <a:rPr lang="en-US" sz="2200">
                <a:latin typeface="Aptos" panose="020B0004020202020204" pitchFamily="34" charset="0"/>
              </a:rPr>
              <a:t>Stock</a:t>
            </a:r>
          </a:p>
          <a:p>
            <a:r>
              <a:rPr lang="en-US" sz="2200">
                <a:latin typeface="Aptos" panose="020B0004020202020204" pitchFamily="34" charset="0"/>
              </a:rPr>
              <a:t>Products</a:t>
            </a:r>
          </a:p>
          <a:p>
            <a:r>
              <a:rPr lang="en-US" sz="2200">
                <a:latin typeface="Aptos" panose="020B0004020202020204" pitchFamily="34" charset="0"/>
              </a:rPr>
              <a:t>Reports</a:t>
            </a:r>
          </a:p>
          <a:p>
            <a:r>
              <a:rPr lang="en-US" sz="2200">
                <a:latin typeface="Aptos" panose="020B0004020202020204" pitchFamily="34" charset="0"/>
              </a:rPr>
              <a:t>Public Catalog UI</a:t>
            </a:r>
          </a:p>
        </p:txBody>
      </p:sp>
    </p:spTree>
    <p:extLst>
      <p:ext uri="{BB962C8B-B14F-4D97-AF65-F5344CB8AC3E}">
        <p14:creationId xmlns:p14="http://schemas.microsoft.com/office/powerpoint/2010/main" val="2371999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9ABB0-C4EC-556D-505E-950CA5333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Key Insights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A124F3-71D0-808E-07EF-E76B4E711408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Can Defend</a:t>
            </a:r>
          </a:p>
          <a:p>
            <a:r>
              <a:rPr lang="en-US" sz="2200">
                <a:latin typeface="Aptos" panose="020B0004020202020204" pitchFamily="34" charset="0"/>
              </a:rPr>
              <a:t>project is testable and automation-capable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test design is strong</a:t>
            </a:r>
          </a:p>
          <a:p>
            <a:r>
              <a:rPr lang="en-US" sz="2200">
                <a:latin typeface="Aptos" panose="020B0004020202020204" pitchFamily="34" charset="0"/>
              </a:rPr>
              <a:t>traceability from scenario -&gt; test case -&gt; result -&gt; evidence -&gt; defect is in place</a:t>
            </a:r>
          </a:p>
          <a:p>
            <a:r>
              <a:rPr lang="en-US" sz="2200">
                <a:latin typeface="Aptos" panose="020B0004020202020204" pitchFamily="34" charset="0"/>
              </a:rPr>
              <a:t>What We Do Not Overclaim</a:t>
            </a:r>
          </a:p>
          <a:p>
            <a:r>
              <a:rPr lang="en-US" sz="2200">
                <a:latin typeface="Aptos" panose="020B0004020202020204" pitchFamily="34" charset="0"/>
              </a:rPr>
              <a:t>current evidence still does not prove full system stability</a:t>
            </a:r>
          </a:p>
          <a:p>
            <a:r>
              <a:rPr lang="en-US" sz="2200">
                <a:latin typeface="Aptos" panose="020B0004020202020204" pitchFamily="34" charset="0"/>
              </a:rPr>
              <a:t>one core business defect is currently confirmed</a:t>
            </a:r>
          </a:p>
          <a:p>
            <a:r>
              <a:rPr lang="en-US" sz="2200">
                <a:latin typeface="Aptos" panose="020B0004020202020204" pitchFamily="34" charset="0"/>
              </a:rPr>
              <a:t>more UI execution is still required for high-confidence quality claims</a:t>
            </a:r>
          </a:p>
        </p:txBody>
      </p:sp>
    </p:spTree>
    <p:extLst>
      <p:ext uri="{BB962C8B-B14F-4D97-AF65-F5344CB8AC3E}">
        <p14:creationId xmlns:p14="http://schemas.microsoft.com/office/powerpoint/2010/main" val="2227144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896CB-3504-B9A4-3EE3-072436B6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Next Steps And Submission Package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393AC6-3A3D-37D3-12B7-073C49C05C8C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Highest-Value Next Steps</a:t>
            </a:r>
          </a:p>
          <a:p>
            <a:r>
              <a:rPr lang="en-US" sz="2200">
                <a:latin typeface="Aptos" panose="020B0004020202020204" pitchFamily="34" charset="0"/>
              </a:rPr>
              <a:t>1. open the GitHub Issue for BUG-20260406-001</a:t>
            </a:r>
          </a:p>
          <a:p>
            <a:r>
              <a:rPr lang="en-US" sz="2200">
                <a:latin typeface="Aptos" panose="020B0004020202020204" pitchFamily="34" charset="0"/>
              </a:rPr>
              <a:t>2. fix and retest 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3. execute stock, reports, products, and public-catalog UI flows</a:t>
            </a:r>
          </a:p>
          <a:p>
            <a:r>
              <a:rPr lang="en-US" sz="2200">
                <a:latin typeface="Aptos" panose="020B0004020202020204" pitchFamily="34" charset="0"/>
              </a:rPr>
              <a:t>4. commit the generated final PDF and PPTX artifacts</a:t>
            </a:r>
          </a:p>
          <a:p>
            <a:r>
              <a:rPr lang="en-US" sz="2200">
                <a:latin typeface="Aptos" panose="020B0004020202020204" pitchFamily="34" charset="0"/>
              </a:rPr>
              <a:t>5. commit the generated automation video artifact</a:t>
            </a:r>
          </a:p>
          <a:p>
            <a:r>
              <a:rPr lang="en-US" sz="2200">
                <a:latin typeface="Aptos" panose="020B0004020202020204" pitchFamily="34" charset="0"/>
              </a:rPr>
              <a:t>6. add optional cross-browser evidence if Edge is available</a:t>
            </a:r>
          </a:p>
          <a:p>
            <a:r>
              <a:rPr lang="en-US" sz="2200">
                <a:latin typeface="Aptos" panose="020B0004020202020204" pitchFamily="34" charset="0"/>
              </a:rPr>
              <a:t>Submission Package</a:t>
            </a:r>
          </a:p>
          <a:p>
            <a:r>
              <a:rPr lang="en-US" sz="2200">
                <a:latin typeface="Aptos" panose="020B0004020202020204" pitchFamily="34" charset="0"/>
              </a:rPr>
              <a:t>Final report</a:t>
            </a:r>
          </a:p>
          <a:p>
            <a:r>
              <a:rPr lang="en-US" sz="2200">
                <a:latin typeface="Aptos" panose="020B0004020202020204" pitchFamily="34" charset="0"/>
              </a:rPr>
              <a:t>PPTX</a:t>
            </a:r>
          </a:p>
          <a:p>
            <a:r>
              <a:rPr lang="en-US" sz="2200">
                <a:latin typeface="Aptos" panose="020B0004020202020204" pitchFamily="34" charset="0"/>
              </a:rPr>
              <a:t>test cases</a:t>
            </a:r>
          </a:p>
          <a:p>
            <a:r>
              <a:rPr lang="en-US" sz="2200">
                <a:latin typeface="Aptos" panose="020B0004020202020204" pitchFamily="34" charset="0"/>
              </a:rPr>
              <a:t>test data</a:t>
            </a:r>
          </a:p>
          <a:p>
            <a:r>
              <a:rPr lang="en-US" sz="2200">
                <a:latin typeface="Aptos" panose="020B0004020202020204" pitchFamily="34" charset="0"/>
              </a:rPr>
              <a:t>automation scripts</a:t>
            </a:r>
          </a:p>
          <a:p>
            <a:r>
              <a:rPr lang="en-US" sz="2200">
                <a:latin typeface="Aptos" panose="020B0004020202020204" pitchFamily="34" charset="0"/>
              </a:rPr>
              <a:t>final results</a:t>
            </a:r>
          </a:p>
          <a:p>
            <a:r>
              <a:rPr lang="en-US" sz="2200">
                <a:latin typeface="Aptos" panose="020B0004020202020204" pitchFamily="34" charset="0"/>
              </a:rPr>
              <a:t>metrics</a:t>
            </a:r>
          </a:p>
          <a:p>
            <a:r>
              <a:rPr lang="en-US" sz="2200">
                <a:latin typeface="Aptos" panose="020B0004020202020204" pitchFamily="34" charset="0"/>
              </a:rPr>
              <a:t>evidence</a:t>
            </a:r>
          </a:p>
          <a:p>
            <a:r>
              <a:rPr lang="en-US" sz="2200">
                <a:latin typeface="Aptos" panose="020B0004020202020204" pitchFamily="34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507029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51FF3-B04D-5672-F894-5C5E76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Q&amp;A Backup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AB6CA-1738-A76A-170F-88B11A908467}"/>
              </a:ext>
            </a:extLst>
          </p:cNvPr>
          <p:cNvSpPr txBox="1"/>
          <p:nvPr/>
        </p:nvSpPr>
        <p:spPr>
          <a:xfrm>
            <a:off x="698500" y="1587500"/>
            <a:ext cx="6604000" cy="246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Likely Questions</a:t>
            </a:r>
          </a:p>
          <a:p>
            <a:r>
              <a:rPr lang="en-US" sz="2200">
                <a:latin typeface="Aptos" panose="020B0004020202020204" pitchFamily="34" charset="0"/>
              </a:rPr>
              <a:t>Why do you have 0 confirmed defects?</a:t>
            </a:r>
          </a:p>
          <a:p>
            <a:r>
              <a:rPr lang="en-US" sz="2200">
                <a:latin typeface="Aptos" panose="020B0004020202020204" pitchFamily="34" charset="0"/>
              </a:rPr>
              <a:t>Why is execution progress still low?</a:t>
            </a:r>
          </a:p>
          <a:p>
            <a:r>
              <a:rPr lang="en-US" sz="2200">
                <a:latin typeface="Aptos" panose="020B0004020202020204" pitchFamily="34" charset="0"/>
              </a:rPr>
              <a:t>Why did you choose Selenium and Newman?</a:t>
            </a:r>
          </a:p>
          <a:p>
            <a:r>
              <a:rPr lang="en-US" sz="2200">
                <a:latin typeface="Aptos" panose="020B0004020202020204" pitchFamily="34" charset="0"/>
              </a:rPr>
              <a:t>How do you distinguish automation failure from product defect?</a:t>
            </a:r>
          </a:p>
          <a:p>
            <a:r>
              <a:rPr lang="en-US" sz="2200">
                <a:latin typeface="Aptos" panose="020B0004020202020204" pitchFamily="34" charset="0"/>
              </a:rPr>
              <a:t>Which module is riskiest right now?</a:t>
            </a:r>
          </a:p>
        </p:txBody>
      </p:sp>
    </p:spTree>
    <p:extLst>
      <p:ext uri="{BB962C8B-B14F-4D97-AF65-F5344CB8AC3E}">
        <p14:creationId xmlns:p14="http://schemas.microsoft.com/office/powerpoint/2010/main" val="833437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552</Words>
  <Application>Microsoft Office PowerPoint</Application>
  <PresentationFormat>Widescreen</PresentationFormat>
  <Paragraphs>124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Powered by GPT - Software Quality Verification</vt:lpstr>
      <vt:lpstr>Project And Test Scope</vt:lpstr>
      <vt:lpstr>Test Strategy</vt:lpstr>
      <vt:lpstr>Coverage And Team Allocation</vt:lpstr>
      <vt:lpstr>Automation Implementation</vt:lpstr>
      <vt:lpstr>Real Execution Evidence</vt:lpstr>
      <vt:lpstr>Current Metrics</vt:lpstr>
      <vt:lpstr>Defect And Risk Analysis</vt:lpstr>
      <vt:lpstr>Key Insights</vt:lpstr>
      <vt:lpstr>Next Steps And Submission Package</vt:lpstr>
      <vt:lpstr>Q&amp;A 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Thiên Hoàng</dc:creator>
  <cp:lastModifiedBy>Thiên Hoàng</cp:lastModifiedBy>
  <cp:revision>1</cp:revision>
  <dcterms:created xsi:type="dcterms:W3CDTF">2026-04-06T08:17:19Z</dcterms:created>
  <dcterms:modified xsi:type="dcterms:W3CDTF">2026-04-06T08:17:19Z</dcterms:modified>
</cp:coreProperties>
</file>