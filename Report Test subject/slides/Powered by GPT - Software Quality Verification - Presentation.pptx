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4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1837E-94CC-5BAF-2116-BAA6DF815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A5EC8-54E0-EF3B-A420-071941CD9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86828-07F9-E819-3F0B-F4182959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2D7F1-9E76-5634-B5F2-959842E14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A8C9F-CB54-AB9C-2337-BF971AB0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9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EF1A-D940-9239-C48B-906C3C464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B54A3-C175-85DB-79FD-45C2F29CE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82C9B-46B9-56F1-2C34-54C614B0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C9874-87A9-7CE8-86B9-7DB1F9B15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DC37E-7590-8FDF-6391-33AE8CEB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9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B4358-7F96-009D-0DE3-931B17F0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604E0-14F4-AF60-B14C-80CFE0029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0F60D-6557-0C31-1416-A10A2F28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AA8F3-0FFA-2414-13B6-045E2246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02C12-3D3B-4046-2F7E-8784C5C2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5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1F44-5C34-AC56-D889-CD675ABE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EDB74-37FC-48E2-39D5-6E4E5FB85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F55C2-F5D0-1E14-2E78-43B5B109F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FD533-FDC5-5FC9-72CA-4039A26D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F7369-DBD6-35A2-F008-9E46A1A8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6CD40-CDBA-BFAA-CAE9-11656891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3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C63A-5A07-F0E8-9AF1-3340C160E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6A38F-D948-4736-CDAE-B4F1E11BB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CE922-42C8-7454-A047-3D247916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03DC8-AA13-9405-EF7B-A7AAC4AB5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F14DA-92E3-CE01-E798-644B1432B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A9969B-0AF9-6E3C-FF79-69ED6AFA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C75109-C2D4-037D-4F64-62AA5DA7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1D188A-9A37-B53A-D715-621A389F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B798F-9DF1-FC67-874A-BF80FAC8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76988-B581-0192-9917-E40E60D2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36DB8-8005-1D0C-75FB-85134A5F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20ECD-747C-5198-53CE-7F1CDCAA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18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8E2B4-F4DF-FCD0-C733-FA994E98B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F1B2A-BECE-FC9D-4377-8735D12D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75770-6014-2849-DFAA-BD505DF5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80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C860-CB3D-FCDA-4650-E87CF8E40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9D68A-4A62-656E-9F1D-AADC1313D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3044F-0A5F-B7C7-C064-BB7879AFE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F379D-7273-ACF5-CE11-242F3F3B1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D7CE3-2AE4-2E6A-8CB1-08C90F6B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FE60E-16E7-8FDC-9D4D-BAEDD8C5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26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34A5-92AE-EA9E-D6FA-27B92086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5FEA6-B609-9D1D-4DEB-D2466557C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AC0BF-9F51-6B6E-58E8-CFA64ED21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E116D-5894-959F-158D-AF281FEA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2C8C6-E113-A946-C6FB-973B41FD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A246A-2BE8-90AF-03CB-0D6863E2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4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3AADA-B053-016B-ABFD-972D7B8E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C8FA5-7FD4-E9CB-93C2-F792DC152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5CE02-9855-29F7-9E3F-8151F7F8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86069-F41D-251C-00A9-B7F29B56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F1752-04DA-4EDB-1E95-EC32927B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1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FC241-61C6-67FF-E744-0D0CD1D87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EE337-DB27-9D4C-2F0F-8973AA96A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BA9FD-4B68-2200-065C-66B12AFB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5295E-CEBE-0BA9-A97A-E0FFA2A6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B2A0B-CE23-63B0-1E14-84F18A4BE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15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B2194-423D-69BB-7EA9-0EAF5E4F4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B4357-4E68-4807-BB8A-3071B8AF0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29A05-EDB7-8D9D-28C3-D469C95C3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AD7E0-2CFB-4ADC-8446-98BCFBE02AC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73D3A-EB59-0D39-0FFF-3303DE9A7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C2CCC-D251-1F61-8D5F-578D5BAAC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E5D37-2CDD-459B-8F61-978B4BD3D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9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7A48AF-E398-C5CC-0091-2D16B83C14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8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DFAFDF-6E26-3633-8646-85BC33E5A905}"/>
              </a:ext>
            </a:extLst>
          </p:cNvPr>
          <p:cNvSpPr/>
          <p:nvPr/>
        </p:nvSpPr>
        <p:spPr>
          <a:xfrm>
            <a:off x="9398000" y="-508000"/>
            <a:ext cx="3302000" cy="3302000"/>
          </a:xfrm>
          <a:prstGeom prst="rect">
            <a:avLst/>
          </a:prstGeom>
          <a:solidFill>
            <a:srgbClr val="1079D9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5CFB53-8CDD-A21F-8BF0-E7D514343088}"/>
              </a:ext>
            </a:extLst>
          </p:cNvPr>
          <p:cNvSpPr/>
          <p:nvPr/>
        </p:nvSpPr>
        <p:spPr>
          <a:xfrm>
            <a:off x="-762000" y="4572000"/>
            <a:ext cx="3556000" cy="3556000"/>
          </a:xfrm>
          <a:prstGeom prst="rect">
            <a:avLst/>
          </a:prstGeom>
          <a:solidFill>
            <a:srgbClr val="16A398">
              <a:alpha val="1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A6A1B-EEF3-F655-0083-8D47D2411447}"/>
              </a:ext>
            </a:extLst>
          </p:cNvPr>
          <p:cNvSpPr txBox="1"/>
          <p:nvPr/>
        </p:nvSpPr>
        <p:spPr>
          <a:xfrm>
            <a:off x="736600" y="889000"/>
            <a:ext cx="6604000" cy="6360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Bahnschrift SemiBold" panose="020B0502040204020203" pitchFamily="34" charset="0"/>
              </a:rPr>
              <a:t>Online Sales Management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A076B-1502-DF76-5E6A-238E2BC04B26}"/>
              </a:ext>
            </a:extLst>
          </p:cNvPr>
          <p:cNvSpPr txBox="1"/>
          <p:nvPr/>
        </p:nvSpPr>
        <p:spPr>
          <a:xfrm>
            <a:off x="736600" y="1600200"/>
            <a:ext cx="5334000" cy="43601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500" b="1">
                <a:solidFill>
                  <a:srgbClr val="DBEEFF"/>
                </a:solidFill>
                <a:latin typeface="Segoe UI" panose="020B0502040204020203" pitchFamily="34" charset="0"/>
              </a:rPr>
              <a:t>Software Testing Final Submission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3BD81-9AFF-A50B-4EB5-FE382D2A7697}"/>
              </a:ext>
            </a:extLst>
          </p:cNvPr>
          <p:cNvSpPr txBox="1"/>
          <p:nvPr/>
        </p:nvSpPr>
        <p:spPr>
          <a:xfrm>
            <a:off x="736600" y="2133600"/>
            <a:ext cx="6858000" cy="697627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Segoe UI" panose="020B0502040204020203" pitchFamily="34" charset="0"/>
              </a:rPr>
              <a:t>Evidence-first defense deck aligned with the final submission baseline.
63 / 63 cases executed, 56 pass, 7 fail, 4 live tracked defects.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33A4D0-AB5B-1ED9-4097-81BF691F55B1}"/>
              </a:ext>
            </a:extLst>
          </p:cNvPr>
          <p:cNvSpPr/>
          <p:nvPr/>
        </p:nvSpPr>
        <p:spPr>
          <a:xfrm>
            <a:off x="736600" y="3403600"/>
            <a:ext cx="4318000" cy="787400"/>
          </a:xfrm>
          <a:prstGeom prst="roundRect">
            <a:avLst/>
          </a:prstGeom>
          <a:solidFill>
            <a:srgbClr val="172742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r>
              <a:rPr lang="nl-NL" sz="1300">
                <a:solidFill>
                  <a:srgbClr val="FFFFFF"/>
                </a:solidFill>
                <a:latin typeface="Segoe UI" panose="020B0502040204020203" pitchFamily="34" charset="0"/>
              </a:rPr>
              <a:t>Team
Hoang Van Thien
Nguyen Thanh Dat
Le Quang Duy</a:t>
            </a:r>
            <a:endParaRPr lang="en-US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07B080-657E-1B99-F575-5EE6478F43C6}"/>
              </a:ext>
            </a:extLst>
          </p:cNvPr>
          <p:cNvSpPr txBox="1"/>
          <p:nvPr/>
        </p:nvSpPr>
        <p:spPr>
          <a:xfrm>
            <a:off x="736600" y="6172200"/>
            <a:ext cx="4572000" cy="359073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000">
                <a:solidFill>
                  <a:srgbClr val="DBEEFF"/>
                </a:solidFill>
                <a:latin typeface="Segoe UI" panose="020B0502040204020203" pitchFamily="34" charset="0"/>
              </a:rPr>
              <a:t>Repository: github.com/Alucard30Dec/Online-Sales-Management-System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27E305-E4F8-9901-98CE-4FF81B656B87}"/>
              </a:ext>
            </a:extLst>
          </p:cNvPr>
          <p:cNvSpPr/>
          <p:nvPr/>
        </p:nvSpPr>
        <p:spPr>
          <a:xfrm>
            <a:off x="7391400" y="160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01BE20-6063-1AC2-241E-F37E05A51080}"/>
              </a:ext>
            </a:extLst>
          </p:cNvPr>
          <p:cNvSpPr/>
          <p:nvPr/>
        </p:nvSpPr>
        <p:spPr>
          <a:xfrm>
            <a:off x="7391400" y="1600200"/>
            <a:ext cx="101600" cy="11176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EAE01-EAD3-7010-513A-76284165EB6F}"/>
              </a:ext>
            </a:extLst>
          </p:cNvPr>
          <p:cNvSpPr txBox="1"/>
          <p:nvPr/>
        </p:nvSpPr>
        <p:spPr>
          <a:xfrm>
            <a:off x="7645400" y="1828800"/>
            <a:ext cx="1320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63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28FD7B-5587-A157-9635-23CEE1673E3D}"/>
              </a:ext>
            </a:extLst>
          </p:cNvPr>
          <p:cNvSpPr txBox="1"/>
          <p:nvPr/>
        </p:nvSpPr>
        <p:spPr>
          <a:xfrm>
            <a:off x="7645400" y="2286000"/>
            <a:ext cx="1320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Total cases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69B979C-185B-2FC2-5B3E-45B18CD5E92D}"/>
              </a:ext>
            </a:extLst>
          </p:cNvPr>
          <p:cNvSpPr/>
          <p:nvPr/>
        </p:nvSpPr>
        <p:spPr>
          <a:xfrm>
            <a:off x="9220200" y="160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92BC2E8-DD73-13BF-4344-367854CF5EF3}"/>
              </a:ext>
            </a:extLst>
          </p:cNvPr>
          <p:cNvSpPr/>
          <p:nvPr/>
        </p:nvSpPr>
        <p:spPr>
          <a:xfrm>
            <a:off x="9220200" y="1600200"/>
            <a:ext cx="101600" cy="1117600"/>
          </a:xfrm>
          <a:prstGeom prst="round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947F13-45B0-E06A-AE99-666E05EC6E9B}"/>
              </a:ext>
            </a:extLst>
          </p:cNvPr>
          <p:cNvSpPr txBox="1"/>
          <p:nvPr/>
        </p:nvSpPr>
        <p:spPr>
          <a:xfrm>
            <a:off x="9474200" y="1828800"/>
            <a:ext cx="1320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100%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EA48C5-4418-10B7-057B-0D4BD21CC8EC}"/>
              </a:ext>
            </a:extLst>
          </p:cNvPr>
          <p:cNvSpPr txBox="1"/>
          <p:nvPr/>
        </p:nvSpPr>
        <p:spPr>
          <a:xfrm>
            <a:off x="9474200" y="2286000"/>
            <a:ext cx="1320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Executed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49F943-A25D-8D45-4ADB-2AE4FF6BC69E}"/>
              </a:ext>
            </a:extLst>
          </p:cNvPr>
          <p:cNvSpPr/>
          <p:nvPr/>
        </p:nvSpPr>
        <p:spPr>
          <a:xfrm>
            <a:off x="7391400" y="287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204FAB-98F8-509C-3C8A-099D95306D99}"/>
              </a:ext>
            </a:extLst>
          </p:cNvPr>
          <p:cNvSpPr/>
          <p:nvPr/>
        </p:nvSpPr>
        <p:spPr>
          <a:xfrm>
            <a:off x="7391400" y="2870200"/>
            <a:ext cx="101600" cy="11176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8D15EB-47BA-7FF3-DFEA-542076C11EB5}"/>
              </a:ext>
            </a:extLst>
          </p:cNvPr>
          <p:cNvSpPr txBox="1"/>
          <p:nvPr/>
        </p:nvSpPr>
        <p:spPr>
          <a:xfrm>
            <a:off x="7645400" y="3098800"/>
            <a:ext cx="1320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5DD28-7C04-6C85-8E92-DB4D1302A82C}"/>
              </a:ext>
            </a:extLst>
          </p:cNvPr>
          <p:cNvSpPr txBox="1"/>
          <p:nvPr/>
        </p:nvSpPr>
        <p:spPr>
          <a:xfrm>
            <a:off x="7645400" y="3556000"/>
            <a:ext cx="1320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Live issues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CDA1E3D-63E5-91B0-2666-A7998BAB2E77}"/>
              </a:ext>
            </a:extLst>
          </p:cNvPr>
          <p:cNvSpPr/>
          <p:nvPr/>
        </p:nvSpPr>
        <p:spPr>
          <a:xfrm>
            <a:off x="9220200" y="2870200"/>
            <a:ext cx="1676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4103F89-7A52-11F4-ADA7-3C5733FA10B7}"/>
              </a:ext>
            </a:extLst>
          </p:cNvPr>
          <p:cNvSpPr/>
          <p:nvPr/>
        </p:nvSpPr>
        <p:spPr>
          <a:xfrm>
            <a:off x="9220200" y="2870200"/>
            <a:ext cx="101600" cy="11176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96610B-37A1-6628-44BB-2953F61295FA}"/>
              </a:ext>
            </a:extLst>
          </p:cNvPr>
          <p:cNvSpPr txBox="1"/>
          <p:nvPr/>
        </p:nvSpPr>
        <p:spPr>
          <a:xfrm>
            <a:off x="9474200" y="3098800"/>
            <a:ext cx="1320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80BE65-8978-414C-251A-18FB7D8358E6}"/>
              </a:ext>
            </a:extLst>
          </p:cNvPr>
          <p:cNvSpPr txBox="1"/>
          <p:nvPr/>
        </p:nvSpPr>
        <p:spPr>
          <a:xfrm>
            <a:off x="9474200" y="3556000"/>
            <a:ext cx="1320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Current fail cases</a:t>
            </a:r>
          </a:p>
        </p:txBody>
      </p:sp>
    </p:spTree>
    <p:extLst>
      <p:ext uri="{BB962C8B-B14F-4D97-AF65-F5344CB8AC3E}">
        <p14:creationId xmlns:p14="http://schemas.microsoft.com/office/powerpoint/2010/main" val="380936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99B75A-1114-EC58-A8C2-6A76CA3089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E6D629-A457-1FE2-7A5F-07FAC6AF9250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E426C-6D47-4EFB-A25A-AC90585CA7B9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079D9"/>
                </a:solidFill>
                <a:latin typeface="Segoe UI" panose="020B0502040204020203" pitchFamily="34" charset="0"/>
              </a:rPr>
              <a:t>01  Risk-Based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CA4BC-F550-7AE2-2A51-4BBFF4FF4DDF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System Surfaces And High-Risk Areas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0D9E5-FA2D-ECE9-C420-93134D153A88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The scope is intentionally centered on business-critical flows that are most likely to break revenue, permissions, stock, or reporting.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E32130-3C78-F606-C088-0FF5059E3158}"/>
              </a:ext>
            </a:extLst>
          </p:cNvPr>
          <p:cNvSpPr/>
          <p:nvPr/>
        </p:nvSpPr>
        <p:spPr>
          <a:xfrm>
            <a:off x="609600" y="1905000"/>
            <a:ext cx="3175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C51EDE-6E51-1FB1-876D-0123DDD83F37}"/>
              </a:ext>
            </a:extLst>
          </p:cNvPr>
          <p:cNvSpPr/>
          <p:nvPr/>
        </p:nvSpPr>
        <p:spPr>
          <a:xfrm>
            <a:off x="609600" y="1905000"/>
            <a:ext cx="101600" cy="11938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5BE99D-1CFA-8255-4AF5-A36016769F2A}"/>
              </a:ext>
            </a:extLst>
          </p:cNvPr>
          <p:cNvSpPr txBox="1"/>
          <p:nvPr/>
        </p:nvSpPr>
        <p:spPr>
          <a:xfrm>
            <a:off x="863600" y="2133600"/>
            <a:ext cx="2819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Admin UI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8F77B-DA96-48D7-8D7C-F44AF0EF4B0A}"/>
              </a:ext>
            </a:extLst>
          </p:cNvPr>
          <p:cNvSpPr txBox="1"/>
          <p:nvPr/>
        </p:nvSpPr>
        <p:spPr>
          <a:xfrm>
            <a:off x="863600" y="2590800"/>
            <a:ext cx="2819400" cy="54373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Authentication, roles, products, purchases, invoices, reports, and stock operations.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1A9B9F-E055-8F56-760D-A243EF98549D}"/>
              </a:ext>
            </a:extLst>
          </p:cNvPr>
          <p:cNvSpPr/>
          <p:nvPr/>
        </p:nvSpPr>
        <p:spPr>
          <a:xfrm>
            <a:off x="4038600" y="1905000"/>
            <a:ext cx="3175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E5A3EF7-44C4-CFE5-8EA2-CDA0CDB027CD}"/>
              </a:ext>
            </a:extLst>
          </p:cNvPr>
          <p:cNvSpPr/>
          <p:nvPr/>
        </p:nvSpPr>
        <p:spPr>
          <a:xfrm>
            <a:off x="4038600" y="1905000"/>
            <a:ext cx="101600" cy="1193800"/>
          </a:xfrm>
          <a:prstGeom prst="round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CEB99-9645-ED95-D9FE-3FCC5A0C1E30}"/>
              </a:ext>
            </a:extLst>
          </p:cNvPr>
          <p:cNvSpPr txBox="1"/>
          <p:nvPr/>
        </p:nvSpPr>
        <p:spPr>
          <a:xfrm>
            <a:off x="4292600" y="2133600"/>
            <a:ext cx="2819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Public Catalog UI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BECB51-50FD-581B-BCA5-8062C4408F47}"/>
              </a:ext>
            </a:extLst>
          </p:cNvPr>
          <p:cNvSpPr txBox="1"/>
          <p:nvPr/>
        </p:nvSpPr>
        <p:spPr>
          <a:xfrm>
            <a:off x="4292600" y="2590800"/>
            <a:ext cx="2819400" cy="54373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Search, sorting, product detail access, and customer-facing catalog behavior.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A9DFC0-B82B-277B-DADD-05887B72F3CC}"/>
              </a:ext>
            </a:extLst>
          </p:cNvPr>
          <p:cNvSpPr/>
          <p:nvPr/>
        </p:nvSpPr>
        <p:spPr>
          <a:xfrm>
            <a:off x="609600" y="3276600"/>
            <a:ext cx="3175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1886CF-589E-8DDC-DA17-8507BE3FE0E8}"/>
              </a:ext>
            </a:extLst>
          </p:cNvPr>
          <p:cNvSpPr/>
          <p:nvPr/>
        </p:nvSpPr>
        <p:spPr>
          <a:xfrm>
            <a:off x="609600" y="3276600"/>
            <a:ext cx="101600" cy="11938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21319-ADB8-B890-AB1D-2810A2E49BC9}"/>
              </a:ext>
            </a:extLst>
          </p:cNvPr>
          <p:cNvSpPr txBox="1"/>
          <p:nvPr/>
        </p:nvSpPr>
        <p:spPr>
          <a:xfrm>
            <a:off x="863600" y="3505200"/>
            <a:ext cx="2819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Health API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5410B9-DA92-1F10-E366-40EC66D80050}"/>
              </a:ext>
            </a:extLst>
          </p:cNvPr>
          <p:cNvSpPr txBox="1"/>
          <p:nvPr/>
        </p:nvSpPr>
        <p:spPr>
          <a:xfrm>
            <a:off x="863600" y="3962400"/>
            <a:ext cx="2819400" cy="7130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Environment readiness smoke used to validate API availability before deeper runs.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B8C7DCF-5E6F-F370-55C8-0C88920A612B}"/>
              </a:ext>
            </a:extLst>
          </p:cNvPr>
          <p:cNvSpPr/>
          <p:nvPr/>
        </p:nvSpPr>
        <p:spPr>
          <a:xfrm>
            <a:off x="4038600" y="3276600"/>
            <a:ext cx="3175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0627212-CD39-B96F-8A9C-671BEDE914D1}"/>
              </a:ext>
            </a:extLst>
          </p:cNvPr>
          <p:cNvSpPr/>
          <p:nvPr/>
        </p:nvSpPr>
        <p:spPr>
          <a:xfrm>
            <a:off x="4038600" y="3276600"/>
            <a:ext cx="101600" cy="11938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773D39-020A-2BB6-5E25-839856E6C77B}"/>
              </a:ext>
            </a:extLst>
          </p:cNvPr>
          <p:cNvSpPr txBox="1"/>
          <p:nvPr/>
        </p:nvSpPr>
        <p:spPr>
          <a:xfrm>
            <a:off x="4292600" y="3505200"/>
            <a:ext cx="2819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Catalog API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80B230-8246-9274-2703-D054B19464E5}"/>
              </a:ext>
            </a:extLst>
          </p:cNvPr>
          <p:cNvSpPr txBox="1"/>
          <p:nvPr/>
        </p:nvSpPr>
        <p:spPr>
          <a:xfrm>
            <a:off x="4292600" y="3962400"/>
            <a:ext cx="2819400" cy="7130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Filtering, paging, sort, and boundary behavior through Newman collection runs.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FBB5B1-C12B-BA40-EBCF-46DAA196C0C3}"/>
              </a:ext>
            </a:extLst>
          </p:cNvPr>
          <p:cNvSpPr/>
          <p:nvPr/>
        </p:nvSpPr>
        <p:spPr>
          <a:xfrm>
            <a:off x="7569200" y="1905000"/>
            <a:ext cx="4013200" cy="256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Highest-Risk Modules
- Authentication and permission boundaries
- Product import, stock, and inventory movement
- Purchase and invoice transaction flows
- Reports and public catalog correctness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BF0AD4F-C500-8D92-2F0C-3F167803CB02}"/>
              </a:ext>
            </a:extLst>
          </p:cNvPr>
          <p:cNvSpPr/>
          <p:nvPr/>
        </p:nvSpPr>
        <p:spPr>
          <a:xfrm>
            <a:off x="7569200" y="4724400"/>
            <a:ext cx="4013200" cy="1117600"/>
          </a:xfrm>
          <a:prstGeom prst="roundRect">
            <a:avLst/>
          </a:prstGeom>
          <a:solidFill>
            <a:srgbClr val="EDF7FF"/>
          </a:solidFill>
          <a:ln w="12700">
            <a:solidFill>
              <a:srgbClr val="D689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Why this matters
These areas can create false stock, invalid revenue records, or unauthorized access if they break.</a:t>
            </a:r>
          </a:p>
        </p:txBody>
      </p:sp>
    </p:spTree>
    <p:extLst>
      <p:ext uri="{BB962C8B-B14F-4D97-AF65-F5344CB8AC3E}">
        <p14:creationId xmlns:p14="http://schemas.microsoft.com/office/powerpoint/2010/main" val="628088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645541-A5CA-FE3C-EC5B-73FFDDEEE6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F9700F-AF75-63AD-6331-E2DA2CDF6188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2A94E-FA51-F2C7-6932-5871E2E57426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079D9"/>
                </a:solidFill>
                <a:latin typeface="Segoe UI" panose="020B0502040204020203" pitchFamily="34" charset="0"/>
              </a:rPr>
              <a:t>02  Strategy And Evidence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A16D4-7283-B5AD-D73E-D888750EC157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How The Team Turned Design Into Defensible Evidence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534F8-AF16-0555-5DAE-7270B0B328BB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The deck shows a compact strategy summary, then a visible trace from scenario to issue tracker.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B18D35-ABE3-4FAF-2DA0-DEF36447B625}"/>
              </a:ext>
            </a:extLst>
          </p:cNvPr>
          <p:cNvSpPr/>
          <p:nvPr/>
        </p:nvSpPr>
        <p:spPr>
          <a:xfrm>
            <a:off x="609600" y="1905000"/>
            <a:ext cx="3657600" cy="236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Approach
- source-based audit instead of a generic template
- black-box execution with white-box-informed edge cases
- manual UI validation plus API regression plus targeted UI automation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9B1642-A650-C8F4-351D-6C45F5B098C9}"/>
              </a:ext>
            </a:extLst>
          </p:cNvPr>
          <p:cNvSpPr/>
          <p:nvPr/>
        </p:nvSpPr>
        <p:spPr>
          <a:xfrm>
            <a:off x="4445000" y="1905000"/>
            <a:ext cx="7137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Evidence Chain
Every key claim in the report can be walked forward through design, execution, runtime proof, defect logging, and GitHub issue tracking.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F62F53-D647-F8B9-A422-8AFC6D23615B}"/>
              </a:ext>
            </a:extLst>
          </p:cNvPr>
          <p:cNvSpPr/>
          <p:nvPr/>
        </p:nvSpPr>
        <p:spPr>
          <a:xfrm>
            <a:off x="4445000" y="3733800"/>
            <a:ext cx="965200" cy="8382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Scenario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306C05-4C26-F376-B7C0-5212F62AB177}"/>
              </a:ext>
            </a:extLst>
          </p:cNvPr>
          <p:cNvCxnSpPr/>
          <p:nvPr/>
        </p:nvCxnSpPr>
        <p:spPr>
          <a:xfrm>
            <a:off x="5410200" y="4152900"/>
            <a:ext cx="152400" cy="0"/>
          </a:xfrm>
          <a:prstGeom prst="line">
            <a:avLst/>
          </a:prstGeom>
          <a:ln w="25400">
            <a:solidFill>
              <a:srgbClr val="E1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B0904F-C8C2-D159-478E-FB2730A4BB51}"/>
              </a:ext>
            </a:extLst>
          </p:cNvPr>
          <p:cNvSpPr/>
          <p:nvPr/>
        </p:nvSpPr>
        <p:spPr>
          <a:xfrm>
            <a:off x="5562600" y="3733800"/>
            <a:ext cx="965200" cy="838200"/>
          </a:xfrm>
          <a:prstGeom prst="round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Test Case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0B2E88-65AB-EFE0-DBDE-0691AC8654A1}"/>
              </a:ext>
            </a:extLst>
          </p:cNvPr>
          <p:cNvCxnSpPr/>
          <p:nvPr/>
        </p:nvCxnSpPr>
        <p:spPr>
          <a:xfrm>
            <a:off x="6527800" y="4152900"/>
            <a:ext cx="152400" cy="0"/>
          </a:xfrm>
          <a:prstGeom prst="line">
            <a:avLst/>
          </a:prstGeom>
          <a:ln w="25400">
            <a:solidFill>
              <a:srgbClr val="E1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B761ED-2C0D-A9CB-E9F0-2A9A2DB1EFC7}"/>
              </a:ext>
            </a:extLst>
          </p:cNvPr>
          <p:cNvSpPr/>
          <p:nvPr/>
        </p:nvSpPr>
        <p:spPr>
          <a:xfrm>
            <a:off x="6680200" y="3733800"/>
            <a:ext cx="965200" cy="8382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Execution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E5A26D-8FB5-A711-E992-F37C6C612716}"/>
              </a:ext>
            </a:extLst>
          </p:cNvPr>
          <p:cNvCxnSpPr/>
          <p:nvPr/>
        </p:nvCxnSpPr>
        <p:spPr>
          <a:xfrm>
            <a:off x="7645400" y="4152900"/>
            <a:ext cx="152400" cy="0"/>
          </a:xfrm>
          <a:prstGeom prst="line">
            <a:avLst/>
          </a:prstGeom>
          <a:ln w="25400">
            <a:solidFill>
              <a:srgbClr val="E1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338C9EE-DFC2-AFEC-36E9-F676DC241138}"/>
              </a:ext>
            </a:extLst>
          </p:cNvPr>
          <p:cNvSpPr/>
          <p:nvPr/>
        </p:nvSpPr>
        <p:spPr>
          <a:xfrm>
            <a:off x="7797800" y="3733800"/>
            <a:ext cx="965200" cy="8382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Evidence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23CB1B-4D27-E7FA-70AA-C27D5CBF7535}"/>
              </a:ext>
            </a:extLst>
          </p:cNvPr>
          <p:cNvCxnSpPr/>
          <p:nvPr/>
        </p:nvCxnSpPr>
        <p:spPr>
          <a:xfrm>
            <a:off x="8763000" y="4152900"/>
            <a:ext cx="152400" cy="0"/>
          </a:xfrm>
          <a:prstGeom prst="line">
            <a:avLst/>
          </a:prstGeom>
          <a:ln w="25400">
            <a:solidFill>
              <a:srgbClr val="E1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4687EEF-5E63-9E4C-520A-CF1CA6699E7C}"/>
              </a:ext>
            </a:extLst>
          </p:cNvPr>
          <p:cNvSpPr/>
          <p:nvPr/>
        </p:nvSpPr>
        <p:spPr>
          <a:xfrm>
            <a:off x="8915400" y="3733800"/>
            <a:ext cx="965200" cy="8382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Defect Log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3C9770-FEC9-233F-6006-6DCC90A3F006}"/>
              </a:ext>
            </a:extLst>
          </p:cNvPr>
          <p:cNvCxnSpPr/>
          <p:nvPr/>
        </p:nvCxnSpPr>
        <p:spPr>
          <a:xfrm>
            <a:off x="9880600" y="4152900"/>
            <a:ext cx="152400" cy="0"/>
          </a:xfrm>
          <a:prstGeom prst="line">
            <a:avLst/>
          </a:prstGeom>
          <a:ln w="25400">
            <a:solidFill>
              <a:srgbClr val="E1E7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F6BF8F-36B7-D142-C980-57B7027B52DC}"/>
              </a:ext>
            </a:extLst>
          </p:cNvPr>
          <p:cNvSpPr/>
          <p:nvPr/>
        </p:nvSpPr>
        <p:spPr>
          <a:xfrm>
            <a:off x="10033000" y="3733800"/>
            <a:ext cx="965200" cy="838200"/>
          </a:xfrm>
          <a:prstGeom prst="roundRect">
            <a:avLst/>
          </a:prstGeom>
          <a:solidFill>
            <a:srgbClr val="1824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GitHub Issue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3D4E9A8-1A24-F6BE-DE01-5D86E5AB3833}"/>
              </a:ext>
            </a:extLst>
          </p:cNvPr>
          <p:cNvSpPr/>
          <p:nvPr/>
        </p:nvSpPr>
        <p:spPr>
          <a:xfrm>
            <a:off x="609600" y="4622800"/>
            <a:ext cx="10972800" cy="1244600"/>
          </a:xfrm>
          <a:prstGeom prst="roundRect">
            <a:avLst/>
          </a:prstGeom>
          <a:solidFill>
            <a:srgbClr val="EDF7FF"/>
          </a:solidFill>
          <a:ln w="12700">
            <a:solidFill>
              <a:srgbClr val="107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182438"/>
                </a:solidFill>
                <a:latin typeface="Segoe UI" panose="020B0502040204020203" pitchFamily="34" charset="0"/>
              </a:rPr>
              <a:t>Defense point
The team does not rely on pass-fail labels alone. Every significant result is backed by a visible evidence file and, when failing, by a live GitHub issue with severity and priority.</a:t>
            </a:r>
          </a:p>
        </p:txBody>
      </p:sp>
    </p:spTree>
    <p:extLst>
      <p:ext uri="{BB962C8B-B14F-4D97-AF65-F5344CB8AC3E}">
        <p14:creationId xmlns:p14="http://schemas.microsoft.com/office/powerpoint/2010/main" val="222547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202C07-CB21-6282-2A80-422E3417B17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03721-BF65-90B5-2B10-DC0658211ABF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E05CE1-9E9B-7B0C-0AC1-7AB91CF61AFE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079D9"/>
                </a:solidFill>
                <a:latin typeface="Segoe UI" panose="020B0502040204020203" pitchFamily="34" charset="0"/>
              </a:rPr>
              <a:t>03  Coverage Snapshot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F65D0-0107-3AB1-6551-8AD8B0BDDDED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Coverage Is Complete, Ownership Is Traceable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891AF-D70A-8D7E-CC75-52C922338F09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The design baseline is wide enough for rubric coverage and explicit enough to prove that the UI workload was split without overlap.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A0A04D-0E48-AB97-FE1A-67CAC9A9A636}"/>
              </a:ext>
            </a:extLst>
          </p:cNvPr>
          <p:cNvSpPr/>
          <p:nvPr/>
        </p:nvSpPr>
        <p:spPr>
          <a:xfrm>
            <a:off x="609600" y="1879600"/>
            <a:ext cx="2514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1CD89F-D918-50EB-B9FC-AF4E37D97453}"/>
              </a:ext>
            </a:extLst>
          </p:cNvPr>
          <p:cNvSpPr/>
          <p:nvPr/>
        </p:nvSpPr>
        <p:spPr>
          <a:xfrm>
            <a:off x="609600" y="1879600"/>
            <a:ext cx="101600" cy="10922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F047B-4A48-83A9-475A-DA875A267559}"/>
              </a:ext>
            </a:extLst>
          </p:cNvPr>
          <p:cNvSpPr txBox="1"/>
          <p:nvPr/>
        </p:nvSpPr>
        <p:spPr>
          <a:xfrm>
            <a:off x="863600" y="2108200"/>
            <a:ext cx="21590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884B61-35BA-A278-3607-C3BCAF57E7F5}"/>
              </a:ext>
            </a:extLst>
          </p:cNvPr>
          <p:cNvSpPr txBox="1"/>
          <p:nvPr/>
        </p:nvSpPr>
        <p:spPr>
          <a:xfrm>
            <a:off x="863600" y="2565400"/>
            <a:ext cx="2159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Documented scenarios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D1EE9B-1357-B3BD-9C76-DE5494BD2818}"/>
              </a:ext>
            </a:extLst>
          </p:cNvPr>
          <p:cNvSpPr/>
          <p:nvPr/>
        </p:nvSpPr>
        <p:spPr>
          <a:xfrm>
            <a:off x="3302000" y="1879600"/>
            <a:ext cx="2514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6C38F84-3E54-00CA-5956-0EDEE6BB7511}"/>
              </a:ext>
            </a:extLst>
          </p:cNvPr>
          <p:cNvSpPr/>
          <p:nvPr/>
        </p:nvSpPr>
        <p:spPr>
          <a:xfrm>
            <a:off x="3302000" y="1879600"/>
            <a:ext cx="101600" cy="1092200"/>
          </a:xfrm>
          <a:prstGeom prst="round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6EF026-08BF-C24D-98DE-76AE4B39ABBD}"/>
              </a:ext>
            </a:extLst>
          </p:cNvPr>
          <p:cNvSpPr txBox="1"/>
          <p:nvPr/>
        </p:nvSpPr>
        <p:spPr>
          <a:xfrm>
            <a:off x="3556000" y="2108200"/>
            <a:ext cx="21590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59BDA0-3242-F6E7-82D8-BAD7FDDF2C7C}"/>
              </a:ext>
            </a:extLst>
          </p:cNvPr>
          <p:cNvSpPr txBox="1"/>
          <p:nvPr/>
        </p:nvSpPr>
        <p:spPr>
          <a:xfrm>
            <a:off x="3556000" y="2565400"/>
            <a:ext cx="2159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Total test cases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DCD6951-8C59-D46E-4E73-FF96A8E3D2C8}"/>
              </a:ext>
            </a:extLst>
          </p:cNvPr>
          <p:cNvSpPr/>
          <p:nvPr/>
        </p:nvSpPr>
        <p:spPr>
          <a:xfrm>
            <a:off x="5994400" y="1879600"/>
            <a:ext cx="2514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AF3722D-A94A-5AF3-4F15-CF5733428716}"/>
              </a:ext>
            </a:extLst>
          </p:cNvPr>
          <p:cNvSpPr/>
          <p:nvPr/>
        </p:nvSpPr>
        <p:spPr>
          <a:xfrm>
            <a:off x="5994400" y="1879600"/>
            <a:ext cx="101600" cy="10922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5EEA06-06B2-4CEF-AD60-C08FDD74E969}"/>
              </a:ext>
            </a:extLst>
          </p:cNvPr>
          <p:cNvSpPr txBox="1"/>
          <p:nvPr/>
        </p:nvSpPr>
        <p:spPr>
          <a:xfrm>
            <a:off x="6248400" y="2108200"/>
            <a:ext cx="21590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44 UI / 19 API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4B5E44-1204-9F8F-38F5-192773B07702}"/>
              </a:ext>
            </a:extLst>
          </p:cNvPr>
          <p:cNvSpPr txBox="1"/>
          <p:nvPr/>
        </p:nvSpPr>
        <p:spPr>
          <a:xfrm>
            <a:off x="6248400" y="2565400"/>
            <a:ext cx="2159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Design split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614BE6A-3064-B1C0-DFFC-6086FC1FA567}"/>
              </a:ext>
            </a:extLst>
          </p:cNvPr>
          <p:cNvSpPr/>
          <p:nvPr/>
        </p:nvSpPr>
        <p:spPr>
          <a:xfrm>
            <a:off x="8686800" y="1879600"/>
            <a:ext cx="28956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54FD853-6AF9-1B21-5F35-403B16A14B1D}"/>
              </a:ext>
            </a:extLst>
          </p:cNvPr>
          <p:cNvSpPr/>
          <p:nvPr/>
        </p:nvSpPr>
        <p:spPr>
          <a:xfrm>
            <a:off x="8686800" y="1879600"/>
            <a:ext cx="101600" cy="10922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7C5B4-096D-2D52-BD46-B0236CC14E1B}"/>
              </a:ext>
            </a:extLst>
          </p:cNvPr>
          <p:cNvSpPr txBox="1"/>
          <p:nvPr/>
        </p:nvSpPr>
        <p:spPr>
          <a:xfrm>
            <a:off x="8940800" y="2108200"/>
            <a:ext cx="25400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100% mapped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B69671-45C5-F984-A6D4-6F4E07DE5CFE}"/>
              </a:ext>
            </a:extLst>
          </p:cNvPr>
          <p:cNvSpPr txBox="1"/>
          <p:nvPr/>
        </p:nvSpPr>
        <p:spPr>
          <a:xfrm>
            <a:off x="8940800" y="2565400"/>
            <a:ext cx="2540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Scenario-to-testcase coverage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5EF46F-892D-FC71-622A-5F9A78E08317}"/>
              </a:ext>
            </a:extLst>
          </p:cNvPr>
          <p:cNvSpPr txBox="1"/>
          <p:nvPr/>
        </p:nvSpPr>
        <p:spPr>
          <a:xfrm>
            <a:off x="609600" y="3352800"/>
            <a:ext cx="10972800" cy="45140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600" b="1">
                <a:solidFill>
                  <a:srgbClr val="182438"/>
                </a:solidFill>
                <a:latin typeface="Bahnschrift SemiBold" panose="020B0502040204020203" pitchFamily="34" charset="0"/>
              </a:rPr>
              <a:t>Owner Allocation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09EEDE-B11E-9DC6-0981-6D480008C7EB}"/>
              </a:ext>
            </a:extLst>
          </p:cNvPr>
          <p:cNvSpPr txBox="1"/>
          <p:nvPr/>
        </p:nvSpPr>
        <p:spPr>
          <a:xfrm>
            <a:off x="609600" y="3835400"/>
            <a:ext cx="22860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182438"/>
                </a:solidFill>
                <a:latin typeface="Segoe UI" panose="020B0502040204020203" pitchFamily="34" charset="0"/>
              </a:rPr>
              <a:t>Hoang Van Thien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0072405-6658-D98B-A6D0-76C580EAFC60}"/>
              </a:ext>
            </a:extLst>
          </p:cNvPr>
          <p:cNvSpPr/>
          <p:nvPr/>
        </p:nvSpPr>
        <p:spPr>
          <a:xfrm>
            <a:off x="2946400" y="3860800"/>
            <a:ext cx="7112000" cy="2286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6D9E4D2-4FC7-2774-6E3C-4FA4E1F35E2B}"/>
              </a:ext>
            </a:extLst>
          </p:cNvPr>
          <p:cNvSpPr/>
          <p:nvPr/>
        </p:nvSpPr>
        <p:spPr>
          <a:xfrm>
            <a:off x="2946400" y="3860800"/>
            <a:ext cx="7112000" cy="2286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55E31E-C8BF-BD0A-3A5E-1C29A72D9F47}"/>
              </a:ext>
            </a:extLst>
          </p:cNvPr>
          <p:cNvSpPr txBox="1"/>
          <p:nvPr/>
        </p:nvSpPr>
        <p:spPr>
          <a:xfrm>
            <a:off x="10236200" y="3810000"/>
            <a:ext cx="1168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pPr algn="r"/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17 UI cases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422E1D-B939-296B-759B-EF0352DBF8EC}"/>
              </a:ext>
            </a:extLst>
          </p:cNvPr>
          <p:cNvSpPr txBox="1"/>
          <p:nvPr/>
        </p:nvSpPr>
        <p:spPr>
          <a:xfrm>
            <a:off x="609600" y="4495800"/>
            <a:ext cx="22860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182438"/>
                </a:solidFill>
                <a:latin typeface="Segoe UI" panose="020B0502040204020203" pitchFamily="34" charset="0"/>
              </a:rPr>
              <a:t>Le Quang Duy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FAE3EF7-6D02-2A5F-AB73-279C29797E1E}"/>
              </a:ext>
            </a:extLst>
          </p:cNvPr>
          <p:cNvSpPr/>
          <p:nvPr/>
        </p:nvSpPr>
        <p:spPr>
          <a:xfrm>
            <a:off x="2946400" y="4521200"/>
            <a:ext cx="7112000" cy="2286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087CBF9-86FE-54ED-27EA-BC49DBB172AC}"/>
              </a:ext>
            </a:extLst>
          </p:cNvPr>
          <p:cNvSpPr/>
          <p:nvPr/>
        </p:nvSpPr>
        <p:spPr>
          <a:xfrm>
            <a:off x="2946400" y="4521200"/>
            <a:ext cx="5854700" cy="2286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5B3520-8C76-8A4D-C4D0-D4E2EFE6D306}"/>
              </a:ext>
            </a:extLst>
          </p:cNvPr>
          <p:cNvSpPr txBox="1"/>
          <p:nvPr/>
        </p:nvSpPr>
        <p:spPr>
          <a:xfrm>
            <a:off x="10236200" y="4470400"/>
            <a:ext cx="1168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pPr algn="r"/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14 UI cases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0B7958-24CA-E420-AC17-B18D3BD405B3}"/>
              </a:ext>
            </a:extLst>
          </p:cNvPr>
          <p:cNvSpPr txBox="1"/>
          <p:nvPr/>
        </p:nvSpPr>
        <p:spPr>
          <a:xfrm>
            <a:off x="609600" y="5156200"/>
            <a:ext cx="22860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182438"/>
                </a:solidFill>
                <a:latin typeface="Segoe UI" panose="020B0502040204020203" pitchFamily="34" charset="0"/>
              </a:rPr>
              <a:t>Nguyen Thanh Dat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BAA4CB2-3C89-CA98-83A9-81049F4F6503}"/>
              </a:ext>
            </a:extLst>
          </p:cNvPr>
          <p:cNvSpPr/>
          <p:nvPr/>
        </p:nvSpPr>
        <p:spPr>
          <a:xfrm>
            <a:off x="2946400" y="5181600"/>
            <a:ext cx="7112000" cy="228600"/>
          </a:xfrm>
          <a:prstGeom prst="roundRect">
            <a:avLst/>
          </a:prstGeom>
          <a:solidFill>
            <a:srgbClr val="EDF7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C505B94-E4D1-F5BB-AD20-6645618780D4}"/>
              </a:ext>
            </a:extLst>
          </p:cNvPr>
          <p:cNvSpPr/>
          <p:nvPr/>
        </p:nvSpPr>
        <p:spPr>
          <a:xfrm>
            <a:off x="2946400" y="5181600"/>
            <a:ext cx="5435600" cy="2286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1FA7B2-DF1A-53B8-B479-6FABF2B9657D}"/>
              </a:ext>
            </a:extLst>
          </p:cNvPr>
          <p:cNvSpPr txBox="1"/>
          <p:nvPr/>
        </p:nvSpPr>
        <p:spPr>
          <a:xfrm>
            <a:off x="10236200" y="5130800"/>
            <a:ext cx="1168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pPr algn="r"/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13 UI cases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3891F4-3284-1F31-F883-AB0A9BFD25EF}"/>
              </a:ext>
            </a:extLst>
          </p:cNvPr>
          <p:cNvSpPr txBox="1"/>
          <p:nvPr/>
        </p:nvSpPr>
        <p:spPr>
          <a:xfrm>
            <a:off x="609600" y="5892800"/>
            <a:ext cx="109728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>
                <a:solidFill>
                  <a:srgbClr val="58647D"/>
                </a:solidFill>
                <a:latin typeface="Segoe UI" panose="020B0502040204020203" pitchFamily="34" charset="0"/>
              </a:rPr>
              <a:t>All three members stay above the 10-UI-case threshold required by the brief, and the current ownership split sums cleanly to 44 UI cases.</a:t>
            </a:r>
          </a:p>
        </p:txBody>
      </p:sp>
    </p:spTree>
    <p:extLst>
      <p:ext uri="{BB962C8B-B14F-4D97-AF65-F5344CB8AC3E}">
        <p14:creationId xmlns:p14="http://schemas.microsoft.com/office/powerpoint/2010/main" val="3238962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8429EA-9A31-F8FF-8F0D-0C877AC8C3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8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978446-F500-63D5-E495-239AC85E9ADB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0E0960-C595-575F-31BD-4473FAF13BE1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6A398"/>
                </a:solidFill>
                <a:latin typeface="Segoe UI" panose="020B0502040204020203" pitchFamily="34" charset="0"/>
              </a:rPr>
              <a:t>04  Automation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86D00-722A-1C67-04BE-E268F65AE156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Bahnschrift SemiBold" panose="020B0502040204020203" pitchFamily="34" charset="0"/>
              </a:rPr>
              <a:t>Automation Supports The Manual Baseline Instead Of Replacing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44CC4-7348-4258-5959-51DA22812046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DBEEFF"/>
                </a:solidFill>
                <a:latin typeface="Segoe UI" panose="020B0502040204020203" pitchFamily="34" charset="0"/>
              </a:rPr>
              <a:t>The automation layer proves basic repeatability, visible tooling, and result traceability for both UI and API execution.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58B07A-1FD1-E43A-E089-F58FD8D7897A}"/>
              </a:ext>
            </a:extLst>
          </p:cNvPr>
          <p:cNvSpPr/>
          <p:nvPr/>
        </p:nvSpPr>
        <p:spPr>
          <a:xfrm>
            <a:off x="609600" y="1905000"/>
            <a:ext cx="3327400" cy="23368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107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.NET UI Suite
- .NET 8, xUnit, Selenium
- Page Object Model
- shared settings, waits, and screenshot helper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63443B-E6A9-172D-B79F-0F768E651A88}"/>
              </a:ext>
            </a:extLst>
          </p:cNvPr>
          <p:cNvSpPr/>
          <p:nvPr/>
        </p:nvSpPr>
        <p:spPr>
          <a:xfrm>
            <a:off x="4191000" y="1905000"/>
            <a:ext cx="3327400" cy="23368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16A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API Suite
- Postman collection + Newman
- text and XML runner artifacts
- execution stored in submission package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B0C729-A25B-527C-981F-884873E9EAB1}"/>
              </a:ext>
            </a:extLst>
          </p:cNvPr>
          <p:cNvSpPr/>
          <p:nvPr/>
        </p:nvSpPr>
        <p:spPr>
          <a:xfrm>
            <a:off x="7772400" y="1905000"/>
            <a:ext cx="3810000" cy="23368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D689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Demonstrated Flows
- TC-UI-AUTH-001 on Edge
- TC-UI-IMP-002 on Chrome
- TC-API-HLT-001 in Newman
- focused fail-case comparison in result view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8A8AF3-200B-B2F0-97A0-159898EFD0A2}"/>
              </a:ext>
            </a:extLst>
          </p:cNvPr>
          <p:cNvSpPr/>
          <p:nvPr/>
        </p:nvSpPr>
        <p:spPr>
          <a:xfrm>
            <a:off x="609600" y="4597400"/>
            <a:ext cx="10972800" cy="12446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Execution principle
Automation is used as bonus evidence and repeatable smoke support. Final status still depends on runtime behavior, visible screenshots, runner outputs, and linked final-result records.</a:t>
            </a:r>
          </a:p>
        </p:txBody>
      </p:sp>
    </p:spTree>
    <p:extLst>
      <p:ext uri="{BB962C8B-B14F-4D97-AF65-F5344CB8AC3E}">
        <p14:creationId xmlns:p14="http://schemas.microsoft.com/office/powerpoint/2010/main" val="1480778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6706EB-C76D-6D84-3D11-C62006D550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086093-128F-D46F-4D5D-9F44F4BBE174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ABB4F4-91EA-0C94-3697-5B0E56A4A7B2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079D9"/>
                </a:solidFill>
                <a:latin typeface="Segoe UI" panose="020B0502040204020203" pitchFamily="34" charset="0"/>
              </a:rPr>
              <a:t>05  Real Execution Evidence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D77E4-C041-99B0-DC64-7ACCCD56AA6E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The Deck Uses Real Screenshots And Runner Artifacts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B8C22-A6C7-2A9A-4AD6-E97C9037F160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This slide proves that pass and fail statuses are backed by visible runtime output rather than summary claims.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68557F-A03A-0D48-479D-A0BD2F9F0814}"/>
              </a:ext>
            </a:extLst>
          </p:cNvPr>
          <p:cNvSpPr/>
          <p:nvPr/>
        </p:nvSpPr>
        <p:spPr>
          <a:xfrm>
            <a:off x="609600" y="2006600"/>
            <a:ext cx="36576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24BA87-EF5E-7CFF-210F-08C75857D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108200"/>
            <a:ext cx="3454400" cy="1498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DD28EC-CD62-97F4-9CC2-6BA763F46523}"/>
              </a:ext>
            </a:extLst>
          </p:cNvPr>
          <p:cNvSpPr txBox="1"/>
          <p:nvPr/>
        </p:nvSpPr>
        <p:spPr>
          <a:xfrm>
            <a:off x="711200" y="3632200"/>
            <a:ext cx="3454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TC-UI-AUTH-001 pass on focused login smoke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B779C5-66D3-0CC0-EF70-C5DE746D9051}"/>
              </a:ext>
            </a:extLst>
          </p:cNvPr>
          <p:cNvSpPr/>
          <p:nvPr/>
        </p:nvSpPr>
        <p:spPr>
          <a:xfrm>
            <a:off x="4470400" y="2006600"/>
            <a:ext cx="36576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9807F6-F9D8-6379-1754-DE2D66482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08200"/>
            <a:ext cx="3454400" cy="1498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533377-8223-6AA5-A240-71DD6D8EAD88}"/>
              </a:ext>
            </a:extLst>
          </p:cNvPr>
          <p:cNvSpPr txBox="1"/>
          <p:nvPr/>
        </p:nvSpPr>
        <p:spPr>
          <a:xfrm>
            <a:off x="4572000" y="3632200"/>
            <a:ext cx="3454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TC-UI-IMP-002 preview shows 6 / 1 / 5 counts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826BF1-2DB8-E283-0946-E2BF4FE58AD0}"/>
              </a:ext>
            </a:extLst>
          </p:cNvPr>
          <p:cNvSpPr/>
          <p:nvPr/>
        </p:nvSpPr>
        <p:spPr>
          <a:xfrm>
            <a:off x="609600" y="4140200"/>
            <a:ext cx="7518400" cy="208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F1C35E-4257-93A5-E9D6-7B94AA14AA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4241800"/>
            <a:ext cx="7315200" cy="1625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80BAB11-C1C4-EC30-FCC5-87E1DDEDFA79}"/>
              </a:ext>
            </a:extLst>
          </p:cNvPr>
          <p:cNvSpPr txBox="1"/>
          <p:nvPr/>
        </p:nvSpPr>
        <p:spPr>
          <a:xfrm>
            <a:off x="711200" y="5892800"/>
            <a:ext cx="73152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Newman full run proves API regression passed 19 / 19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7399316-E4A9-28FB-7927-51F4482A3782}"/>
              </a:ext>
            </a:extLst>
          </p:cNvPr>
          <p:cNvSpPr/>
          <p:nvPr/>
        </p:nvSpPr>
        <p:spPr>
          <a:xfrm>
            <a:off x="8382000" y="2006600"/>
            <a:ext cx="3200400" cy="421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300">
                <a:solidFill>
                  <a:srgbClr val="182438"/>
                </a:solidFill>
                <a:latin typeface="Segoe UI" panose="020B0502040204020203" pitchFamily="34" charset="0"/>
              </a:rPr>
              <a:t>Evidence rules
- 63 / 63 cases executed
- 0 cases remain Not Run
- pass status requires runtime proof
- fail status requires mismatch plus evidence
Fail evidence in scope
- purchase validation banner defect
- import confirm defect
- invoice create defect
- invoice cancel defect</a:t>
            </a:r>
          </a:p>
        </p:txBody>
      </p:sp>
    </p:spTree>
    <p:extLst>
      <p:ext uri="{BB962C8B-B14F-4D97-AF65-F5344CB8AC3E}">
        <p14:creationId xmlns:p14="http://schemas.microsoft.com/office/powerpoint/2010/main" val="2609931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4193B1-E0F5-7626-B126-9C62031D2F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F7B183-C91F-85FB-EE6B-DD967CC999A2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C0573-BE6C-ADC2-1D32-7D06E0B3F941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079D9"/>
                </a:solidFill>
                <a:latin typeface="Segoe UI" panose="020B0502040204020203" pitchFamily="34" charset="0"/>
              </a:rPr>
              <a:t>06  Result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1223F-13AD-F6AC-5680-79A1684D122F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Expected Result, Actual Result, Status, Then Evidence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A1E56-FF4E-7EAB-C8F1-E4BD57954DF8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This is the critical grading slide: the team defends each status through outcome comparison instead of relying on pass-fail labels alone.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71FF99-3FED-DCDF-AB79-954615D5B248}"/>
              </a:ext>
            </a:extLst>
          </p:cNvPr>
          <p:cNvSpPr/>
          <p:nvPr/>
        </p:nvSpPr>
        <p:spPr>
          <a:xfrm>
            <a:off x="609600" y="2057400"/>
            <a:ext cx="5207000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BE4FEC-EF05-C2BA-ECE5-4C9C76799559}"/>
              </a:ext>
            </a:extLst>
          </p:cNvPr>
          <p:cNvSpPr/>
          <p:nvPr/>
        </p:nvSpPr>
        <p:spPr>
          <a:xfrm>
            <a:off x="609600" y="2057400"/>
            <a:ext cx="5207000" cy="1016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1DCA3-4972-A9CB-1C43-7C1A725A0B45}"/>
              </a:ext>
            </a:extLst>
          </p:cNvPr>
          <p:cNvSpPr txBox="1"/>
          <p:nvPr/>
        </p:nvSpPr>
        <p:spPr>
          <a:xfrm>
            <a:off x="787400" y="2260600"/>
            <a:ext cx="40386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58647D"/>
                </a:solidFill>
                <a:latin typeface="Segoe UI" panose="020B0502040204020203" pitchFamily="34" charset="0"/>
              </a:rPr>
              <a:t>TC-UI-AUTH-001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7FC287-03D0-7CDE-206C-82993B90A2EF}"/>
              </a:ext>
            </a:extLst>
          </p:cNvPr>
          <p:cNvSpPr/>
          <p:nvPr/>
        </p:nvSpPr>
        <p:spPr>
          <a:xfrm>
            <a:off x="4876800" y="2235200"/>
            <a:ext cx="736600" cy="2540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Pass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3F0D5D-4B53-96A3-CEF3-8591741362D5}"/>
              </a:ext>
            </a:extLst>
          </p:cNvPr>
          <p:cNvSpPr txBox="1"/>
          <p:nvPr/>
        </p:nvSpPr>
        <p:spPr>
          <a:xfrm>
            <a:off x="787400" y="2489200"/>
            <a:ext cx="48514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182438"/>
                </a:solidFill>
                <a:latin typeface="Bahnschrift SemiBold" panose="020B0502040204020203" pitchFamily="34" charset="0"/>
              </a:rPr>
              <a:t>Valid admin login reaches dashboard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5DAC7-B50B-CB9B-277E-8280CB5FF548}"/>
              </a:ext>
            </a:extLst>
          </p:cNvPr>
          <p:cNvSpPr txBox="1"/>
          <p:nvPr/>
        </p:nvSpPr>
        <p:spPr>
          <a:xfrm>
            <a:off x="787400" y="29210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Expected
Admin login must redirect to dashboard without validation error.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B8C2B9-4048-5493-C4AA-76360BAE1189}"/>
              </a:ext>
            </a:extLst>
          </p:cNvPr>
          <p:cNvSpPr txBox="1"/>
          <p:nvPr/>
        </p:nvSpPr>
        <p:spPr>
          <a:xfrm>
            <a:off x="787400" y="34290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Actual
Chrome and Edge smoke reruns both reached the dashboard.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F66642-CD3D-48F9-D8F9-78020DD57F3E}"/>
              </a:ext>
            </a:extLst>
          </p:cNvPr>
          <p:cNvSpPr txBox="1"/>
          <p:nvPr/>
        </p:nvSpPr>
        <p:spPr>
          <a:xfrm>
            <a:off x="787400" y="3835400"/>
            <a:ext cx="4851400" cy="33598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850">
                <a:solidFill>
                  <a:srgbClr val="58647D"/>
                </a:solidFill>
                <a:latin typeface="Segoe UI" panose="020B0502040204020203" pitchFamily="34" charset="0"/>
              </a:rPr>
              <a:t>Evidence: edge-auth-smoke.trx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EF1917-6EB7-8714-B417-A2DA12D0B77D}"/>
              </a:ext>
            </a:extLst>
          </p:cNvPr>
          <p:cNvSpPr/>
          <p:nvPr/>
        </p:nvSpPr>
        <p:spPr>
          <a:xfrm>
            <a:off x="6350000" y="2057400"/>
            <a:ext cx="5207000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F78015-900D-E8B3-CEFF-066546A294F7}"/>
              </a:ext>
            </a:extLst>
          </p:cNvPr>
          <p:cNvSpPr/>
          <p:nvPr/>
        </p:nvSpPr>
        <p:spPr>
          <a:xfrm>
            <a:off x="6350000" y="2057400"/>
            <a:ext cx="5207000" cy="1016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7AFD3-C9B2-1E58-43ED-119194844275}"/>
              </a:ext>
            </a:extLst>
          </p:cNvPr>
          <p:cNvSpPr txBox="1"/>
          <p:nvPr/>
        </p:nvSpPr>
        <p:spPr>
          <a:xfrm>
            <a:off x="6527800" y="2260600"/>
            <a:ext cx="40386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58647D"/>
                </a:solidFill>
                <a:latin typeface="Segoe UI" panose="020B0502040204020203" pitchFamily="34" charset="0"/>
              </a:rPr>
              <a:t>TC-UI-IMP-002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2C2C5DD-0304-F6B9-59ED-CE92A4807C42}"/>
              </a:ext>
            </a:extLst>
          </p:cNvPr>
          <p:cNvSpPr/>
          <p:nvPr/>
        </p:nvSpPr>
        <p:spPr>
          <a:xfrm>
            <a:off x="10617200" y="2235200"/>
            <a:ext cx="736600" cy="2540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Pass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37258E-3AC6-1392-B9BF-989A1F11F548}"/>
              </a:ext>
            </a:extLst>
          </p:cNvPr>
          <p:cNvSpPr txBox="1"/>
          <p:nvPr/>
        </p:nvSpPr>
        <p:spPr>
          <a:xfrm>
            <a:off x="6527800" y="2489200"/>
            <a:ext cx="48514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182438"/>
                </a:solidFill>
                <a:latin typeface="Bahnschrift SemiBold" panose="020B0502040204020203" pitchFamily="34" charset="0"/>
              </a:rPr>
              <a:t>Import preview shows valid and invalid counts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F72E53-BB47-166C-DF2A-0491E3E9EC61}"/>
              </a:ext>
            </a:extLst>
          </p:cNvPr>
          <p:cNvSpPr txBox="1"/>
          <p:nvPr/>
        </p:nvSpPr>
        <p:spPr>
          <a:xfrm>
            <a:off x="6527800" y="29210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Expected
Preview must show row counts and row-level validation info.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C1093D-B141-96A7-69C4-D28B93896603}"/>
              </a:ext>
            </a:extLst>
          </p:cNvPr>
          <p:cNvSpPr txBox="1"/>
          <p:nvPr/>
        </p:nvSpPr>
        <p:spPr>
          <a:xfrm>
            <a:off x="6527800" y="34290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Actual
Preview showed 6 total, 1 valid, and 5 invalid rows.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C001C4-0393-AF5F-CAE8-4BA4E4608156}"/>
              </a:ext>
            </a:extLst>
          </p:cNvPr>
          <p:cNvSpPr txBox="1"/>
          <p:nvPr/>
        </p:nvSpPr>
        <p:spPr>
          <a:xfrm>
            <a:off x="6527800" y="3835400"/>
            <a:ext cx="4851400" cy="33598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850">
                <a:solidFill>
                  <a:srgbClr val="58647D"/>
                </a:solidFill>
                <a:latin typeface="Segoe UI" panose="020B0502040204020203" pitchFamily="34" charset="0"/>
              </a:rPr>
              <a:t>Evidence: import-preview-rerun.trx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F3F10CB-EF6F-8F5A-7983-ACD0537CEC96}"/>
              </a:ext>
            </a:extLst>
          </p:cNvPr>
          <p:cNvSpPr/>
          <p:nvPr/>
        </p:nvSpPr>
        <p:spPr>
          <a:xfrm>
            <a:off x="609600" y="4292600"/>
            <a:ext cx="5207000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DA9C333-1242-1F19-7856-A29E347C5BAF}"/>
              </a:ext>
            </a:extLst>
          </p:cNvPr>
          <p:cNvSpPr/>
          <p:nvPr/>
        </p:nvSpPr>
        <p:spPr>
          <a:xfrm>
            <a:off x="609600" y="4292600"/>
            <a:ext cx="5207000" cy="1016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503DB7-EAD5-6A19-81C1-75C673005B09}"/>
              </a:ext>
            </a:extLst>
          </p:cNvPr>
          <p:cNvSpPr txBox="1"/>
          <p:nvPr/>
        </p:nvSpPr>
        <p:spPr>
          <a:xfrm>
            <a:off x="787400" y="4495800"/>
            <a:ext cx="40386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58647D"/>
                </a:solidFill>
                <a:latin typeface="Segoe UI" panose="020B0502040204020203" pitchFamily="34" charset="0"/>
              </a:rPr>
              <a:t>TC-UI-PUR-002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E076A39-3D93-1C14-0A0A-35AAF2CEDC14}"/>
              </a:ext>
            </a:extLst>
          </p:cNvPr>
          <p:cNvSpPr/>
          <p:nvPr/>
        </p:nvSpPr>
        <p:spPr>
          <a:xfrm>
            <a:off x="4876800" y="4470400"/>
            <a:ext cx="736600" cy="2540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Fail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2F50A8-51A6-F141-D30F-4570A2F1E58D}"/>
              </a:ext>
            </a:extLst>
          </p:cNvPr>
          <p:cNvSpPr txBox="1"/>
          <p:nvPr/>
        </p:nvSpPr>
        <p:spPr>
          <a:xfrm>
            <a:off x="787400" y="4724400"/>
            <a:ext cx="48514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182438"/>
                </a:solidFill>
                <a:latin typeface="Bahnschrift SemiBold" panose="020B0502040204020203" pitchFamily="34" charset="0"/>
              </a:rPr>
              <a:t>Readable supplier validation should be shown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0CBB51-3467-BA9E-F2F2-19413C6046F2}"/>
              </a:ext>
            </a:extLst>
          </p:cNvPr>
          <p:cNvSpPr txBox="1"/>
          <p:nvPr/>
        </p:nvSpPr>
        <p:spPr>
          <a:xfrm>
            <a:off x="787400" y="51562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Expected
Supplier-missing submission should show a readable error.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93C1E9-FC52-A62F-9675-9B49E72021E6}"/>
              </a:ext>
            </a:extLst>
          </p:cNvPr>
          <p:cNvSpPr txBox="1"/>
          <p:nvPr/>
        </p:nvSpPr>
        <p:spPr>
          <a:xfrm>
            <a:off x="787400" y="56642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Actual
Submission was blocked, but the validation banner remained unreadable.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9F45EA-969C-CB11-D682-D02F78F4B7D9}"/>
              </a:ext>
            </a:extLst>
          </p:cNvPr>
          <p:cNvSpPr txBox="1"/>
          <p:nvPr/>
        </p:nvSpPr>
        <p:spPr>
          <a:xfrm>
            <a:off x="787400" y="6070600"/>
            <a:ext cx="4851400" cy="33598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850">
                <a:solidFill>
                  <a:srgbClr val="58647D"/>
                </a:solidFill>
                <a:latin typeface="Segoe UI" panose="020B0502040204020203" pitchFamily="34" charset="0"/>
              </a:rPr>
              <a:t>Evidence: Issue #2 + rerun TRX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A69B22A-BCAD-1701-EF97-933DAD5AF2BB}"/>
              </a:ext>
            </a:extLst>
          </p:cNvPr>
          <p:cNvSpPr/>
          <p:nvPr/>
        </p:nvSpPr>
        <p:spPr>
          <a:xfrm>
            <a:off x="6350000" y="4292600"/>
            <a:ext cx="5207000" cy="210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033B327-F192-5AA2-6D73-92E481DF65C9}"/>
              </a:ext>
            </a:extLst>
          </p:cNvPr>
          <p:cNvSpPr/>
          <p:nvPr/>
        </p:nvSpPr>
        <p:spPr>
          <a:xfrm>
            <a:off x="6350000" y="4292600"/>
            <a:ext cx="5207000" cy="1016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043507-1470-2BF5-EE61-F109E9148A8C}"/>
              </a:ext>
            </a:extLst>
          </p:cNvPr>
          <p:cNvSpPr txBox="1"/>
          <p:nvPr/>
        </p:nvSpPr>
        <p:spPr>
          <a:xfrm>
            <a:off x="6527800" y="4495800"/>
            <a:ext cx="40386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58647D"/>
                </a:solidFill>
                <a:latin typeface="Segoe UI" panose="020B0502040204020203" pitchFamily="34" charset="0"/>
              </a:rPr>
              <a:t>TC-UI-INV-001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CC1532C-9A78-D17A-8541-EBF8A27817F4}"/>
              </a:ext>
            </a:extLst>
          </p:cNvPr>
          <p:cNvSpPr/>
          <p:nvPr/>
        </p:nvSpPr>
        <p:spPr>
          <a:xfrm>
            <a:off x="10617200" y="4470400"/>
            <a:ext cx="736600" cy="2540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pitchFamily="34" charset="0"/>
              </a:rPr>
              <a:t>Fail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AF712D-787D-AE9D-21E4-052073089B20}"/>
              </a:ext>
            </a:extLst>
          </p:cNvPr>
          <p:cNvSpPr txBox="1"/>
          <p:nvPr/>
        </p:nvSpPr>
        <p:spPr>
          <a:xfrm>
            <a:off x="6527800" y="4724400"/>
            <a:ext cx="4851400" cy="389850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 b="1">
                <a:solidFill>
                  <a:srgbClr val="182438"/>
                </a:solidFill>
                <a:latin typeface="Bahnschrift SemiBold" panose="020B0502040204020203" pitchFamily="34" charset="0"/>
              </a:rPr>
              <a:t>Valid walk-in invoice should be created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CD42EA-4FC9-F2AA-7F8C-26FB1C8956B7}"/>
              </a:ext>
            </a:extLst>
          </p:cNvPr>
          <p:cNvSpPr txBox="1"/>
          <p:nvPr/>
        </p:nvSpPr>
        <p:spPr>
          <a:xfrm>
            <a:off x="6527800" y="51562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Expected
A valid unpaid invoice should redirect to invoice details.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5C2AF4-9505-074B-D3EA-6D1F55F30BB9}"/>
              </a:ext>
            </a:extLst>
          </p:cNvPr>
          <p:cNvSpPr txBox="1"/>
          <p:nvPr/>
        </p:nvSpPr>
        <p:spPr>
          <a:xfrm>
            <a:off x="6527800" y="5664200"/>
            <a:ext cx="4851400" cy="497572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950">
                <a:solidFill>
                  <a:srgbClr val="58647D"/>
                </a:solidFill>
                <a:latin typeface="Segoe UI" panose="020B0502040204020203" pitchFamily="34" charset="0"/>
              </a:rPr>
              <a:t>Actual
Create returned to the form with a failure toast and still reproduced.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A3731C-F656-F5D7-566C-DD30EE8E828C}"/>
              </a:ext>
            </a:extLst>
          </p:cNvPr>
          <p:cNvSpPr txBox="1"/>
          <p:nvPr/>
        </p:nvSpPr>
        <p:spPr>
          <a:xfrm>
            <a:off x="6527800" y="6070600"/>
            <a:ext cx="4851400" cy="33598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850">
                <a:solidFill>
                  <a:srgbClr val="58647D"/>
                </a:solidFill>
                <a:latin typeface="Segoe UI" panose="020B0502040204020203" pitchFamily="34" charset="0"/>
              </a:rPr>
              <a:t>Evidence: Issue #1 + rerun TRX</a:t>
            </a:r>
          </a:p>
        </p:txBody>
      </p:sp>
    </p:spTree>
    <p:extLst>
      <p:ext uri="{BB962C8B-B14F-4D97-AF65-F5344CB8AC3E}">
        <p14:creationId xmlns:p14="http://schemas.microsoft.com/office/powerpoint/2010/main" val="787579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C0347D-66D2-0CC4-8B95-62AD5CC42C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A0C082-F29A-28DD-61B2-3AE749129087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A1DFF-0C8C-1EEF-35FD-A86A06D4AC2D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079D9"/>
                </a:solidFill>
                <a:latin typeface="Segoe UI" panose="020B0502040204020203" pitchFamily="34" charset="0"/>
              </a:rPr>
              <a:t>07  Metrics Snapshot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10A83-06D6-D539-DE94-A124B58EC1E7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Execution Is Complete, Stability Is Not Yet Complete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060BAC-1928-B830-423E-520257C8ED3A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The metric view is strong because it distinguishes coverage from product quality instead of merging them into a single conclusion.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237548-8E50-6754-14B5-7995B1DF1EA3}"/>
              </a:ext>
            </a:extLst>
          </p:cNvPr>
          <p:cNvSpPr/>
          <p:nvPr/>
        </p:nvSpPr>
        <p:spPr>
          <a:xfrm>
            <a:off x="609600" y="1828800"/>
            <a:ext cx="60198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38F548-A9EE-C2B4-03AA-6AD629DF0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930400"/>
            <a:ext cx="5816600" cy="317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CE4832-1988-4C9B-A05D-265B2759E15D}"/>
              </a:ext>
            </a:extLst>
          </p:cNvPr>
          <p:cNvSpPr txBox="1"/>
          <p:nvPr/>
        </p:nvSpPr>
        <p:spPr>
          <a:xfrm>
            <a:off x="711200" y="5130800"/>
            <a:ext cx="58166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Metrics workbook snapshot as of 2026-04-11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6875E6-D2CD-403C-96FB-E57BCAE055E3}"/>
              </a:ext>
            </a:extLst>
          </p:cNvPr>
          <p:cNvSpPr/>
          <p:nvPr/>
        </p:nvSpPr>
        <p:spPr>
          <a:xfrm>
            <a:off x="6934200" y="1828800"/>
            <a:ext cx="2159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9D2BFF-5371-6BC4-5D33-39C378EEBF5E}"/>
              </a:ext>
            </a:extLst>
          </p:cNvPr>
          <p:cNvSpPr/>
          <p:nvPr/>
        </p:nvSpPr>
        <p:spPr>
          <a:xfrm>
            <a:off x="6934200" y="1828800"/>
            <a:ext cx="101600" cy="1041400"/>
          </a:xfrm>
          <a:prstGeom prst="round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51C462-D5C8-7756-585A-C20C5B9AD05E}"/>
              </a:ext>
            </a:extLst>
          </p:cNvPr>
          <p:cNvSpPr txBox="1"/>
          <p:nvPr/>
        </p:nvSpPr>
        <p:spPr>
          <a:xfrm>
            <a:off x="7188200" y="2057400"/>
            <a:ext cx="1803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63 / 63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524164-6499-BDD7-D9D3-2DBD866ED258}"/>
              </a:ext>
            </a:extLst>
          </p:cNvPr>
          <p:cNvSpPr txBox="1"/>
          <p:nvPr/>
        </p:nvSpPr>
        <p:spPr>
          <a:xfrm>
            <a:off x="7188200" y="2514600"/>
            <a:ext cx="1803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Executed cases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F7667B-B712-4BE5-4FFD-99586374C5F6}"/>
              </a:ext>
            </a:extLst>
          </p:cNvPr>
          <p:cNvSpPr/>
          <p:nvPr/>
        </p:nvSpPr>
        <p:spPr>
          <a:xfrm>
            <a:off x="9296400" y="1828800"/>
            <a:ext cx="2286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B392AD8-204A-951B-A856-4D0740ACF254}"/>
              </a:ext>
            </a:extLst>
          </p:cNvPr>
          <p:cNvSpPr/>
          <p:nvPr/>
        </p:nvSpPr>
        <p:spPr>
          <a:xfrm>
            <a:off x="9296400" y="1828800"/>
            <a:ext cx="101600" cy="1041400"/>
          </a:xfrm>
          <a:prstGeom prst="roundRect">
            <a:avLst/>
          </a:prstGeom>
          <a:solidFill>
            <a:srgbClr val="2A7F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BECC8F-0A92-369A-D21A-4E3C8DD378B1}"/>
              </a:ext>
            </a:extLst>
          </p:cNvPr>
          <p:cNvSpPr txBox="1"/>
          <p:nvPr/>
        </p:nvSpPr>
        <p:spPr>
          <a:xfrm>
            <a:off x="9550400" y="2057400"/>
            <a:ext cx="1930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56 pass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FDD20F-48D9-6C46-0B89-0CFC611AD6A1}"/>
              </a:ext>
            </a:extLst>
          </p:cNvPr>
          <p:cNvSpPr txBox="1"/>
          <p:nvPr/>
        </p:nvSpPr>
        <p:spPr>
          <a:xfrm>
            <a:off x="9550400" y="2514600"/>
            <a:ext cx="1930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Pass rate 88.89%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3FA135E-7CF3-1E94-3C11-4B1B712B77CF}"/>
              </a:ext>
            </a:extLst>
          </p:cNvPr>
          <p:cNvSpPr/>
          <p:nvPr/>
        </p:nvSpPr>
        <p:spPr>
          <a:xfrm>
            <a:off x="6934200" y="3022600"/>
            <a:ext cx="2159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344522-4574-0862-3130-505B0F2FDF6E}"/>
              </a:ext>
            </a:extLst>
          </p:cNvPr>
          <p:cNvSpPr/>
          <p:nvPr/>
        </p:nvSpPr>
        <p:spPr>
          <a:xfrm>
            <a:off x="6934200" y="3022600"/>
            <a:ext cx="101600" cy="10414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D3FECF-489B-E3A7-2052-AA3699C77D49}"/>
              </a:ext>
            </a:extLst>
          </p:cNvPr>
          <p:cNvSpPr txBox="1"/>
          <p:nvPr/>
        </p:nvSpPr>
        <p:spPr>
          <a:xfrm>
            <a:off x="7188200" y="3251200"/>
            <a:ext cx="1803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7 fail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993D1C-69FA-2B12-7C1F-76D5F33DDB1F}"/>
              </a:ext>
            </a:extLst>
          </p:cNvPr>
          <p:cNvSpPr txBox="1"/>
          <p:nvPr/>
        </p:nvSpPr>
        <p:spPr>
          <a:xfrm>
            <a:off x="7188200" y="3708400"/>
            <a:ext cx="18034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Fail rate 11.11%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CB162F7-46C4-4A3B-3F9C-1AA4C1B6FFA3}"/>
              </a:ext>
            </a:extLst>
          </p:cNvPr>
          <p:cNvSpPr/>
          <p:nvPr/>
        </p:nvSpPr>
        <p:spPr>
          <a:xfrm>
            <a:off x="9296400" y="3022600"/>
            <a:ext cx="2286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882014E-74B5-2F92-459C-6D1B3372C216}"/>
              </a:ext>
            </a:extLst>
          </p:cNvPr>
          <p:cNvSpPr/>
          <p:nvPr/>
        </p:nvSpPr>
        <p:spPr>
          <a:xfrm>
            <a:off x="9296400" y="3022600"/>
            <a:ext cx="101600" cy="10414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3EAAA4-F14C-673A-AFDB-C7B90D813B79}"/>
              </a:ext>
            </a:extLst>
          </p:cNvPr>
          <p:cNvSpPr txBox="1"/>
          <p:nvPr/>
        </p:nvSpPr>
        <p:spPr>
          <a:xfrm>
            <a:off x="9550400" y="3251200"/>
            <a:ext cx="19304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4 live issues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DB23AA-1CCC-E44C-7754-7EB6E5BC4065}"/>
              </a:ext>
            </a:extLst>
          </p:cNvPr>
          <p:cNvSpPr txBox="1"/>
          <p:nvPr/>
        </p:nvSpPr>
        <p:spPr>
          <a:xfrm>
            <a:off x="9550400" y="3708400"/>
            <a:ext cx="1930400" cy="543739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Confirmed defects in GitHub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F6125BD-BE0A-4F25-7D7E-1D9920D8DF1E}"/>
              </a:ext>
            </a:extLst>
          </p:cNvPr>
          <p:cNvSpPr/>
          <p:nvPr/>
        </p:nvSpPr>
        <p:spPr>
          <a:xfrm>
            <a:off x="6934200" y="4318000"/>
            <a:ext cx="46482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200">
                <a:solidFill>
                  <a:srgbClr val="182438"/>
                </a:solidFill>
                <a:latin typeface="Segoe UI" panose="020B0502040204020203" pitchFamily="34" charset="0"/>
              </a:rPr>
              <a:t>Interface view
- Admin UI: 41 executed
- API: 19 executed and fully passed
- Public UI: 3 executed
Interpretation
100% execution proves coverage, not defect-free behavior.</a:t>
            </a:r>
          </a:p>
        </p:txBody>
      </p:sp>
    </p:spTree>
    <p:extLst>
      <p:ext uri="{BB962C8B-B14F-4D97-AF65-F5344CB8AC3E}">
        <p14:creationId xmlns:p14="http://schemas.microsoft.com/office/powerpoint/2010/main" val="3454684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A66ABB-2CEE-9747-6A63-9B33979E30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A237A-2819-556C-45F5-6B4FF97FA434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52F79-736C-91CA-FEF3-8BA9E4AD7134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079D9"/>
                </a:solidFill>
                <a:latin typeface="Segoe UI" panose="020B0502040204020203" pitchFamily="34" charset="0"/>
              </a:rPr>
              <a:t>08  Defect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80DDD-8987-090A-E81D-DA641F4025D6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Defects Are Logged, Reproduced, And Linked To Live Issues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1692F-308C-37AA-E588-78F1932678A2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The submission now includes visible issue-tracker evidence with severity and priority, which is a direct grading requirement.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843DFA-0647-E230-78BF-DAEFF405912E}"/>
              </a:ext>
            </a:extLst>
          </p:cNvPr>
          <p:cNvSpPr/>
          <p:nvPr/>
        </p:nvSpPr>
        <p:spPr>
          <a:xfrm>
            <a:off x="609600" y="1828800"/>
            <a:ext cx="5384800" cy="421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8AA70D-37BB-1C33-9726-BA3D7E8B5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930400"/>
            <a:ext cx="5181600" cy="3759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CC6F4F-972E-C2F5-8800-ABCD6542A8DD}"/>
              </a:ext>
            </a:extLst>
          </p:cNvPr>
          <p:cNvSpPr txBox="1"/>
          <p:nvPr/>
        </p:nvSpPr>
        <p:spPr>
          <a:xfrm>
            <a:off x="711200" y="5715000"/>
            <a:ext cx="51816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Representative GitHub issue with visible labels, severity, and priority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5557E2E-9D98-4786-4C3E-FE30306B219B}"/>
              </a:ext>
            </a:extLst>
          </p:cNvPr>
          <p:cNvSpPr/>
          <p:nvPr/>
        </p:nvSpPr>
        <p:spPr>
          <a:xfrm>
            <a:off x="6299200" y="1828800"/>
            <a:ext cx="52832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200">
                <a:solidFill>
                  <a:srgbClr val="182438"/>
                </a:solidFill>
                <a:latin typeface="Segoe UI" panose="020B0502040204020203" pitchFamily="34" charset="0"/>
              </a:rPr>
              <a:t>BUG-20260406-001  #1
Invoices  |  Sev High  |  Pri High
Open - Confirmed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712448-C7B5-A01B-A2EE-70AD51927C83}"/>
              </a:ext>
            </a:extLst>
          </p:cNvPr>
          <p:cNvSpPr/>
          <p:nvPr/>
        </p:nvSpPr>
        <p:spPr>
          <a:xfrm>
            <a:off x="6299200" y="2844800"/>
            <a:ext cx="52832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200">
                <a:solidFill>
                  <a:srgbClr val="182438"/>
                </a:solidFill>
                <a:latin typeface="Segoe UI" panose="020B0502040204020203" pitchFamily="34" charset="0"/>
              </a:rPr>
              <a:t>BUG-20260411-002  #2
Purchases  |  Sev Medium  |  Pri Medium
Open - Confirmed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C8B1DC-397F-763F-A2D0-7CB07FCB7804}"/>
              </a:ext>
            </a:extLst>
          </p:cNvPr>
          <p:cNvSpPr/>
          <p:nvPr/>
        </p:nvSpPr>
        <p:spPr>
          <a:xfrm>
            <a:off x="6299200" y="3860800"/>
            <a:ext cx="52832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200">
                <a:solidFill>
                  <a:srgbClr val="182438"/>
                </a:solidFill>
                <a:latin typeface="Segoe UI" panose="020B0502040204020203" pitchFamily="34" charset="0"/>
              </a:rPr>
              <a:t>BUG-20260411-003  #3
Product Import  |  Sev High  |  Pri High
Open - Confirmed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7322F6-A4B6-1E20-E538-BE3A91F1EFF7}"/>
              </a:ext>
            </a:extLst>
          </p:cNvPr>
          <p:cNvSpPr/>
          <p:nvPr/>
        </p:nvSpPr>
        <p:spPr>
          <a:xfrm>
            <a:off x="6299200" y="4876800"/>
            <a:ext cx="52832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77800" rIns="177800" bIns="177800" rtlCol="0" anchor="ctr"/>
          <a:lstStyle/>
          <a:p>
            <a:r>
              <a:rPr lang="en-US" sz="1200">
                <a:solidFill>
                  <a:srgbClr val="182438"/>
                </a:solidFill>
                <a:latin typeface="Segoe UI" panose="020B0502040204020203" pitchFamily="34" charset="0"/>
              </a:rPr>
              <a:t>BUG-20260411-004  #4
Invoices  |  Sev High  |  Pri High
Open - Confirmed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40B4B1-08DF-2073-447E-766F21E4DEDB}"/>
              </a:ext>
            </a:extLst>
          </p:cNvPr>
          <p:cNvSpPr txBox="1"/>
          <p:nvPr/>
        </p:nvSpPr>
        <p:spPr>
          <a:xfrm>
            <a:off x="6299200" y="5892800"/>
            <a:ext cx="52832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200">
                <a:solidFill>
                  <a:srgbClr val="58647D"/>
                </a:solidFill>
                <a:latin typeface="Segoe UI" panose="020B0502040204020203" pitchFamily="34" charset="0"/>
              </a:rPr>
              <a:t>All four confirmed defects were rerun on 2026-04-11 and still reproduced, so the current issue state remains open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15228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921CAD-D789-8BB5-C6CE-014BB6E800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8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EC3E10-C396-8C09-6E30-32A99225A721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688F9-AD73-676D-F73C-260FE0AD888A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6A398"/>
                </a:solidFill>
                <a:latin typeface="Segoe UI" panose="020B0502040204020203" pitchFamily="34" charset="0"/>
              </a:rPr>
              <a:t>09  Final 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546C8-BBE6-5805-B146-8406FD7901C2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Bahnschrift SemiBold" panose="020B0502040204020203" pitchFamily="34" charset="0"/>
              </a:rPr>
              <a:t>What Is Proven Today, And What Still Needs Code Fixes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0F706-D487-7854-477D-5065DD0EC48E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DBEEFF"/>
                </a:solidFill>
                <a:latin typeface="Segoe UI" panose="020B0502040204020203" pitchFamily="34" charset="0"/>
              </a:rPr>
              <a:t>The final assessment is intentionally split between what the evidence proves now and what depends on future product changes.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58F9B1-70BB-4322-4F20-D112A31E64D8}"/>
              </a:ext>
            </a:extLst>
          </p:cNvPr>
          <p:cNvSpPr/>
          <p:nvPr/>
        </p:nvSpPr>
        <p:spPr>
          <a:xfrm>
            <a:off x="609600" y="1879600"/>
            <a:ext cx="5105400" cy="26162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2A7F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Proven today
- strong traceability from scenario to issue tracker
- 63 / 63 cases executed with 0 Not Run
- automation demonstrates both pass and fail evidence
- packaging is reviewable and evidence-first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7D0E01-12CA-6124-1BF4-20FEFDD9E75E}"/>
              </a:ext>
            </a:extLst>
          </p:cNvPr>
          <p:cNvSpPr/>
          <p:nvPr/>
        </p:nvSpPr>
        <p:spPr>
          <a:xfrm>
            <a:off x="6350000" y="1879600"/>
            <a:ext cx="5232400" cy="2616200"/>
          </a:xfrm>
          <a:prstGeom prst="roundRect">
            <a:avLst/>
          </a:prstGeom>
          <a:solidFill>
            <a:srgbClr val="172742"/>
          </a:solidFill>
          <a:ln w="12700">
            <a:solidFill>
              <a:srgbClr val="C43D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r>
              <a:rPr lang="en-US" sz="1500">
                <a:solidFill>
                  <a:srgbClr val="FFFFFF"/>
                </a:solidFill>
                <a:latin typeface="Segoe UI" panose="020B0502040204020203" pitchFamily="34" charset="0"/>
              </a:rPr>
              <a:t>Still open
- 4 product defects remain unresolved
- post-fix retest depends on code fixes
- cross-browser proof is currently limited to the Edge smoke run
- current execution shows stability risks in invoice and import flows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8A6FA3-CF8B-9004-EA17-66FDEF0119CE}"/>
              </a:ext>
            </a:extLst>
          </p:cNvPr>
          <p:cNvSpPr/>
          <p:nvPr/>
        </p:nvSpPr>
        <p:spPr>
          <a:xfrm>
            <a:off x="609600" y="4851400"/>
            <a:ext cx="3454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845D8F-148A-4DCC-5278-6BBC6A977DAC}"/>
              </a:ext>
            </a:extLst>
          </p:cNvPr>
          <p:cNvSpPr/>
          <p:nvPr/>
        </p:nvSpPr>
        <p:spPr>
          <a:xfrm>
            <a:off x="609600" y="4851400"/>
            <a:ext cx="101600" cy="1117600"/>
          </a:xfrm>
          <a:prstGeom prst="roundRect">
            <a:avLst/>
          </a:prstGeom>
          <a:solidFill>
            <a:srgbClr val="C43D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C124BE-4FAA-1778-9843-CA79E8871B8C}"/>
              </a:ext>
            </a:extLst>
          </p:cNvPr>
          <p:cNvSpPr txBox="1"/>
          <p:nvPr/>
        </p:nvSpPr>
        <p:spPr>
          <a:xfrm>
            <a:off x="863600" y="5080000"/>
            <a:ext cx="3098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B371CC-29B2-2387-9EF5-993C578A40CA}"/>
              </a:ext>
            </a:extLst>
          </p:cNvPr>
          <p:cNvSpPr txBox="1"/>
          <p:nvPr/>
        </p:nvSpPr>
        <p:spPr>
          <a:xfrm>
            <a:off x="863600" y="5537200"/>
            <a:ext cx="3098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Fix invoice create and invoice cancel first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515D5D-D67E-150E-B094-C3B327807A8C}"/>
              </a:ext>
            </a:extLst>
          </p:cNvPr>
          <p:cNvSpPr/>
          <p:nvPr/>
        </p:nvSpPr>
        <p:spPr>
          <a:xfrm>
            <a:off x="4368800" y="4851400"/>
            <a:ext cx="3454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44CE78-A705-D2BD-784C-9EBF33BE77CF}"/>
              </a:ext>
            </a:extLst>
          </p:cNvPr>
          <p:cNvSpPr/>
          <p:nvPr/>
        </p:nvSpPr>
        <p:spPr>
          <a:xfrm>
            <a:off x="4368800" y="4851400"/>
            <a:ext cx="101600" cy="11176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2FB296-6F70-3EDD-5DDB-11CCF027C029}"/>
              </a:ext>
            </a:extLst>
          </p:cNvPr>
          <p:cNvSpPr txBox="1"/>
          <p:nvPr/>
        </p:nvSpPr>
        <p:spPr>
          <a:xfrm>
            <a:off x="4622800" y="5080000"/>
            <a:ext cx="3098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466D23-A2E7-1702-164F-06F3D2755780}"/>
              </a:ext>
            </a:extLst>
          </p:cNvPr>
          <p:cNvSpPr txBox="1"/>
          <p:nvPr/>
        </p:nvSpPr>
        <p:spPr>
          <a:xfrm>
            <a:off x="4622800" y="5537200"/>
            <a:ext cx="3098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Fix purchase validation and import confirm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6EB4CE1-F54E-5F30-3454-2ACEAEA4B017}"/>
              </a:ext>
            </a:extLst>
          </p:cNvPr>
          <p:cNvSpPr/>
          <p:nvPr/>
        </p:nvSpPr>
        <p:spPr>
          <a:xfrm>
            <a:off x="8128000" y="4851400"/>
            <a:ext cx="34544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7792413-67B4-2AAC-26C0-B4058E9B861A}"/>
              </a:ext>
            </a:extLst>
          </p:cNvPr>
          <p:cNvSpPr/>
          <p:nvPr/>
        </p:nvSpPr>
        <p:spPr>
          <a:xfrm>
            <a:off x="8128000" y="4851400"/>
            <a:ext cx="101600" cy="1117600"/>
          </a:xfrm>
          <a:prstGeom prst="roundRect">
            <a:avLst/>
          </a:prstGeom>
          <a:solidFill>
            <a:srgbClr val="16A39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0CAFD4-64DB-88F2-27AF-E617B7406D47}"/>
              </a:ext>
            </a:extLst>
          </p:cNvPr>
          <p:cNvSpPr txBox="1"/>
          <p:nvPr/>
        </p:nvSpPr>
        <p:spPr>
          <a:xfrm>
            <a:off x="8382000" y="5080000"/>
            <a:ext cx="3098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F0B97C-8B45-42B8-C2CD-936DCAC56CE9}"/>
              </a:ext>
            </a:extLst>
          </p:cNvPr>
          <p:cNvSpPr txBox="1"/>
          <p:nvPr/>
        </p:nvSpPr>
        <p:spPr>
          <a:xfrm>
            <a:off x="8382000" y="5537200"/>
            <a:ext cx="3098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Rerun failed cases and attach post-fix evidence</a:t>
            </a:r>
          </a:p>
        </p:txBody>
      </p:sp>
    </p:spTree>
    <p:extLst>
      <p:ext uri="{BB962C8B-B14F-4D97-AF65-F5344CB8AC3E}">
        <p14:creationId xmlns:p14="http://schemas.microsoft.com/office/powerpoint/2010/main" val="2865631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319138-D1B5-302C-6A03-7DBC36FC82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24B546-5563-0D36-9A7D-0FF817AB8C2B}"/>
              </a:ext>
            </a:extLst>
          </p:cNvPr>
          <p:cNvSpPr/>
          <p:nvPr/>
        </p:nvSpPr>
        <p:spPr>
          <a:xfrm>
            <a:off x="609600" y="406400"/>
            <a:ext cx="457200" cy="76200"/>
          </a:xfrm>
          <a:prstGeom prst="rect">
            <a:avLst/>
          </a:prstGeom>
          <a:solidFill>
            <a:srgbClr val="107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889C8-5816-262F-E3C9-E189608F2289}"/>
              </a:ext>
            </a:extLst>
          </p:cNvPr>
          <p:cNvSpPr txBox="1"/>
          <p:nvPr/>
        </p:nvSpPr>
        <p:spPr>
          <a:xfrm>
            <a:off x="609600" y="508000"/>
            <a:ext cx="24130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 b="1">
                <a:solidFill>
                  <a:srgbClr val="1079D9"/>
                </a:solidFill>
                <a:latin typeface="Segoe UI" panose="020B0502040204020203" pitchFamily="34" charset="0"/>
              </a:rPr>
              <a:t>10  Q&amp;A Backup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2F312-BECD-086D-A97B-AC715A9175B3}"/>
              </a:ext>
            </a:extLst>
          </p:cNvPr>
          <p:cNvSpPr txBox="1"/>
          <p:nvPr/>
        </p:nvSpPr>
        <p:spPr>
          <a:xfrm>
            <a:off x="609600" y="838200"/>
            <a:ext cx="10972800" cy="574516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2400" b="1">
                <a:solidFill>
                  <a:srgbClr val="182438"/>
                </a:solidFill>
                <a:latin typeface="Bahnschrift SemiBold" panose="020B0502040204020203" pitchFamily="34" charset="0"/>
              </a:rPr>
              <a:t>Short Answers For The Most Likely Review Questions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C0553-2A56-E26C-1C46-65DA3FCE1D60}"/>
              </a:ext>
            </a:extLst>
          </p:cNvPr>
          <p:cNvSpPr txBox="1"/>
          <p:nvPr/>
        </p:nvSpPr>
        <p:spPr>
          <a:xfrm>
            <a:off x="609600" y="1549400"/>
            <a:ext cx="10972800" cy="374461"/>
          </a:xfrm>
          <a:prstGeom prst="rect">
            <a:avLst/>
          </a:prstGeom>
          <a:noFill/>
        </p:spPr>
        <p:txBody>
          <a:bodyPr vert="horz" wrap="square" lIns="101600" tIns="101600" rIns="101600" bIns="101600" rtlCol="0">
            <a:spAutoFit/>
          </a:bodyPr>
          <a:lstStyle/>
          <a:p>
            <a:r>
              <a:rPr lang="en-US" sz="1100">
                <a:solidFill>
                  <a:srgbClr val="58647D"/>
                </a:solidFill>
                <a:latin typeface="Segoe UI" panose="020B0502040204020203" pitchFamily="34" charset="0"/>
              </a:rPr>
              <a:t>This backup slide exists to keep the live defense calm, concrete, and evidence-based.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5557B1-13A1-A20D-2E55-F50E960F408C}"/>
              </a:ext>
            </a:extLst>
          </p:cNvPr>
          <p:cNvSpPr/>
          <p:nvPr/>
        </p:nvSpPr>
        <p:spPr>
          <a:xfrm>
            <a:off x="609600" y="1854200"/>
            <a:ext cx="109728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Q1. Why do 7 failed cases map to 4 defects?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88470D-5F4E-5527-5057-3531D0BF6001}"/>
              </a:ext>
            </a:extLst>
          </p:cNvPr>
          <p:cNvSpPr/>
          <p:nvPr/>
        </p:nvSpPr>
        <p:spPr>
          <a:xfrm>
            <a:off x="609600" y="2667000"/>
            <a:ext cx="109728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Q2. How do you distinguish automation failure from product defect?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D3E7B0-6063-3B5F-5EA9-85B03BBF3A5A}"/>
              </a:ext>
            </a:extLst>
          </p:cNvPr>
          <p:cNvSpPr/>
          <p:nvPr/>
        </p:nvSpPr>
        <p:spPr>
          <a:xfrm>
            <a:off x="609600" y="3479800"/>
            <a:ext cx="109728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Q3. Why does 100% execution not mean a stable product?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4993E6-7854-6C17-D267-8B49C85F7217}"/>
              </a:ext>
            </a:extLst>
          </p:cNvPr>
          <p:cNvSpPr/>
          <p:nvPr/>
        </p:nvSpPr>
        <p:spPr>
          <a:xfrm>
            <a:off x="609600" y="4292600"/>
            <a:ext cx="109728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Q4. Which module is riskiest right now?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9358D5-BBAD-580E-E067-658F2B42604D}"/>
              </a:ext>
            </a:extLst>
          </p:cNvPr>
          <p:cNvSpPr/>
          <p:nvPr/>
        </p:nvSpPr>
        <p:spPr>
          <a:xfrm>
            <a:off x="609600" y="5105400"/>
            <a:ext cx="109728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ctr"/>
          <a:lstStyle/>
          <a:p>
            <a:r>
              <a:rPr lang="en-US" sz="1500">
                <a:solidFill>
                  <a:srgbClr val="182438"/>
                </a:solidFill>
                <a:latin typeface="Segoe UI" panose="020B0502040204020203" pitchFamily="34" charset="0"/>
              </a:rPr>
              <a:t>Q5. What is the first post-fix retest priority?</a:t>
            </a:r>
          </a:p>
        </p:txBody>
      </p:sp>
    </p:spTree>
    <p:extLst>
      <p:ext uri="{BB962C8B-B14F-4D97-AF65-F5344CB8AC3E}">
        <p14:creationId xmlns:p14="http://schemas.microsoft.com/office/powerpoint/2010/main" val="2660982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</Words>
  <Application>Microsoft Office PowerPoint</Application>
  <PresentationFormat>Custom</PresentationFormat>
  <Paragraphs>139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Bahnschrift SemiBold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Thiên Hoàng</dc:creator>
  <cp:lastModifiedBy>Thiên Hoàng</cp:lastModifiedBy>
  <cp:revision>1</cp:revision>
  <dcterms:created xsi:type="dcterms:W3CDTF">2026-04-11T16:16:33Z</dcterms:created>
  <dcterms:modified xsi:type="dcterms:W3CDTF">2026-04-11T16:16:33Z</dcterms:modified>
</cp:coreProperties>
</file>