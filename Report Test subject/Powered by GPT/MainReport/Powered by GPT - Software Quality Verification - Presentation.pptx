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6" d="100"/>
          <a:sy n="36" d="100"/>
        </p:scale>
        <p:origin x="4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80FD3-02D3-8B67-B71A-4185FBF1F3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6A3DAE-3CCE-EC37-8855-BCDBA7FA3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7FB60E-C5D3-278C-6299-5D22CCF32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23BCF-2D48-CCC5-A143-132CEF0D4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ACB4C-5391-1C8A-03E7-1F1CF7C8D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5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D6FAA-562D-3013-E9B2-4C5C954D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E37C7-6EFF-D902-EEE9-81BBB0C27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68C37E-4068-74F2-13AA-C5A7281C0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63376-719F-1A15-617B-0E0F3067C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A8BFD-B81A-AE3F-DD73-5324314FF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083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43191-4FF3-9FDD-752D-A60BE1705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572574-D79F-2F48-488C-B6783054A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A2FB0-DC4D-C29D-F5A3-0F0BC7F9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4A414D-FE4A-EB1D-3062-19C7E3717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713F8-4CE8-6AB1-7367-F2A5F1D63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534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D8C7-FC8E-8B1B-5B1A-32B0CC86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1F35B-2CAB-7D20-A163-500FFCA98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52D7C-8521-467C-FB9F-9BAB4929C2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B065C-D45F-EBDB-C6DA-8E38B0035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475A9-9968-2625-9DA7-C9B16AC3F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C1E542-28AB-2829-89DE-8E2DCC33C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27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F2513-D0CE-8229-AA36-2BEDDC9AF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328BC2-8D03-EB3B-65AC-29CD5F184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52A4B5-F7D9-E2C8-EF25-5A3D0100C8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95CE6A-D87D-EA35-3F9E-26197F4052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DB4343-86B1-C0E5-EF71-621D0C5AC0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B12B65-731C-C8B4-C671-66B5A8841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A4E9BE-CF36-C6F2-D81F-E1CCDE8AE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D86055-3636-DE9D-1B7E-7AB150B0E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9276-7387-5771-452D-5A838C86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FE7F6D-D7F5-6F9F-C5FC-10C11DAE2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5B7BD8-DC03-5264-E3AB-E29D9FAEB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A55A7E-9A0A-48F0-C93F-8F42948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46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BB42C0-D8C3-7E0B-3EDC-AE5EB2B65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4CBED-660F-8B61-BE55-FDA5CEBA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9B8C6E-A9ED-F316-A543-3089ECCBC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8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82BCC-E633-0A93-B9BB-447D09B4A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52B76-7632-AE79-96E6-5A3769514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2C4384-427A-A88A-1670-6451A00B7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6E704C-2B76-BD07-0BAA-D05B4C4B1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35E8C9-C8E0-2598-B743-B953BFE08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B9E6EE-C54F-C483-C595-1735DF9C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790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9015C-8C73-BEA8-2993-EF71CD648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2DC32A-FA7B-A3C7-7D05-6F2DA2075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EE5989-5BAF-96DA-DF70-50E5176FA9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BAB4D4-D955-D021-5B1F-DFE65AAFD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20030-38DA-E5F0-922A-96349FCBF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9E3A48-CE79-4042-FA76-09891BDA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1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52CF5-9D62-DDB0-C153-53CEE07AD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489C40-802C-63AD-349C-4F011D8933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A704E-94F7-5B40-842B-793273005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8687F-0587-5758-0D4D-4365DEE7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7E263-25E1-58E9-3312-EB0353CC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29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E88423-5E87-7289-27E8-9F9AD2CBB4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8DC8F3-B7B1-5C39-28BA-BADED5F8D0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2590E-B070-0F12-6A95-03CDB6267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47DE2-9236-B673-47DD-3ED09F645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CE497-49F6-0F13-0B20-2DD437AA2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51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72F610-6535-A9BB-95A5-909029D55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70BE92-6812-C256-B5AD-7A6446D6C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34F58-C233-D171-182F-6E5E29CE8C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FBE4F-525F-44CD-BC5F-F1D6017AEA63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CE58B9-AA2F-C9D6-C93E-486B5F38DB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49B7CA-E9E3-4E2F-4DF7-23289C896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C3688-BAAA-4754-AAD6-035CCC7868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4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8244C-9BD7-8256-3DAA-54CFEE0F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Powered by GPT - Software Quality Verification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31125C-A993-59A4-B3D3-D2B05B71D799}"/>
              </a:ext>
            </a:extLst>
          </p:cNvPr>
          <p:cNvSpPr txBox="1"/>
          <p:nvPr/>
        </p:nvSpPr>
        <p:spPr>
          <a:xfrm>
            <a:off x="698500" y="1587500"/>
            <a:ext cx="6604000" cy="34778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System Under Test: Online Sales Management System</a:t>
            </a:r>
          </a:p>
          <a:p>
            <a:r>
              <a:rPr lang="en-US" sz="2200">
                <a:latin typeface="Aptos" panose="020B0004020202020204" pitchFamily="34" charset="0"/>
              </a:rPr>
              <a:t>Course: Software Testing</a:t>
            </a:r>
          </a:p>
          <a:p>
            <a:r>
              <a:rPr lang="en-US" sz="2200">
                <a:latin typeface="Aptos" panose="020B0004020202020204" pitchFamily="34" charset="0"/>
              </a:rPr>
              <a:t>Team:</a:t>
            </a:r>
          </a:p>
          <a:p>
            <a:r>
              <a:rPr lang="en-US" sz="2200">
                <a:latin typeface="Aptos" panose="020B0004020202020204" pitchFamily="34" charset="0"/>
              </a:rPr>
              <a:t>Hoang Van Thien</a:t>
            </a:r>
          </a:p>
          <a:p>
            <a:r>
              <a:rPr lang="en-US" sz="2200">
                <a:latin typeface="Aptos" panose="020B0004020202020204" pitchFamily="34" charset="0"/>
              </a:rPr>
              <a:t>Nguyen Thanh Dat</a:t>
            </a:r>
          </a:p>
          <a:p>
            <a:r>
              <a:rPr lang="en-US" sz="2200">
                <a:latin typeface="Aptos" panose="020B0004020202020204" pitchFamily="34" charset="0"/>
              </a:rPr>
              <a:t>Le Quang Duy</a:t>
            </a:r>
          </a:p>
          <a:p>
            <a:r>
              <a:rPr lang="en-US" sz="2200">
                <a:latin typeface="Aptos" panose="020B0004020202020204" pitchFamily="34" charset="0"/>
              </a:rPr>
              <a:t>Repository:</a:t>
            </a:r>
          </a:p>
          <a:p>
            <a:r>
              <a:rPr lang="en-US" sz="2200">
                <a:latin typeface="Aptos" panose="020B0004020202020204" pitchFamily="34" charset="0"/>
              </a:rPr>
              <a:t>github.com/Alucard30Dec/Online-Sales-Management-System</a:t>
            </a:r>
          </a:p>
        </p:txBody>
      </p:sp>
    </p:spTree>
    <p:extLst>
      <p:ext uri="{BB962C8B-B14F-4D97-AF65-F5344CB8AC3E}">
        <p14:creationId xmlns:p14="http://schemas.microsoft.com/office/powerpoint/2010/main" val="2188262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2C008-1CEB-7B59-92BB-9561B558C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Project And Test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5E86C-58CF-9DCE-1E19-8701F86F89C3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What We Tested</a:t>
            </a:r>
          </a:p>
          <a:p>
            <a:r>
              <a:rPr lang="en-US" sz="2200">
                <a:latin typeface="Aptos" panose="020B0004020202020204" pitchFamily="34" charset="0"/>
              </a:rPr>
              <a:t>Admin UI</a:t>
            </a:r>
          </a:p>
          <a:p>
            <a:r>
              <a:rPr lang="en-US" sz="2200">
                <a:latin typeface="Aptos" panose="020B0004020202020204" pitchFamily="34" charset="0"/>
              </a:rPr>
              <a:t>Public Product Catalog</a:t>
            </a:r>
          </a:p>
          <a:p>
            <a:r>
              <a:rPr lang="en-US" sz="2200">
                <a:latin typeface="Aptos" panose="020B0004020202020204" pitchFamily="34" charset="0"/>
              </a:rPr>
              <a:t>Health API</a:t>
            </a:r>
          </a:p>
          <a:p>
            <a:r>
              <a:rPr lang="en-US" sz="2200">
                <a:latin typeface="Aptos" panose="020B0004020202020204" pitchFamily="34" charset="0"/>
              </a:rPr>
              <a:t>Catalog API</a:t>
            </a:r>
          </a:p>
          <a:p>
            <a:r>
              <a:rPr lang="en-US" sz="2200">
                <a:latin typeface="Aptos" panose="020B0004020202020204" pitchFamily="34" charset="0"/>
              </a:rPr>
              <a:t>Highest-Risk Business Areas</a:t>
            </a:r>
          </a:p>
          <a:p>
            <a:r>
              <a:rPr lang="en-US" sz="2200">
                <a:latin typeface="Aptos" panose="020B0004020202020204" pitchFamily="34" charset="0"/>
              </a:rPr>
              <a:t>Authentication and permissions</a:t>
            </a:r>
          </a:p>
          <a:p>
            <a:r>
              <a:rPr lang="en-US" sz="2200">
                <a:latin typeface="Aptos" panose="020B0004020202020204" pitchFamily="34" charset="0"/>
              </a:rPr>
              <a:t>Products and product import</a:t>
            </a:r>
          </a:p>
          <a:p>
            <a:r>
              <a:rPr lang="en-US" sz="2200">
                <a:latin typeface="Aptos" panose="020B0004020202020204" pitchFamily="34" charset="0"/>
              </a:rPr>
              <a:t>Purchases</a:t>
            </a:r>
          </a:p>
          <a:p>
            <a:r>
              <a:rPr lang="en-US" sz="2200">
                <a:latin typeface="Aptos" panose="020B0004020202020204" pitchFamily="34" charset="0"/>
              </a:rPr>
              <a:t>Invoices</a:t>
            </a:r>
          </a:p>
          <a:p>
            <a:r>
              <a:rPr lang="en-US" sz="2200">
                <a:latin typeface="Aptos" panose="020B0004020202020204" pitchFamily="34" charset="0"/>
              </a:rPr>
              <a:t>Stock and reports</a:t>
            </a:r>
          </a:p>
        </p:txBody>
      </p:sp>
    </p:spTree>
    <p:extLst>
      <p:ext uri="{BB962C8B-B14F-4D97-AF65-F5344CB8AC3E}">
        <p14:creationId xmlns:p14="http://schemas.microsoft.com/office/powerpoint/2010/main" val="3348047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91FC-CC81-BEBC-90DF-0087BE77E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Test Strategy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CCB6B7-5A0A-E7A9-1339-7E696B57A259}"/>
              </a:ext>
            </a:extLst>
          </p:cNvPr>
          <p:cNvSpPr txBox="1"/>
          <p:nvPr/>
        </p:nvSpPr>
        <p:spPr>
          <a:xfrm>
            <a:off x="698500" y="1587500"/>
            <a:ext cx="6604000" cy="41549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Strategy</a:t>
            </a:r>
          </a:p>
          <a:p>
            <a:r>
              <a:rPr lang="en-US" sz="2200">
                <a:latin typeface="Aptos" panose="020B0004020202020204" pitchFamily="34" charset="0"/>
              </a:rPr>
              <a:t>source-based project audit, not generic template testing</a:t>
            </a:r>
          </a:p>
          <a:p>
            <a:r>
              <a:rPr lang="en-US" sz="2200">
                <a:latin typeface="Aptos" panose="020B0004020202020204" pitchFamily="34" charset="0"/>
              </a:rPr>
              <a:t>black-box execution + white-box-informed test design</a:t>
            </a:r>
          </a:p>
          <a:p>
            <a:r>
              <a:rPr lang="en-US" sz="2200">
                <a:latin typeface="Aptos" panose="020B0004020202020204" pitchFamily="34" charset="0"/>
              </a:rPr>
              <a:t>manual testing for business logic and visible validation</a:t>
            </a:r>
          </a:p>
          <a:p>
            <a:r>
              <a:rPr lang="en-US" sz="2200">
                <a:latin typeface="Aptos" panose="020B0004020202020204" pitchFamily="34" charset="0"/>
              </a:rPr>
              <a:t>targeted automation for high-value regression paths</a:t>
            </a:r>
          </a:p>
          <a:p>
            <a:r>
              <a:rPr lang="en-US" sz="2200">
                <a:latin typeface="Aptos" panose="020B0004020202020204" pitchFamily="34" charset="0"/>
              </a:rPr>
              <a:t>Automation Stack</a:t>
            </a:r>
          </a:p>
          <a:p>
            <a:r>
              <a:rPr lang="en-US" sz="2200">
                <a:latin typeface="Aptos" panose="020B0004020202020204" pitchFamily="34" charset="0"/>
              </a:rPr>
              <a:t>UI: .NET 8 + xUnit + Selenium</a:t>
            </a:r>
          </a:p>
          <a:p>
            <a:r>
              <a:rPr lang="en-US" sz="2200">
                <a:latin typeface="Aptos" panose="020B0004020202020204" pitchFamily="34" charset="0"/>
              </a:rPr>
              <a:t>API: Postman + Newman</a:t>
            </a:r>
          </a:p>
          <a:p>
            <a:r>
              <a:rPr lang="en-US" sz="2200">
                <a:latin typeface="Aptos" panose="020B0004020202020204" pitchFamily="34" charset="0"/>
              </a:rPr>
              <a:t>structure: Page Object Model + reusable helpers</a:t>
            </a:r>
          </a:p>
        </p:txBody>
      </p:sp>
    </p:spTree>
    <p:extLst>
      <p:ext uri="{BB962C8B-B14F-4D97-AF65-F5344CB8AC3E}">
        <p14:creationId xmlns:p14="http://schemas.microsoft.com/office/powerpoint/2010/main" val="290097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1A15-1565-9202-834D-D9854FEF4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Coverage And Team Allocation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7C4F58-0FAF-ED46-7795-B41CC09F9DE9}"/>
              </a:ext>
            </a:extLst>
          </p:cNvPr>
          <p:cNvSpPr txBox="1"/>
          <p:nvPr/>
        </p:nvSpPr>
        <p:spPr>
          <a:xfrm>
            <a:off x="698500" y="1587500"/>
            <a:ext cx="6604000" cy="34778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Design Coverage</a:t>
            </a:r>
          </a:p>
          <a:p>
            <a:r>
              <a:rPr lang="en-US" sz="2200">
                <a:latin typeface="Aptos" panose="020B0004020202020204" pitchFamily="34" charset="0"/>
              </a:rPr>
              <a:t>42 documented scenarios</a:t>
            </a:r>
          </a:p>
          <a:p>
            <a:r>
              <a:rPr lang="en-US" sz="2200">
                <a:latin typeface="Aptos" panose="020B0004020202020204" pitchFamily="34" charset="0"/>
              </a:rPr>
              <a:t>63 total test cases</a:t>
            </a:r>
          </a:p>
          <a:p>
            <a:r>
              <a:rPr lang="en-US" sz="2200">
                <a:latin typeface="Aptos" panose="020B0004020202020204" pitchFamily="34" charset="0"/>
              </a:rPr>
              <a:t>44 UI</a:t>
            </a:r>
          </a:p>
          <a:p>
            <a:r>
              <a:rPr lang="en-US" sz="2200">
                <a:latin typeface="Aptos" panose="020B0004020202020204" pitchFamily="34" charset="0"/>
              </a:rPr>
              <a:t>19 API</a:t>
            </a:r>
          </a:p>
          <a:p>
            <a:r>
              <a:rPr lang="en-US" sz="2200">
                <a:latin typeface="Aptos" panose="020B0004020202020204" pitchFamily="34" charset="0"/>
              </a:rPr>
              <a:t>100% scenario design coverage</a:t>
            </a:r>
          </a:p>
          <a:p>
            <a:r>
              <a:rPr lang="en-US" sz="2200">
                <a:latin typeface="Aptos" panose="020B0004020202020204" pitchFamily="34" charset="0"/>
              </a:rPr>
              <a:t>Team Allocation</a:t>
            </a:r>
          </a:p>
          <a:p>
            <a:r>
              <a:rPr lang="en-US" sz="2200">
                <a:latin typeface="Aptos" panose="020B0004020202020204" pitchFamily="34" charset="0"/>
              </a:rPr>
              <a:t>Hoang Van Thien: 17 UI cases</a:t>
            </a:r>
          </a:p>
          <a:p>
            <a:r>
              <a:rPr lang="en-US" sz="2200">
                <a:latin typeface="Aptos" panose="020B0004020202020204" pitchFamily="34" charset="0"/>
              </a:rPr>
              <a:t>Nguyen Thanh Dat: 13 UI cases</a:t>
            </a:r>
          </a:p>
          <a:p>
            <a:r>
              <a:rPr lang="en-US" sz="2200">
                <a:latin typeface="Aptos" panose="020B0004020202020204" pitchFamily="34" charset="0"/>
              </a:rPr>
              <a:t>Le Quang Duy: 14 UI cases</a:t>
            </a:r>
          </a:p>
        </p:txBody>
      </p:sp>
    </p:spTree>
    <p:extLst>
      <p:ext uri="{BB962C8B-B14F-4D97-AF65-F5344CB8AC3E}">
        <p14:creationId xmlns:p14="http://schemas.microsoft.com/office/powerpoint/2010/main" val="2430374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54A98-6817-DB7D-26DF-598DF128B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Automation Implementation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ACDB2-AC86-27B1-0F6B-DB1632ADA767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Implemented Automation Assets</a:t>
            </a:r>
          </a:p>
          <a:p>
            <a:r>
              <a:rPr lang="en-US" sz="2200">
                <a:latin typeface="Aptos" panose="020B0004020202020204" pitchFamily="34" charset="0"/>
              </a:rPr>
              <a:t>Selenium UI project with Page Objects</a:t>
            </a:r>
          </a:p>
          <a:p>
            <a:r>
              <a:rPr lang="en-US" sz="2200">
                <a:latin typeface="Aptos" panose="020B0004020202020204" pitchFamily="34" charset="0"/>
              </a:rPr>
              <a:t>shared config, wait helpers, screenshot capture</a:t>
            </a:r>
          </a:p>
          <a:p>
            <a:r>
              <a:rPr lang="en-US" sz="2200">
                <a:latin typeface="Aptos" panose="020B0004020202020204" pitchFamily="34" charset="0"/>
              </a:rPr>
              <a:t>Postman collection with Newman runner</a:t>
            </a:r>
          </a:p>
          <a:p>
            <a:r>
              <a:rPr lang="en-US" sz="2200">
                <a:latin typeface="Aptos" panose="020B0004020202020204" pitchFamily="34" charset="0"/>
              </a:rPr>
              <a:t>Priority Automated Flows</a:t>
            </a:r>
          </a:p>
          <a:p>
            <a:r>
              <a:rPr lang="en-US" sz="2200">
                <a:latin typeface="Aptos" panose="020B0004020202020204" pitchFamily="34" charset="0"/>
              </a:rPr>
              <a:t>admin login smoke</a:t>
            </a:r>
          </a:p>
          <a:p>
            <a:r>
              <a:rPr lang="en-US" sz="2200">
                <a:latin typeface="Aptos" panose="020B0004020202020204" pitchFamily="34" charset="0"/>
              </a:rPr>
              <a:t>sales permission check</a:t>
            </a:r>
          </a:p>
          <a:p>
            <a:r>
              <a:rPr lang="en-US" sz="2200">
                <a:latin typeface="Aptos" panose="020B0004020202020204" pitchFamily="34" charset="0"/>
              </a:rPr>
              <a:t>purchase creation</a:t>
            </a:r>
          </a:p>
          <a:p>
            <a:r>
              <a:rPr lang="en-US" sz="2200">
                <a:latin typeface="Aptos" panose="020B0004020202020204" pitchFamily="34" charset="0"/>
              </a:rPr>
              <a:t>invoice creation</a:t>
            </a:r>
          </a:p>
          <a:p>
            <a:r>
              <a:rPr lang="en-US" sz="2200">
                <a:latin typeface="Aptos" panose="020B0004020202020204" pitchFamily="34" charset="0"/>
              </a:rPr>
              <a:t>product import preview</a:t>
            </a:r>
          </a:p>
          <a:p>
            <a:r>
              <a:rPr lang="en-US" sz="2200">
                <a:latin typeface="Aptos" panose="020B0004020202020204" pitchFamily="34" charset="0"/>
              </a:rPr>
              <a:t>API health and catalog groups</a:t>
            </a:r>
          </a:p>
        </p:txBody>
      </p:sp>
    </p:spTree>
    <p:extLst>
      <p:ext uri="{BB962C8B-B14F-4D97-AF65-F5344CB8AC3E}">
        <p14:creationId xmlns:p14="http://schemas.microsoft.com/office/powerpoint/2010/main" val="1735533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F66A7-F397-B717-3D6D-6F40155E9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Real Execution Evidence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CF45FB-02E0-F405-7DD0-650D7223C70B}"/>
              </a:ext>
            </a:extLst>
          </p:cNvPr>
          <p:cNvSpPr txBox="1"/>
          <p:nvPr/>
        </p:nvSpPr>
        <p:spPr>
          <a:xfrm>
            <a:off x="698500" y="1587500"/>
            <a:ext cx="6604000" cy="686341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Confirmed Pass Evidence</a:t>
            </a:r>
          </a:p>
          <a:p>
            <a:r>
              <a:rPr lang="en-US" sz="2200">
                <a:latin typeface="Aptos" panose="020B0004020202020204" pitchFamily="34" charset="0"/>
              </a:rPr>
              <a:t>TC-UI-AUTH-001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TC-UI-AUTH-003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TC-UI-IMP-002 passed</a:t>
            </a:r>
          </a:p>
          <a:p>
            <a:r>
              <a:rPr lang="en-US" sz="2200">
                <a:latin typeface="Aptos" panose="020B0004020202020204" pitchFamily="34" charset="0"/>
              </a:rPr>
              <a:t>TC-UI-PUR-001 and TC-UI-PUR-007 passed</a:t>
            </a:r>
          </a:p>
          <a:p>
            <a:r>
              <a:rPr lang="en-US" sz="2200">
                <a:latin typeface="Aptos" panose="020B0004020202020204" pitchFamily="34" charset="0"/>
              </a:rPr>
              <a:t>extended reruns now also pass admin-user, customer, report, stock, and public-catalog flows</a:t>
            </a:r>
          </a:p>
          <a:p>
            <a:r>
              <a:rPr lang="en-US" sz="2200">
                <a:latin typeface="Aptos" panose="020B0004020202020204" pitchFamily="34" charset="0"/>
              </a:rPr>
              <a:t>full API collection passed (19 / 19)</a:t>
            </a:r>
          </a:p>
          <a:p>
            <a:r>
              <a:rPr lang="en-US" sz="2200">
                <a:latin typeface="Aptos" panose="020B0004020202020204" pitchFamily="34" charset="0"/>
              </a:rPr>
              <a:t>Confirmed Fail Evidence</a:t>
            </a:r>
          </a:p>
          <a:p>
            <a:r>
              <a:rPr lang="en-US" sz="2200">
                <a:latin typeface="Aptos" panose="020B0004020202020204" pitchFamily="34" charset="0"/>
              </a:rPr>
              <a:t>TC-UI-INV-001, TC-UI-INV-003, and TC-UI-INV-006 fail from the same invoice-create defect</a:t>
            </a:r>
          </a:p>
          <a:p>
            <a:r>
              <a:rPr lang="en-US" sz="2200">
                <a:latin typeface="Aptos" panose="020B0004020202020204" pitchFamily="34" charset="0"/>
              </a:rPr>
              <a:t>TC-UI-INV-005 fails in invoice cancellation</a:t>
            </a:r>
          </a:p>
          <a:p>
            <a:r>
              <a:rPr lang="en-US" sz="2200">
                <a:latin typeface="Aptos" panose="020B0004020202020204" pitchFamily="34" charset="0"/>
              </a:rPr>
              <a:t>TC-UI-IMP-003 fails in import confirm</a:t>
            </a:r>
          </a:p>
          <a:p>
            <a:r>
              <a:rPr lang="en-US" sz="2200">
                <a:latin typeface="Aptos" panose="020B0004020202020204" pitchFamily="34" charset="0"/>
              </a:rPr>
              <a:t>TC-UI-PUR-002 and TC-UI-PUR-003 fail on blank validation banners</a:t>
            </a:r>
          </a:p>
          <a:p>
            <a:r>
              <a:rPr lang="en-US" sz="2200">
                <a:latin typeface="Aptos" panose="020B0004020202020204" pitchFamily="34" charset="0"/>
              </a:rPr>
              <a:t>Important Rule</a:t>
            </a:r>
          </a:p>
          <a:p>
            <a:r>
              <a:rPr lang="en-US" sz="2200">
                <a:latin typeface="Aptos" panose="020B0004020202020204" pitchFamily="34" charset="0"/>
              </a:rPr>
              <a:t>no unexecuted test was marked as pass</a:t>
            </a:r>
          </a:p>
          <a:p>
            <a:r>
              <a:rPr lang="en-US" sz="2200">
                <a:latin typeface="Aptos" panose="020B0004020202020204" pitchFamily="34" charset="0"/>
              </a:rPr>
              <a:t>UI suite no longer contains Not Run</a:t>
            </a:r>
          </a:p>
          <a:p>
            <a:r>
              <a:rPr lang="en-US" sz="2200">
                <a:latin typeface="Aptos" panose="020B0004020202020204" pitchFamily="34" charset="0"/>
              </a:rPr>
              <a:t>4 confirmed defects are recorded, and 1 of them is already tracked in GitHub Issue #1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5D2A37-1DC0-0D28-C2CD-9D7DE2B2C33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625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FC688-8595-E50F-A64F-D6CEA3CDB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Current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B45B0-AA15-16D5-C5DE-ECAEA16F3399}"/>
              </a:ext>
            </a:extLst>
          </p:cNvPr>
          <p:cNvSpPr txBox="1"/>
          <p:nvPr/>
        </p:nvSpPr>
        <p:spPr>
          <a:xfrm>
            <a:off x="698500" y="1587500"/>
            <a:ext cx="6604000" cy="41549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Execution Summary As Of 2026-04-11</a:t>
            </a:r>
          </a:p>
          <a:p>
            <a:r>
              <a:rPr lang="en-US" sz="2200">
                <a:latin typeface="Aptos" panose="020B0004020202020204" pitchFamily="34" charset="0"/>
              </a:rPr>
              <a:t>total cases: 63</a:t>
            </a:r>
          </a:p>
          <a:p>
            <a:r>
              <a:rPr lang="en-US" sz="2200">
                <a:latin typeface="Aptos" panose="020B0004020202020204" pitchFamily="34" charset="0"/>
              </a:rPr>
              <a:t>executed: 63</a:t>
            </a:r>
          </a:p>
          <a:p>
            <a:r>
              <a:rPr lang="en-US" sz="2200">
                <a:latin typeface="Aptos" panose="020B0004020202020204" pitchFamily="34" charset="0"/>
              </a:rPr>
              <a:t>pass: 56</a:t>
            </a:r>
          </a:p>
          <a:p>
            <a:r>
              <a:rPr lang="en-US" sz="2200">
                <a:latin typeface="Aptos" panose="020B0004020202020204" pitchFamily="34" charset="0"/>
              </a:rPr>
              <a:t>fail: 7</a:t>
            </a:r>
          </a:p>
          <a:p>
            <a:r>
              <a:rPr lang="en-US" sz="2200">
                <a:latin typeface="Aptos" panose="020B0004020202020204" pitchFamily="34" charset="0"/>
              </a:rPr>
              <a:t>blocked: 0</a:t>
            </a:r>
          </a:p>
          <a:p>
            <a:r>
              <a:rPr lang="en-US" sz="2200">
                <a:latin typeface="Aptos" panose="020B0004020202020204" pitchFamily="34" charset="0"/>
              </a:rPr>
              <a:t>not run: 0</a:t>
            </a:r>
          </a:p>
          <a:p>
            <a:r>
              <a:rPr lang="en-US" sz="2200">
                <a:latin typeface="Aptos" panose="020B0004020202020204" pitchFamily="34" charset="0"/>
              </a:rPr>
              <a:t>execution progress: 100%</a:t>
            </a:r>
          </a:p>
          <a:p>
            <a:r>
              <a:rPr lang="en-US" sz="2200">
                <a:latin typeface="Aptos" panose="020B0004020202020204" pitchFamily="34" charset="0"/>
              </a:rPr>
              <a:t>Interface View</a:t>
            </a:r>
          </a:p>
          <a:p>
            <a:r>
              <a:rPr lang="en-US" sz="2200">
                <a:latin typeface="Aptos" panose="020B0004020202020204" pitchFamily="34" charset="0"/>
              </a:rPr>
              <a:t>Admin UI: 41 executed, 34 pass, 7 fail</a:t>
            </a:r>
          </a:p>
          <a:p>
            <a:r>
              <a:rPr lang="en-US" sz="2200">
                <a:latin typeface="Aptos" panose="020B0004020202020204" pitchFamily="34" charset="0"/>
              </a:rPr>
              <a:t>API: 19 executed, 19 pass</a:t>
            </a:r>
          </a:p>
          <a:p>
            <a:r>
              <a:rPr lang="en-US" sz="2200">
                <a:latin typeface="Aptos" panose="020B0004020202020204" pitchFamily="34" charset="0"/>
              </a:rPr>
              <a:t>Public UI: 3 executed, 3 pass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C9AD9A-6B39-CC2E-7C83-151BC9613C7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942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CA892-B45B-0F8A-1CA2-3A2EC578B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Defect And Risk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0F001-E8C6-AA0A-E638-C1BB7522C81E}"/>
              </a:ext>
            </a:extLst>
          </p:cNvPr>
          <p:cNvSpPr txBox="1"/>
          <p:nvPr/>
        </p:nvSpPr>
        <p:spPr>
          <a:xfrm>
            <a:off x="698500" y="1587500"/>
            <a:ext cx="6604000" cy="65248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4 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BUG-20260406-001 invoice-create defect, tracked in GitHub Issue #1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BUG-20260411-002 purchase validation banner defect, tracked in GitHub Issue #2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BUG-20260411-003 import-confirm defect, tracked in GitHub Issue #3</a:t>
            </a:r>
          </a:p>
          <a:p>
            <a:r>
              <a:rPr lang="en-US" sz="2200">
                <a:latin typeface="Aptos" panose="020B0004020202020204" pitchFamily="34" charset="0"/>
              </a:rPr>
              <a:t>BUG-20260411-004 invoice-cancel defect, tracked in GitHub Issue #4</a:t>
            </a:r>
          </a:p>
          <a:p>
            <a:r>
              <a:rPr lang="en-US" sz="2200">
                <a:latin typeface="Aptos" panose="020B0004020202020204" pitchFamily="34" charset="0"/>
              </a:rPr>
              <a:t>Closed Observations</a:t>
            </a:r>
          </a:p>
          <a:p>
            <a:r>
              <a:rPr lang="en-US" sz="2200">
                <a:latin typeface="Aptos" panose="020B0004020202020204" pitchFamily="34" charset="0"/>
              </a:rPr>
              <a:t>authorization redirect behavior</a:t>
            </a:r>
          </a:p>
          <a:p>
            <a:r>
              <a:rPr lang="en-US" sz="2200">
                <a:latin typeface="Aptos" panose="020B0004020202020204" pitchFamily="34" charset="0"/>
              </a:rPr>
              <a:t>product import preview locator issue</a:t>
            </a:r>
          </a:p>
          <a:p>
            <a:r>
              <a:rPr lang="en-US" sz="2200">
                <a:latin typeface="Aptos" panose="020B0004020202020204" pitchFamily="34" charset="0"/>
              </a:rPr>
              <a:t>Highest Remaining Risks</a:t>
            </a:r>
          </a:p>
          <a:p>
            <a:r>
              <a:rPr lang="en-US" sz="2200">
                <a:latin typeface="Aptos" panose="020B0004020202020204" pitchFamily="34" charset="0"/>
              </a:rPr>
              <a:t>unresolved invoice create and cancel flows</a:t>
            </a:r>
          </a:p>
          <a:p>
            <a:r>
              <a:rPr lang="en-US" sz="2200">
                <a:latin typeface="Aptos" panose="020B0004020202020204" pitchFamily="34" charset="0"/>
              </a:rPr>
              <a:t>purchase validation rendering defect</a:t>
            </a:r>
          </a:p>
          <a:p>
            <a:r>
              <a:rPr lang="en-US" sz="2200">
                <a:latin typeface="Aptos" panose="020B0004020202020204" pitchFamily="34" charset="0"/>
              </a:rPr>
              <a:t>import-confirm defect after valid preview</a:t>
            </a:r>
          </a:p>
          <a:p>
            <a:r>
              <a:rPr lang="en-US" sz="2200">
                <a:latin typeface="Aptos" panose="020B0004020202020204" pitchFamily="34" charset="0"/>
              </a:rPr>
              <a:t>focused retests on 2026-04-11 still reproduced all four confirmed defects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2750B-A52D-C0BF-9204-B3C0F8619A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0" y="1524000"/>
            <a:ext cx="78740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03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AF54F-04AA-435D-BF6E-FC37C257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Key Insights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DEEBF5-FC5B-7CB6-9013-BDEE5D7FD34E}"/>
              </a:ext>
            </a:extLst>
          </p:cNvPr>
          <p:cNvSpPr txBox="1"/>
          <p:nvPr/>
        </p:nvSpPr>
        <p:spPr>
          <a:xfrm>
            <a:off x="698500" y="1587500"/>
            <a:ext cx="6604000" cy="38164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What We Can Defend</a:t>
            </a:r>
          </a:p>
          <a:p>
            <a:r>
              <a:rPr lang="en-US" sz="2200">
                <a:latin typeface="Aptos" panose="020B0004020202020204" pitchFamily="34" charset="0"/>
              </a:rPr>
              <a:t>project is testable and automation-capable</a:t>
            </a:r>
          </a:p>
          <a:p>
            <a:r>
              <a:rPr lang="en-US" sz="2200">
                <a:latin typeface="Aptos" panose="020B0004020202020204" pitchFamily="34" charset="0"/>
              </a:rPr>
              <a:t>source-based test design is strong</a:t>
            </a:r>
          </a:p>
          <a:p>
            <a:r>
              <a:rPr lang="en-US" sz="2200">
                <a:latin typeface="Aptos" panose="020B0004020202020204" pitchFamily="34" charset="0"/>
              </a:rPr>
              <a:t>traceability from scenario -&gt; test case -&gt; result -&gt; evidence -&gt; defect is in place</a:t>
            </a:r>
          </a:p>
          <a:p>
            <a:r>
              <a:rPr lang="en-US" sz="2200">
                <a:latin typeface="Aptos" panose="020B0004020202020204" pitchFamily="34" charset="0"/>
              </a:rPr>
              <a:t>What We Do Not Overclaim</a:t>
            </a:r>
          </a:p>
          <a:p>
            <a:r>
              <a:rPr lang="en-US" sz="2200">
                <a:latin typeface="Aptos" panose="020B0004020202020204" pitchFamily="34" charset="0"/>
              </a:rPr>
              <a:t>current evidence still does not prove full system stability</a:t>
            </a:r>
          </a:p>
          <a:p>
            <a:r>
              <a:rPr lang="en-US" sz="2200">
                <a:latin typeface="Aptos" panose="020B0004020202020204" pitchFamily="34" charset="0"/>
              </a:rPr>
              <a:t>four confirmed defects are currently open</a:t>
            </a:r>
          </a:p>
          <a:p>
            <a:r>
              <a:rPr lang="en-US" sz="2200">
                <a:latin typeface="Aptos" panose="020B0004020202020204" pitchFamily="34" charset="0"/>
              </a:rPr>
              <a:t>post-fix retest after actual fixes is still required for maximum confidence</a:t>
            </a:r>
          </a:p>
        </p:txBody>
      </p:sp>
    </p:spTree>
    <p:extLst>
      <p:ext uri="{BB962C8B-B14F-4D97-AF65-F5344CB8AC3E}">
        <p14:creationId xmlns:p14="http://schemas.microsoft.com/office/powerpoint/2010/main" val="695518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A89B8-4324-C820-937C-383653501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Next Steps And Submission Package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AB199C-FB36-8509-E9CE-54045E8CAAD7}"/>
              </a:ext>
            </a:extLst>
          </p:cNvPr>
          <p:cNvSpPr txBox="1"/>
          <p:nvPr/>
        </p:nvSpPr>
        <p:spPr>
          <a:xfrm>
            <a:off x="698500" y="1587500"/>
            <a:ext cx="6604000" cy="65248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Highest-Value Next Steps</a:t>
            </a:r>
          </a:p>
          <a:p>
            <a:r>
              <a:rPr lang="en-US" sz="2200">
                <a:latin typeface="Aptos" panose="020B0004020202020204" pitchFamily="34" charset="0"/>
              </a:rPr>
              <a:t>1. fix and retest invoice creation through GitHub Issue #1</a:t>
            </a:r>
          </a:p>
          <a:p>
            <a:r>
              <a:rPr lang="en-US" sz="2200">
                <a:latin typeface="Aptos" panose="020B0004020202020204" pitchFamily="34" charset="0"/>
              </a:rPr>
              <a:t>2. fix and retest purchase validation, import confirm, and invoice cancellation after fixes are available</a:t>
            </a:r>
          </a:p>
          <a:p>
            <a:r>
              <a:rPr lang="en-US" sz="2200">
                <a:latin typeface="Aptos" panose="020B0004020202020204" pitchFamily="34" charset="0"/>
              </a:rPr>
              <a:t>3. add post-fix pass evidence for all confirmed defects</a:t>
            </a:r>
          </a:p>
          <a:p>
            <a:r>
              <a:rPr lang="en-US" sz="2200">
                <a:latin typeface="Aptos" panose="020B0004020202020204" pitchFamily="34" charset="0"/>
              </a:rPr>
              <a:t>4. expand cross-browser proof beyond the current Edge smoke evidence if time permits</a:t>
            </a:r>
          </a:p>
          <a:p>
            <a:r>
              <a:rPr lang="en-US" sz="2200">
                <a:latin typeface="Aptos" panose="020B0004020202020204" pitchFamily="34" charset="0"/>
              </a:rPr>
              <a:t>Submission Package</a:t>
            </a:r>
          </a:p>
          <a:p>
            <a:r>
              <a:rPr lang="en-US" sz="2200">
                <a:latin typeface="Aptos" panose="020B0004020202020204" pitchFamily="34" charset="0"/>
              </a:rPr>
              <a:t>Final report</a:t>
            </a:r>
          </a:p>
          <a:p>
            <a:r>
              <a:rPr lang="en-US" sz="2200">
                <a:latin typeface="Aptos" panose="020B0004020202020204" pitchFamily="34" charset="0"/>
              </a:rPr>
              <a:t>PPTX</a:t>
            </a:r>
          </a:p>
          <a:p>
            <a:r>
              <a:rPr lang="en-US" sz="2200">
                <a:latin typeface="Aptos" panose="020B0004020202020204" pitchFamily="34" charset="0"/>
              </a:rPr>
              <a:t>test cases</a:t>
            </a:r>
          </a:p>
          <a:p>
            <a:r>
              <a:rPr lang="en-US" sz="2200">
                <a:latin typeface="Aptos" panose="020B0004020202020204" pitchFamily="34" charset="0"/>
              </a:rPr>
              <a:t>test data</a:t>
            </a:r>
          </a:p>
          <a:p>
            <a:r>
              <a:rPr lang="en-US" sz="2200">
                <a:latin typeface="Aptos" panose="020B0004020202020204" pitchFamily="34" charset="0"/>
              </a:rPr>
              <a:t>automation scripts</a:t>
            </a:r>
          </a:p>
          <a:p>
            <a:r>
              <a:rPr lang="en-US" sz="2200">
                <a:latin typeface="Aptos" panose="020B0004020202020204" pitchFamily="34" charset="0"/>
              </a:rPr>
              <a:t>final results</a:t>
            </a:r>
          </a:p>
          <a:p>
            <a:r>
              <a:rPr lang="en-US" sz="2200">
                <a:latin typeface="Aptos" panose="020B0004020202020204" pitchFamily="34" charset="0"/>
              </a:rPr>
              <a:t>metrics</a:t>
            </a:r>
          </a:p>
          <a:p>
            <a:r>
              <a:rPr lang="en-US" sz="2200">
                <a:latin typeface="Aptos" panose="020B0004020202020204" pitchFamily="34" charset="0"/>
              </a:rPr>
              <a:t>evidence</a:t>
            </a:r>
          </a:p>
          <a:p>
            <a:r>
              <a:rPr lang="en-US" sz="2200">
                <a:latin typeface="Aptos" panose="020B0004020202020204" pitchFamily="34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42093947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BE16-B74F-CF0F-B9B9-CF9BBC998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>
                <a:latin typeface="Aptos Display" panose="020B0004020202020204" pitchFamily="34" charset="0"/>
              </a:rPr>
              <a:t>Q&amp;A Backup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1DE0A-E756-CF07-5742-6139F79078C2}"/>
              </a:ext>
            </a:extLst>
          </p:cNvPr>
          <p:cNvSpPr txBox="1"/>
          <p:nvPr/>
        </p:nvSpPr>
        <p:spPr>
          <a:xfrm>
            <a:off x="698500" y="1587500"/>
            <a:ext cx="6604000" cy="246221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>
                <a:latin typeface="Aptos" panose="020B0004020202020204" pitchFamily="34" charset="0"/>
              </a:rPr>
              <a:t>Likely Questions</a:t>
            </a:r>
          </a:p>
          <a:p>
            <a:r>
              <a:rPr lang="en-US" sz="2200">
                <a:latin typeface="Aptos" panose="020B0004020202020204" pitchFamily="34" charset="0"/>
              </a:rPr>
              <a:t>Why do you have 4 confirmed defects?</a:t>
            </a:r>
          </a:p>
          <a:p>
            <a:r>
              <a:rPr lang="en-US" sz="2200">
                <a:latin typeface="Aptos" panose="020B0004020202020204" pitchFamily="34" charset="0"/>
              </a:rPr>
              <a:t>Why is execution progress now 100%?</a:t>
            </a:r>
          </a:p>
          <a:p>
            <a:r>
              <a:rPr lang="en-US" sz="2200">
                <a:latin typeface="Aptos" panose="020B0004020202020204" pitchFamily="34" charset="0"/>
              </a:rPr>
              <a:t>Why did you choose Selenium and Newman?</a:t>
            </a:r>
          </a:p>
          <a:p>
            <a:r>
              <a:rPr lang="en-US" sz="2200">
                <a:latin typeface="Aptos" panose="020B0004020202020204" pitchFamily="34" charset="0"/>
              </a:rPr>
              <a:t>How do you distinguish automation failure from product defect?</a:t>
            </a:r>
          </a:p>
          <a:p>
            <a:r>
              <a:rPr lang="en-US" sz="2200">
                <a:latin typeface="Aptos" panose="020B0004020202020204" pitchFamily="34" charset="0"/>
              </a:rPr>
              <a:t>Which module is riskiest right now?</a:t>
            </a:r>
          </a:p>
        </p:txBody>
      </p:sp>
    </p:spTree>
    <p:extLst>
      <p:ext uri="{BB962C8B-B14F-4D97-AF65-F5344CB8AC3E}">
        <p14:creationId xmlns:p14="http://schemas.microsoft.com/office/powerpoint/2010/main" val="2865944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Microsoft Office PowerPoint</Application>
  <PresentationFormat>Widescreen</PresentationFormat>
  <Paragraphs>131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Powered by GPT - Software Quality Verification</vt:lpstr>
      <vt:lpstr>Project And Test Scope</vt:lpstr>
      <vt:lpstr>Test Strategy</vt:lpstr>
      <vt:lpstr>Coverage And Team Allocation</vt:lpstr>
      <vt:lpstr>Automation Implementation</vt:lpstr>
      <vt:lpstr>Real Execution Evidence</vt:lpstr>
      <vt:lpstr>Current Metrics</vt:lpstr>
      <vt:lpstr>Defect And Risk Analysis</vt:lpstr>
      <vt:lpstr>Key Insights</vt:lpstr>
      <vt:lpstr>Next Steps And Submission Package</vt:lpstr>
      <vt:lpstr>Q&amp;A Backup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Thiên Hoàng</dc:creator>
  <cp:lastModifiedBy>Thiên Hoàng</cp:lastModifiedBy>
  <cp:revision>1</cp:revision>
  <dcterms:created xsi:type="dcterms:W3CDTF">2026-04-11T14:45:19Z</dcterms:created>
  <dcterms:modified xsi:type="dcterms:W3CDTF">2026-04-11T14:45:19Z</dcterms:modified>
</cp:coreProperties>
</file>