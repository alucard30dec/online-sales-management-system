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6" d="100"/>
          <a:sy n="36" d="100"/>
        </p:scale>
        <p:origin x="48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F2F33-6FE6-AC06-BDE5-153B5B1FDD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9375CB-FE86-C419-FCC6-8FD4A23DEB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83F34-F8FA-1283-18CF-4AAA476C4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2CFBE-E2A3-4D0D-AC42-676856CBE8FF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CB9D0-E704-4481-E56F-9D389CA5A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DF922-C136-4C67-DFF7-05F97C7D9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641DF-BBFB-4415-A959-2AE3777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057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7E6E6-44F2-8545-4A82-75FB795F8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3F5D0F-E0C4-39A4-EAF3-AFD9DC2638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EF94A2-2A19-494B-19A0-CFDFFF8AA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2CFBE-E2A3-4D0D-AC42-676856CBE8FF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EFC5CD-60C4-82AB-CC90-21887BE84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1E159-9279-8CB4-C78A-B0C97803F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641DF-BBFB-4415-A959-2AE3777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896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3C548-9992-7AEC-FB1E-4C22AE76C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0E1B3-824C-58BD-AE6E-954ED7B2B3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11C1E4-BA34-4EC1-C694-D901AA4CC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2CFBE-E2A3-4D0D-AC42-676856CBE8FF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DF9C7-04B1-FCD3-EC07-942E0DDA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8D549D-F223-58AE-2C33-047B08E0D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641DF-BBFB-4415-A959-2AE3777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976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214C0-7DDC-2547-1E5E-4ECDD0BF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2BFAE-95F8-8CB9-D0B9-B8A529FB12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D8A6D8-C6A1-9499-2C25-9097BF2EB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E3D635-C642-D571-424A-4A11A1E26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2CFBE-E2A3-4D0D-AC42-676856CBE8FF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99CC4-D8A4-01AC-8004-DEC0D2DF8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CDA1D3-51FE-115D-308A-7D5EACED0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641DF-BBFB-4415-A959-2AE3777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7417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E15A9-0B84-C4BC-6A62-7FBC55003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9F7972-E74F-CCB7-1414-A478F6BBAD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AF5B6A-CBD3-DC7E-3C05-BE593650A6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4A6D93-F6A6-2E66-C6B3-275310B1E4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9054A6-4511-0ACF-6BDA-B0E759FA0B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2B6F2A-E40F-CF98-E826-05CE67F92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2CFBE-E2A3-4D0D-AC42-676856CBE8FF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295A94-A09D-6BBC-8E92-768B62437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8278A4-58EC-F6F5-D523-284577AB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641DF-BBFB-4415-A959-2AE3777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381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76C8A-AA36-8124-355F-63374FCD9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3CE494-1D5A-3370-AD28-4F0EE3819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2CFBE-E2A3-4D0D-AC42-676856CBE8FF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CB9BB2-BC75-870B-28CC-D376E2802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3BB3BC-B547-E1BA-F268-7526AD523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641DF-BBFB-4415-A959-2AE3777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389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288F58-A5CD-FB56-2B17-8BD46580E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2CFBE-E2A3-4D0D-AC42-676856CBE8FF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6FAE9F-078C-4AFD-09C1-269634E5A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D4DCB-1A94-3697-006A-4793C6160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641DF-BBFB-4415-A959-2AE3777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268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217FB-AAC6-6511-444D-E3660E8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079D9-4839-A8C9-2776-D2FB30633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17F120-87A8-A980-40CC-16F7C2B53E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E42A45-537E-E35F-4B4A-E42E21D55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2CFBE-E2A3-4D0D-AC42-676856CBE8FF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1D6729-3726-A43E-8D64-EE7CF9B7C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80F1C4-A659-F47D-90C7-B795502A1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641DF-BBFB-4415-A959-2AE3777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107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F4605-78C4-3595-9689-9D6C61D93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E6BE18-A072-1C17-E9D0-F29719D321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59E428-0D19-87E4-D78B-C403C21366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7D1AC1-9CA8-0832-C6DF-2E304532D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2CFBE-E2A3-4D0D-AC42-676856CBE8FF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EEEEF-6D19-E947-54CC-B7E1D5DFE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989F2-22EF-F5C9-9FC6-C7CFB01E5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641DF-BBFB-4415-A959-2AE3777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917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716A3-48CA-5A64-F7CF-157187F20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2CD575-07D1-8B59-348A-EB6F956AE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70B5EB-E3B3-1B02-6329-3EA1AC39E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2CFBE-E2A3-4D0D-AC42-676856CBE8FF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80389B-D38B-CFCD-2664-57748124F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E4A8D-193E-8A0A-F38F-3D763E0D6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641DF-BBFB-4415-A959-2AE3777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7517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8BB281-AEF7-8ADF-8586-B1D9FD6D19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5598F0-F36D-5E90-2BBC-7003A5F5AE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278CE-8D46-EAE7-A8A7-4D29C112B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2CFBE-E2A3-4D0D-AC42-676856CBE8FF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D5BD82-F280-638C-4597-74C28A62C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9489B-2216-3EDE-CE92-72B27CEAF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641DF-BBFB-4415-A959-2AE3777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7163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D51573-3759-1B82-2BB0-40990D443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39DE2A-7C16-66D0-BA1C-6262D2095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FAE4ED-1736-8E12-D5D1-D4EA851B0B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32CFBE-E2A3-4D0D-AC42-676856CBE8FF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7A06D8-F3CA-D772-74CD-BD08041797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262B38-440F-6225-93B4-171DBB3EDA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D641DF-BBFB-4415-A959-2AE3777557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145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7B214-115D-15B0-C1C3-B7F320BC0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Powered by GPT - Software Quality Verification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C3695E-0E6C-B03A-D460-0521DCAE7FEB}"/>
              </a:ext>
            </a:extLst>
          </p:cNvPr>
          <p:cNvSpPr txBox="1"/>
          <p:nvPr/>
        </p:nvSpPr>
        <p:spPr>
          <a:xfrm>
            <a:off x="698500" y="1587500"/>
            <a:ext cx="6604000" cy="34778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System Under Test: Online Sales Management System</a:t>
            </a:r>
          </a:p>
          <a:p>
            <a:r>
              <a:rPr lang="en-US" sz="2200">
                <a:latin typeface="Aptos" panose="020B0004020202020204" pitchFamily="34" charset="0"/>
              </a:rPr>
              <a:t>Course: Software Testing</a:t>
            </a:r>
          </a:p>
          <a:p>
            <a:r>
              <a:rPr lang="en-US" sz="2200">
                <a:latin typeface="Aptos" panose="020B0004020202020204" pitchFamily="34" charset="0"/>
              </a:rPr>
              <a:t>Team:</a:t>
            </a:r>
          </a:p>
          <a:p>
            <a:r>
              <a:rPr lang="en-US" sz="2200">
                <a:latin typeface="Aptos" panose="020B0004020202020204" pitchFamily="34" charset="0"/>
              </a:rPr>
              <a:t>Hoang Van Thien</a:t>
            </a:r>
          </a:p>
          <a:p>
            <a:r>
              <a:rPr lang="en-US" sz="2200">
                <a:latin typeface="Aptos" panose="020B0004020202020204" pitchFamily="34" charset="0"/>
              </a:rPr>
              <a:t>Nguyen Thanh Dat</a:t>
            </a:r>
          </a:p>
          <a:p>
            <a:r>
              <a:rPr lang="en-US" sz="2200">
                <a:latin typeface="Aptos" panose="020B0004020202020204" pitchFamily="34" charset="0"/>
              </a:rPr>
              <a:t>Le Quang Duy</a:t>
            </a:r>
          </a:p>
          <a:p>
            <a:r>
              <a:rPr lang="en-US" sz="2200">
                <a:latin typeface="Aptos" panose="020B0004020202020204" pitchFamily="34" charset="0"/>
              </a:rPr>
              <a:t>Repository:</a:t>
            </a:r>
          </a:p>
          <a:p>
            <a:r>
              <a:rPr lang="en-US" sz="2200">
                <a:latin typeface="Aptos" panose="020B0004020202020204" pitchFamily="34" charset="0"/>
              </a:rPr>
              <a:t>github.com/Alucard30Dec/Online-Sales-Management-System</a:t>
            </a:r>
          </a:p>
        </p:txBody>
      </p:sp>
    </p:spTree>
    <p:extLst>
      <p:ext uri="{BB962C8B-B14F-4D97-AF65-F5344CB8AC3E}">
        <p14:creationId xmlns:p14="http://schemas.microsoft.com/office/powerpoint/2010/main" val="14530234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A9DF-A40E-A48A-457D-A334FFA90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Project And Test 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0462C-9FDB-F7BF-3FAA-590972E2E012}"/>
              </a:ext>
            </a:extLst>
          </p:cNvPr>
          <p:cNvSpPr txBox="1"/>
          <p:nvPr/>
        </p:nvSpPr>
        <p:spPr>
          <a:xfrm>
            <a:off x="698500" y="1587500"/>
            <a:ext cx="6604000" cy="38164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What We Tested</a:t>
            </a:r>
          </a:p>
          <a:p>
            <a:r>
              <a:rPr lang="en-US" sz="2200">
                <a:latin typeface="Aptos" panose="020B0004020202020204" pitchFamily="34" charset="0"/>
              </a:rPr>
              <a:t>Admin UI</a:t>
            </a:r>
          </a:p>
          <a:p>
            <a:r>
              <a:rPr lang="en-US" sz="2200">
                <a:latin typeface="Aptos" panose="020B0004020202020204" pitchFamily="34" charset="0"/>
              </a:rPr>
              <a:t>Public Product Catalog</a:t>
            </a:r>
          </a:p>
          <a:p>
            <a:r>
              <a:rPr lang="en-US" sz="2200">
                <a:latin typeface="Aptos" panose="020B0004020202020204" pitchFamily="34" charset="0"/>
              </a:rPr>
              <a:t>Health API</a:t>
            </a:r>
          </a:p>
          <a:p>
            <a:r>
              <a:rPr lang="en-US" sz="2200">
                <a:latin typeface="Aptos" panose="020B0004020202020204" pitchFamily="34" charset="0"/>
              </a:rPr>
              <a:t>Catalog API</a:t>
            </a:r>
          </a:p>
          <a:p>
            <a:r>
              <a:rPr lang="en-US" sz="2200">
                <a:latin typeface="Aptos" panose="020B0004020202020204" pitchFamily="34" charset="0"/>
              </a:rPr>
              <a:t>Highest-Risk Business Areas</a:t>
            </a:r>
          </a:p>
          <a:p>
            <a:r>
              <a:rPr lang="en-US" sz="2200">
                <a:latin typeface="Aptos" panose="020B0004020202020204" pitchFamily="34" charset="0"/>
              </a:rPr>
              <a:t>Authentication and permissions</a:t>
            </a:r>
          </a:p>
          <a:p>
            <a:r>
              <a:rPr lang="en-US" sz="2200">
                <a:latin typeface="Aptos" panose="020B0004020202020204" pitchFamily="34" charset="0"/>
              </a:rPr>
              <a:t>Products and product import</a:t>
            </a:r>
          </a:p>
          <a:p>
            <a:r>
              <a:rPr lang="en-US" sz="2200">
                <a:latin typeface="Aptos" panose="020B0004020202020204" pitchFamily="34" charset="0"/>
              </a:rPr>
              <a:t>Purchases</a:t>
            </a:r>
          </a:p>
          <a:p>
            <a:r>
              <a:rPr lang="en-US" sz="2200">
                <a:latin typeface="Aptos" panose="020B0004020202020204" pitchFamily="34" charset="0"/>
              </a:rPr>
              <a:t>Invoices</a:t>
            </a:r>
          </a:p>
          <a:p>
            <a:r>
              <a:rPr lang="en-US" sz="2200">
                <a:latin typeface="Aptos" panose="020B0004020202020204" pitchFamily="34" charset="0"/>
              </a:rPr>
              <a:t>Stock and reports</a:t>
            </a:r>
          </a:p>
        </p:txBody>
      </p:sp>
    </p:spTree>
    <p:extLst>
      <p:ext uri="{BB962C8B-B14F-4D97-AF65-F5344CB8AC3E}">
        <p14:creationId xmlns:p14="http://schemas.microsoft.com/office/powerpoint/2010/main" val="3809663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8F396-0A53-254F-0C13-0A7883D81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Test Strategy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F60E0D-4E07-1A73-F14C-A3C9708E648F}"/>
              </a:ext>
            </a:extLst>
          </p:cNvPr>
          <p:cNvSpPr txBox="1"/>
          <p:nvPr/>
        </p:nvSpPr>
        <p:spPr>
          <a:xfrm>
            <a:off x="698500" y="1587500"/>
            <a:ext cx="6604000" cy="415498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Strategy</a:t>
            </a:r>
          </a:p>
          <a:p>
            <a:r>
              <a:rPr lang="en-US" sz="2200">
                <a:latin typeface="Aptos" panose="020B0004020202020204" pitchFamily="34" charset="0"/>
              </a:rPr>
              <a:t>source-based project audit, not generic template testing</a:t>
            </a:r>
          </a:p>
          <a:p>
            <a:r>
              <a:rPr lang="en-US" sz="2200">
                <a:latin typeface="Aptos" panose="020B0004020202020204" pitchFamily="34" charset="0"/>
              </a:rPr>
              <a:t>black-box execution + white-box-informed test design</a:t>
            </a:r>
          </a:p>
          <a:p>
            <a:r>
              <a:rPr lang="en-US" sz="2200">
                <a:latin typeface="Aptos" panose="020B0004020202020204" pitchFamily="34" charset="0"/>
              </a:rPr>
              <a:t>manual testing for business logic and visible validation</a:t>
            </a:r>
          </a:p>
          <a:p>
            <a:r>
              <a:rPr lang="en-US" sz="2200">
                <a:latin typeface="Aptos" panose="020B0004020202020204" pitchFamily="34" charset="0"/>
              </a:rPr>
              <a:t>targeted automation for high-value regression paths</a:t>
            </a:r>
          </a:p>
          <a:p>
            <a:r>
              <a:rPr lang="en-US" sz="2200">
                <a:latin typeface="Aptos" panose="020B0004020202020204" pitchFamily="34" charset="0"/>
              </a:rPr>
              <a:t>Automation Stack</a:t>
            </a:r>
          </a:p>
          <a:p>
            <a:r>
              <a:rPr lang="en-US" sz="2200">
                <a:latin typeface="Aptos" panose="020B0004020202020204" pitchFamily="34" charset="0"/>
              </a:rPr>
              <a:t>UI: .NET 8 + xUnit + Selenium</a:t>
            </a:r>
          </a:p>
          <a:p>
            <a:r>
              <a:rPr lang="en-US" sz="2200">
                <a:latin typeface="Aptos" panose="020B0004020202020204" pitchFamily="34" charset="0"/>
              </a:rPr>
              <a:t>API: Postman + Newman</a:t>
            </a:r>
          </a:p>
          <a:p>
            <a:r>
              <a:rPr lang="en-US" sz="2200">
                <a:latin typeface="Aptos" panose="020B0004020202020204" pitchFamily="34" charset="0"/>
              </a:rPr>
              <a:t>structure: Page Object Model + reusable helpers</a:t>
            </a:r>
          </a:p>
        </p:txBody>
      </p:sp>
    </p:spTree>
    <p:extLst>
      <p:ext uri="{BB962C8B-B14F-4D97-AF65-F5344CB8AC3E}">
        <p14:creationId xmlns:p14="http://schemas.microsoft.com/office/powerpoint/2010/main" val="2834704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EF744-434B-E90E-2D96-25EC26448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Coverage And Team Allocation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01D83D-CFB4-2A44-15C1-C19920C85E84}"/>
              </a:ext>
            </a:extLst>
          </p:cNvPr>
          <p:cNvSpPr txBox="1"/>
          <p:nvPr/>
        </p:nvSpPr>
        <p:spPr>
          <a:xfrm>
            <a:off x="698500" y="1587500"/>
            <a:ext cx="6604000" cy="34778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Design Coverage</a:t>
            </a:r>
          </a:p>
          <a:p>
            <a:r>
              <a:rPr lang="en-US" sz="2200">
                <a:latin typeface="Aptos" panose="020B0004020202020204" pitchFamily="34" charset="0"/>
              </a:rPr>
              <a:t>42 documented scenarios</a:t>
            </a:r>
          </a:p>
          <a:p>
            <a:r>
              <a:rPr lang="en-US" sz="2200">
                <a:latin typeface="Aptos" panose="020B0004020202020204" pitchFamily="34" charset="0"/>
              </a:rPr>
              <a:t>63 total test cases</a:t>
            </a:r>
          </a:p>
          <a:p>
            <a:r>
              <a:rPr lang="en-US" sz="2200">
                <a:latin typeface="Aptos" panose="020B0004020202020204" pitchFamily="34" charset="0"/>
              </a:rPr>
              <a:t>44 UI</a:t>
            </a:r>
          </a:p>
          <a:p>
            <a:r>
              <a:rPr lang="en-US" sz="2200">
                <a:latin typeface="Aptos" panose="020B0004020202020204" pitchFamily="34" charset="0"/>
              </a:rPr>
              <a:t>19 API</a:t>
            </a:r>
          </a:p>
          <a:p>
            <a:r>
              <a:rPr lang="en-US" sz="2200">
                <a:latin typeface="Aptos" panose="020B0004020202020204" pitchFamily="34" charset="0"/>
              </a:rPr>
              <a:t>100% scenario design coverage</a:t>
            </a:r>
          </a:p>
          <a:p>
            <a:r>
              <a:rPr lang="en-US" sz="2200">
                <a:latin typeface="Aptos" panose="020B0004020202020204" pitchFamily="34" charset="0"/>
              </a:rPr>
              <a:t>Team Allocation</a:t>
            </a:r>
          </a:p>
          <a:p>
            <a:r>
              <a:rPr lang="en-US" sz="2200">
                <a:latin typeface="Aptos" panose="020B0004020202020204" pitchFamily="34" charset="0"/>
              </a:rPr>
              <a:t>Hoang Van Thien: 17 UI cases</a:t>
            </a:r>
          </a:p>
          <a:p>
            <a:r>
              <a:rPr lang="en-US" sz="2200">
                <a:latin typeface="Aptos" panose="020B0004020202020204" pitchFamily="34" charset="0"/>
              </a:rPr>
              <a:t>Nguyen Thanh Dat: 13 UI cases</a:t>
            </a:r>
          </a:p>
          <a:p>
            <a:r>
              <a:rPr lang="en-US" sz="2200">
                <a:latin typeface="Aptos" panose="020B0004020202020204" pitchFamily="34" charset="0"/>
              </a:rPr>
              <a:t>Le Quang Duy: 14 UI cases</a:t>
            </a:r>
          </a:p>
        </p:txBody>
      </p:sp>
    </p:spTree>
    <p:extLst>
      <p:ext uri="{BB962C8B-B14F-4D97-AF65-F5344CB8AC3E}">
        <p14:creationId xmlns:p14="http://schemas.microsoft.com/office/powerpoint/2010/main" val="923438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ED03E-764A-2EE0-8249-F0C1CD4B1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Automation Implementation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11F15F-672D-9E74-15B9-189EA45F2438}"/>
              </a:ext>
            </a:extLst>
          </p:cNvPr>
          <p:cNvSpPr txBox="1"/>
          <p:nvPr/>
        </p:nvSpPr>
        <p:spPr>
          <a:xfrm>
            <a:off x="698500" y="1587500"/>
            <a:ext cx="6604000" cy="38164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Implemented Automation Assets</a:t>
            </a:r>
          </a:p>
          <a:p>
            <a:r>
              <a:rPr lang="en-US" sz="2200">
                <a:latin typeface="Aptos" panose="020B0004020202020204" pitchFamily="34" charset="0"/>
              </a:rPr>
              <a:t>Selenium UI project with Page Objects</a:t>
            </a:r>
          </a:p>
          <a:p>
            <a:r>
              <a:rPr lang="en-US" sz="2200">
                <a:latin typeface="Aptos" panose="020B0004020202020204" pitchFamily="34" charset="0"/>
              </a:rPr>
              <a:t>shared config, wait helpers, screenshot capture</a:t>
            </a:r>
          </a:p>
          <a:p>
            <a:r>
              <a:rPr lang="en-US" sz="2200">
                <a:latin typeface="Aptos" panose="020B0004020202020204" pitchFamily="34" charset="0"/>
              </a:rPr>
              <a:t>Postman collection with Newman runner</a:t>
            </a:r>
          </a:p>
          <a:p>
            <a:r>
              <a:rPr lang="en-US" sz="2200">
                <a:latin typeface="Aptos" panose="020B0004020202020204" pitchFamily="34" charset="0"/>
              </a:rPr>
              <a:t>Priority Automated Flows</a:t>
            </a:r>
          </a:p>
          <a:p>
            <a:r>
              <a:rPr lang="en-US" sz="2200">
                <a:latin typeface="Aptos" panose="020B0004020202020204" pitchFamily="34" charset="0"/>
              </a:rPr>
              <a:t>admin login smoke</a:t>
            </a:r>
          </a:p>
          <a:p>
            <a:r>
              <a:rPr lang="en-US" sz="2200">
                <a:latin typeface="Aptos" panose="020B0004020202020204" pitchFamily="34" charset="0"/>
              </a:rPr>
              <a:t>sales permission check</a:t>
            </a:r>
          </a:p>
          <a:p>
            <a:r>
              <a:rPr lang="en-US" sz="2200">
                <a:latin typeface="Aptos" panose="020B0004020202020204" pitchFamily="34" charset="0"/>
              </a:rPr>
              <a:t>purchase creation</a:t>
            </a:r>
          </a:p>
          <a:p>
            <a:r>
              <a:rPr lang="en-US" sz="2200">
                <a:latin typeface="Aptos" panose="020B0004020202020204" pitchFamily="34" charset="0"/>
              </a:rPr>
              <a:t>invoice creation</a:t>
            </a:r>
          </a:p>
          <a:p>
            <a:r>
              <a:rPr lang="en-US" sz="2200">
                <a:latin typeface="Aptos" panose="020B0004020202020204" pitchFamily="34" charset="0"/>
              </a:rPr>
              <a:t>product import preview</a:t>
            </a:r>
          </a:p>
          <a:p>
            <a:r>
              <a:rPr lang="en-US" sz="2200">
                <a:latin typeface="Aptos" panose="020B0004020202020204" pitchFamily="34" charset="0"/>
              </a:rPr>
              <a:t>API health and catalog groups</a:t>
            </a:r>
          </a:p>
        </p:txBody>
      </p:sp>
    </p:spTree>
    <p:extLst>
      <p:ext uri="{BB962C8B-B14F-4D97-AF65-F5344CB8AC3E}">
        <p14:creationId xmlns:p14="http://schemas.microsoft.com/office/powerpoint/2010/main" val="2605287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06A04-0F07-DC87-3CBF-B7F501EDE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Real Execution Evidence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267EDF-E8D8-14CD-850B-C673F6713DDD}"/>
              </a:ext>
            </a:extLst>
          </p:cNvPr>
          <p:cNvSpPr txBox="1"/>
          <p:nvPr/>
        </p:nvSpPr>
        <p:spPr>
          <a:xfrm>
            <a:off x="698500" y="1587500"/>
            <a:ext cx="6604000" cy="686341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Confirmed Pass Evidence</a:t>
            </a:r>
          </a:p>
          <a:p>
            <a:r>
              <a:rPr lang="en-US" sz="2200">
                <a:latin typeface="Aptos" panose="020B0004020202020204" pitchFamily="34" charset="0"/>
              </a:rPr>
              <a:t>TC-UI-AUTH-001 passed</a:t>
            </a:r>
          </a:p>
          <a:p>
            <a:r>
              <a:rPr lang="en-US" sz="2200">
                <a:latin typeface="Aptos" panose="020B0004020202020204" pitchFamily="34" charset="0"/>
              </a:rPr>
              <a:t>TC-UI-AUTH-003 passed</a:t>
            </a:r>
          </a:p>
          <a:p>
            <a:r>
              <a:rPr lang="en-US" sz="2200">
                <a:latin typeface="Aptos" panose="020B0004020202020204" pitchFamily="34" charset="0"/>
              </a:rPr>
              <a:t>TC-UI-IMP-002 passed</a:t>
            </a:r>
          </a:p>
          <a:p>
            <a:r>
              <a:rPr lang="en-US" sz="2200">
                <a:latin typeface="Aptos" panose="020B0004020202020204" pitchFamily="34" charset="0"/>
              </a:rPr>
              <a:t>TC-UI-PUR-001 and TC-UI-PUR-007 passed</a:t>
            </a:r>
          </a:p>
          <a:p>
            <a:r>
              <a:rPr lang="en-US" sz="2200">
                <a:latin typeface="Aptos" panose="020B0004020202020204" pitchFamily="34" charset="0"/>
              </a:rPr>
              <a:t>extended reruns now also pass admin-user, customer, report, stock, and public-catalog flows</a:t>
            </a:r>
          </a:p>
          <a:p>
            <a:r>
              <a:rPr lang="en-US" sz="2200">
                <a:latin typeface="Aptos" panose="020B0004020202020204" pitchFamily="34" charset="0"/>
              </a:rPr>
              <a:t>full API collection passed (19 / 19)</a:t>
            </a:r>
          </a:p>
          <a:p>
            <a:r>
              <a:rPr lang="en-US" sz="2200">
                <a:latin typeface="Aptos" panose="020B0004020202020204" pitchFamily="34" charset="0"/>
              </a:rPr>
              <a:t>Confirmed Fail Evidence</a:t>
            </a:r>
          </a:p>
          <a:p>
            <a:r>
              <a:rPr lang="en-US" sz="2200">
                <a:latin typeface="Aptos" panose="020B0004020202020204" pitchFamily="34" charset="0"/>
              </a:rPr>
              <a:t>TC-UI-INV-001, TC-UI-INV-003, and TC-UI-INV-006 fail from the same invoice-create defect</a:t>
            </a:r>
          </a:p>
          <a:p>
            <a:r>
              <a:rPr lang="en-US" sz="2200">
                <a:latin typeface="Aptos" panose="020B0004020202020204" pitchFamily="34" charset="0"/>
              </a:rPr>
              <a:t>TC-UI-INV-005 fails in invoice cancellation</a:t>
            </a:r>
          </a:p>
          <a:p>
            <a:r>
              <a:rPr lang="en-US" sz="2200">
                <a:latin typeface="Aptos" panose="020B0004020202020204" pitchFamily="34" charset="0"/>
              </a:rPr>
              <a:t>TC-UI-IMP-003 fails in import confirm</a:t>
            </a:r>
          </a:p>
          <a:p>
            <a:r>
              <a:rPr lang="en-US" sz="2200">
                <a:latin typeface="Aptos" panose="020B0004020202020204" pitchFamily="34" charset="0"/>
              </a:rPr>
              <a:t>TC-UI-PUR-002 and TC-UI-PUR-003 fail on blank validation banners</a:t>
            </a:r>
          </a:p>
          <a:p>
            <a:r>
              <a:rPr lang="en-US" sz="2200">
                <a:latin typeface="Aptos" panose="020B0004020202020204" pitchFamily="34" charset="0"/>
              </a:rPr>
              <a:t>Important Rule</a:t>
            </a:r>
          </a:p>
          <a:p>
            <a:r>
              <a:rPr lang="en-US" sz="2200">
                <a:latin typeface="Aptos" panose="020B0004020202020204" pitchFamily="34" charset="0"/>
              </a:rPr>
              <a:t>no unexecuted test was marked as pass</a:t>
            </a:r>
          </a:p>
          <a:p>
            <a:r>
              <a:rPr lang="en-US" sz="2200">
                <a:latin typeface="Aptos" panose="020B0004020202020204" pitchFamily="34" charset="0"/>
              </a:rPr>
              <a:t>UI suite no longer contains Not Run</a:t>
            </a:r>
          </a:p>
          <a:p>
            <a:r>
              <a:rPr lang="en-US" sz="2200">
                <a:latin typeface="Aptos" panose="020B0004020202020204" pitchFamily="34" charset="0"/>
              </a:rPr>
              <a:t>4 confirmed defects are recorded, and 1 of them is already tracked in GitHub Issue #1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5E30B2-FCAC-43BF-5D45-CE034BEEB6A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4000" y="1524000"/>
            <a:ext cx="78740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7037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4B3F3-4F75-8C6D-3377-CA860F547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Current Metrics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A64B92-C56D-12AC-5FF7-951130985110}"/>
              </a:ext>
            </a:extLst>
          </p:cNvPr>
          <p:cNvSpPr txBox="1"/>
          <p:nvPr/>
        </p:nvSpPr>
        <p:spPr>
          <a:xfrm>
            <a:off x="698500" y="1587500"/>
            <a:ext cx="6604000" cy="415498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Execution Summary As Of 2026-04-11</a:t>
            </a:r>
          </a:p>
          <a:p>
            <a:r>
              <a:rPr lang="en-US" sz="2200">
                <a:latin typeface="Aptos" panose="020B0004020202020204" pitchFamily="34" charset="0"/>
              </a:rPr>
              <a:t>total cases: 63</a:t>
            </a:r>
          </a:p>
          <a:p>
            <a:r>
              <a:rPr lang="en-US" sz="2200">
                <a:latin typeface="Aptos" panose="020B0004020202020204" pitchFamily="34" charset="0"/>
              </a:rPr>
              <a:t>executed: 63</a:t>
            </a:r>
          </a:p>
          <a:p>
            <a:r>
              <a:rPr lang="en-US" sz="2200">
                <a:latin typeface="Aptos" panose="020B0004020202020204" pitchFamily="34" charset="0"/>
              </a:rPr>
              <a:t>pass: 56</a:t>
            </a:r>
          </a:p>
          <a:p>
            <a:r>
              <a:rPr lang="en-US" sz="2200">
                <a:latin typeface="Aptos" panose="020B0004020202020204" pitchFamily="34" charset="0"/>
              </a:rPr>
              <a:t>fail: 7</a:t>
            </a:r>
          </a:p>
          <a:p>
            <a:r>
              <a:rPr lang="en-US" sz="2200">
                <a:latin typeface="Aptos" panose="020B0004020202020204" pitchFamily="34" charset="0"/>
              </a:rPr>
              <a:t>blocked: 0</a:t>
            </a:r>
          </a:p>
          <a:p>
            <a:r>
              <a:rPr lang="en-US" sz="2200">
                <a:latin typeface="Aptos" panose="020B0004020202020204" pitchFamily="34" charset="0"/>
              </a:rPr>
              <a:t>not run: 0</a:t>
            </a:r>
          </a:p>
          <a:p>
            <a:r>
              <a:rPr lang="en-US" sz="2200">
                <a:latin typeface="Aptos" panose="020B0004020202020204" pitchFamily="34" charset="0"/>
              </a:rPr>
              <a:t>execution progress: 100%</a:t>
            </a:r>
          </a:p>
          <a:p>
            <a:r>
              <a:rPr lang="en-US" sz="2200">
                <a:latin typeface="Aptos" panose="020B0004020202020204" pitchFamily="34" charset="0"/>
              </a:rPr>
              <a:t>Interface View</a:t>
            </a:r>
          </a:p>
          <a:p>
            <a:r>
              <a:rPr lang="en-US" sz="2200">
                <a:latin typeface="Aptos" panose="020B0004020202020204" pitchFamily="34" charset="0"/>
              </a:rPr>
              <a:t>Admin UI: 41 executed, 34 pass, 7 fail</a:t>
            </a:r>
          </a:p>
          <a:p>
            <a:r>
              <a:rPr lang="en-US" sz="2200">
                <a:latin typeface="Aptos" panose="020B0004020202020204" pitchFamily="34" charset="0"/>
              </a:rPr>
              <a:t>API: 19 executed, 19 pass</a:t>
            </a:r>
          </a:p>
          <a:p>
            <a:r>
              <a:rPr lang="en-US" sz="2200">
                <a:latin typeface="Aptos" panose="020B0004020202020204" pitchFamily="34" charset="0"/>
              </a:rPr>
              <a:t>Public UI: 3 executed, 3 pass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409513-418B-6F10-E011-2E7F9B3BEC1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4000" y="1524000"/>
            <a:ext cx="78740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237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18F5-C1DC-95B4-0A37-A6F42BC43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Defect And Risk Analysis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EB21BD-FD43-3DE9-B780-99A120141100}"/>
              </a:ext>
            </a:extLst>
          </p:cNvPr>
          <p:cNvSpPr txBox="1"/>
          <p:nvPr/>
        </p:nvSpPr>
        <p:spPr>
          <a:xfrm>
            <a:off x="698500" y="1587500"/>
            <a:ext cx="6604000" cy="584775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Confirmed Defects</a:t>
            </a:r>
          </a:p>
          <a:p>
            <a:r>
              <a:rPr lang="en-US" sz="2200">
                <a:latin typeface="Aptos" panose="020B0004020202020204" pitchFamily="34" charset="0"/>
              </a:rPr>
              <a:t>4 confirmed defects</a:t>
            </a:r>
          </a:p>
          <a:p>
            <a:r>
              <a:rPr lang="en-US" sz="2200">
                <a:latin typeface="Aptos" panose="020B0004020202020204" pitchFamily="34" charset="0"/>
              </a:rPr>
              <a:t>BUG-20260406-001 invoice-create defect, tracked in GitHub Issue #1</a:t>
            </a:r>
          </a:p>
          <a:p>
            <a:r>
              <a:rPr lang="en-US" sz="2200">
                <a:latin typeface="Aptos" panose="020B0004020202020204" pitchFamily="34" charset="0"/>
              </a:rPr>
              <a:t>BUG-20260411-002 purchase validation banner defect</a:t>
            </a:r>
          </a:p>
          <a:p>
            <a:r>
              <a:rPr lang="en-US" sz="2200">
                <a:latin typeface="Aptos" panose="020B0004020202020204" pitchFamily="34" charset="0"/>
              </a:rPr>
              <a:t>BUG-20260411-003 import-confirm defect</a:t>
            </a:r>
          </a:p>
          <a:p>
            <a:r>
              <a:rPr lang="en-US" sz="2200">
                <a:latin typeface="Aptos" panose="020B0004020202020204" pitchFamily="34" charset="0"/>
              </a:rPr>
              <a:t>BUG-20260411-004 invoice-cancel defect</a:t>
            </a:r>
          </a:p>
          <a:p>
            <a:r>
              <a:rPr lang="en-US" sz="2200">
                <a:latin typeface="Aptos" panose="020B0004020202020204" pitchFamily="34" charset="0"/>
              </a:rPr>
              <a:t>Closed Observations</a:t>
            </a:r>
          </a:p>
          <a:p>
            <a:r>
              <a:rPr lang="en-US" sz="2200">
                <a:latin typeface="Aptos" panose="020B0004020202020204" pitchFamily="34" charset="0"/>
              </a:rPr>
              <a:t>authorization redirect behavior</a:t>
            </a:r>
          </a:p>
          <a:p>
            <a:r>
              <a:rPr lang="en-US" sz="2200">
                <a:latin typeface="Aptos" panose="020B0004020202020204" pitchFamily="34" charset="0"/>
              </a:rPr>
              <a:t>product import preview locator issue</a:t>
            </a:r>
          </a:p>
          <a:p>
            <a:r>
              <a:rPr lang="en-US" sz="2200">
                <a:latin typeface="Aptos" panose="020B0004020202020204" pitchFamily="34" charset="0"/>
              </a:rPr>
              <a:t>Highest Remaining Risks</a:t>
            </a:r>
          </a:p>
          <a:p>
            <a:r>
              <a:rPr lang="en-US" sz="2200">
                <a:latin typeface="Aptos" panose="020B0004020202020204" pitchFamily="34" charset="0"/>
              </a:rPr>
              <a:t>unresolved invoice create and cancel flows</a:t>
            </a:r>
          </a:p>
          <a:p>
            <a:r>
              <a:rPr lang="en-US" sz="2200">
                <a:latin typeface="Aptos" panose="020B0004020202020204" pitchFamily="34" charset="0"/>
              </a:rPr>
              <a:t>purchase validation rendering defect</a:t>
            </a:r>
          </a:p>
          <a:p>
            <a:r>
              <a:rPr lang="en-US" sz="2200">
                <a:latin typeface="Aptos" panose="020B0004020202020204" pitchFamily="34" charset="0"/>
              </a:rPr>
              <a:t>import-confirm defect after valid preview</a:t>
            </a:r>
          </a:p>
          <a:p>
            <a:r>
              <a:rPr lang="en-US" sz="2200">
                <a:latin typeface="Aptos" panose="020B0004020202020204" pitchFamily="34" charset="0"/>
              </a:rPr>
              <a:t>no post-fix retest evidence yet for the confirmed defects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894093-E2EE-5538-7F16-F0A2282CCE0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4000" y="1524000"/>
            <a:ext cx="78740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6795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25C4B-49C6-CE38-C4C6-B97FCF1C8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Key Insights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78D205-57D0-9871-FD12-8868BADADBF7}"/>
              </a:ext>
            </a:extLst>
          </p:cNvPr>
          <p:cNvSpPr txBox="1"/>
          <p:nvPr/>
        </p:nvSpPr>
        <p:spPr>
          <a:xfrm>
            <a:off x="698500" y="1587500"/>
            <a:ext cx="6604000" cy="38164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What We Can Defend</a:t>
            </a:r>
          </a:p>
          <a:p>
            <a:r>
              <a:rPr lang="en-US" sz="2200">
                <a:latin typeface="Aptos" panose="020B0004020202020204" pitchFamily="34" charset="0"/>
              </a:rPr>
              <a:t>project is testable and automation-capable</a:t>
            </a:r>
          </a:p>
          <a:p>
            <a:r>
              <a:rPr lang="en-US" sz="2200">
                <a:latin typeface="Aptos" panose="020B0004020202020204" pitchFamily="34" charset="0"/>
              </a:rPr>
              <a:t>source-based test design is strong</a:t>
            </a:r>
          </a:p>
          <a:p>
            <a:r>
              <a:rPr lang="en-US" sz="2200">
                <a:latin typeface="Aptos" panose="020B0004020202020204" pitchFamily="34" charset="0"/>
              </a:rPr>
              <a:t>traceability from scenario -&gt; test case -&gt; result -&gt; evidence -&gt; defect is in place</a:t>
            </a:r>
          </a:p>
          <a:p>
            <a:r>
              <a:rPr lang="en-US" sz="2200">
                <a:latin typeface="Aptos" panose="020B0004020202020204" pitchFamily="34" charset="0"/>
              </a:rPr>
              <a:t>What We Do Not Overclaim</a:t>
            </a:r>
          </a:p>
          <a:p>
            <a:r>
              <a:rPr lang="en-US" sz="2200">
                <a:latin typeface="Aptos" panose="020B0004020202020204" pitchFamily="34" charset="0"/>
              </a:rPr>
              <a:t>current evidence still does not prove full system stability</a:t>
            </a:r>
          </a:p>
          <a:p>
            <a:r>
              <a:rPr lang="en-US" sz="2200">
                <a:latin typeface="Aptos" panose="020B0004020202020204" pitchFamily="34" charset="0"/>
              </a:rPr>
              <a:t>four confirmed defects are currently open</a:t>
            </a:r>
          </a:p>
          <a:p>
            <a:r>
              <a:rPr lang="en-US" sz="2200">
                <a:latin typeface="Aptos" panose="020B0004020202020204" pitchFamily="34" charset="0"/>
              </a:rPr>
              <a:t>post-fix retest and issue-tool expansion are still required for maximum confidence</a:t>
            </a:r>
          </a:p>
        </p:txBody>
      </p:sp>
    </p:spTree>
    <p:extLst>
      <p:ext uri="{BB962C8B-B14F-4D97-AF65-F5344CB8AC3E}">
        <p14:creationId xmlns:p14="http://schemas.microsoft.com/office/powerpoint/2010/main" val="4036155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FB571-59DF-3B6B-2EE1-CD00112A0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Next Steps And Submission Package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2FDC5A-5551-0654-D6A0-A64045D7C7FE}"/>
              </a:ext>
            </a:extLst>
          </p:cNvPr>
          <p:cNvSpPr txBox="1"/>
          <p:nvPr/>
        </p:nvSpPr>
        <p:spPr>
          <a:xfrm>
            <a:off x="698500" y="1587500"/>
            <a:ext cx="6604000" cy="652486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Highest-Value Next Steps</a:t>
            </a:r>
          </a:p>
          <a:p>
            <a:r>
              <a:rPr lang="en-US" sz="2200">
                <a:latin typeface="Aptos" panose="020B0004020202020204" pitchFamily="34" charset="0"/>
              </a:rPr>
              <a:t>1. fix and retest invoice creation through GitHub Issue #1</a:t>
            </a:r>
          </a:p>
          <a:p>
            <a:r>
              <a:rPr lang="en-US" sz="2200">
                <a:latin typeface="Aptos" panose="020B0004020202020204" pitchFamily="34" charset="0"/>
              </a:rPr>
              <a:t>2. open GitHub issues for BUG-20260411-002, BUG-20260411-003, and BUG-20260411-004</a:t>
            </a:r>
          </a:p>
          <a:p>
            <a:r>
              <a:rPr lang="en-US" sz="2200">
                <a:latin typeface="Aptos" panose="020B0004020202020204" pitchFamily="34" charset="0"/>
              </a:rPr>
              <a:t>3. add post-fix retest evidence for all confirmed defects</a:t>
            </a:r>
          </a:p>
          <a:p>
            <a:r>
              <a:rPr lang="en-US" sz="2200">
                <a:latin typeface="Aptos" panose="020B0004020202020204" pitchFamily="34" charset="0"/>
              </a:rPr>
              <a:t>4. add optional cross-browser evidence if Edge is available</a:t>
            </a:r>
          </a:p>
          <a:p>
            <a:r>
              <a:rPr lang="en-US" sz="2200">
                <a:latin typeface="Aptos" panose="020B0004020202020204" pitchFamily="34" charset="0"/>
              </a:rPr>
              <a:t>Submission Package</a:t>
            </a:r>
          </a:p>
          <a:p>
            <a:r>
              <a:rPr lang="en-US" sz="2200">
                <a:latin typeface="Aptos" panose="020B0004020202020204" pitchFamily="34" charset="0"/>
              </a:rPr>
              <a:t>Final report</a:t>
            </a:r>
          </a:p>
          <a:p>
            <a:r>
              <a:rPr lang="en-US" sz="2200">
                <a:latin typeface="Aptos" panose="020B0004020202020204" pitchFamily="34" charset="0"/>
              </a:rPr>
              <a:t>PPTX</a:t>
            </a:r>
          </a:p>
          <a:p>
            <a:r>
              <a:rPr lang="en-US" sz="2200">
                <a:latin typeface="Aptos" panose="020B0004020202020204" pitchFamily="34" charset="0"/>
              </a:rPr>
              <a:t>test cases</a:t>
            </a:r>
          </a:p>
          <a:p>
            <a:r>
              <a:rPr lang="en-US" sz="2200">
                <a:latin typeface="Aptos" panose="020B0004020202020204" pitchFamily="34" charset="0"/>
              </a:rPr>
              <a:t>test data</a:t>
            </a:r>
          </a:p>
          <a:p>
            <a:r>
              <a:rPr lang="en-US" sz="2200">
                <a:latin typeface="Aptos" panose="020B0004020202020204" pitchFamily="34" charset="0"/>
              </a:rPr>
              <a:t>automation scripts</a:t>
            </a:r>
          </a:p>
          <a:p>
            <a:r>
              <a:rPr lang="en-US" sz="2200">
                <a:latin typeface="Aptos" panose="020B0004020202020204" pitchFamily="34" charset="0"/>
              </a:rPr>
              <a:t>final results</a:t>
            </a:r>
          </a:p>
          <a:p>
            <a:r>
              <a:rPr lang="en-US" sz="2200">
                <a:latin typeface="Aptos" panose="020B0004020202020204" pitchFamily="34" charset="0"/>
              </a:rPr>
              <a:t>metrics</a:t>
            </a:r>
          </a:p>
          <a:p>
            <a:r>
              <a:rPr lang="en-US" sz="2200">
                <a:latin typeface="Aptos" panose="020B0004020202020204" pitchFamily="34" charset="0"/>
              </a:rPr>
              <a:t>evidence</a:t>
            </a:r>
          </a:p>
          <a:p>
            <a:r>
              <a:rPr lang="en-US" sz="2200">
                <a:latin typeface="Aptos" panose="020B0004020202020204" pitchFamily="34" charset="0"/>
              </a:rPr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4429714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A8EE-90D0-A218-E90A-59676E3A8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Q&amp;A Backup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C06621-CF85-E2C0-FDB1-146F0A2483DA}"/>
              </a:ext>
            </a:extLst>
          </p:cNvPr>
          <p:cNvSpPr txBox="1"/>
          <p:nvPr/>
        </p:nvSpPr>
        <p:spPr>
          <a:xfrm>
            <a:off x="698500" y="1587500"/>
            <a:ext cx="6604000" cy="246221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Likely Questions</a:t>
            </a:r>
          </a:p>
          <a:p>
            <a:r>
              <a:rPr lang="en-US" sz="2200">
                <a:latin typeface="Aptos" panose="020B0004020202020204" pitchFamily="34" charset="0"/>
              </a:rPr>
              <a:t>Why do you have 1 confirmed defect?</a:t>
            </a:r>
          </a:p>
          <a:p>
            <a:r>
              <a:rPr lang="en-US" sz="2200">
                <a:latin typeface="Aptos" panose="020B0004020202020204" pitchFamily="34" charset="0"/>
              </a:rPr>
              <a:t>Why is execution progress still low?</a:t>
            </a:r>
          </a:p>
          <a:p>
            <a:r>
              <a:rPr lang="en-US" sz="2200">
                <a:latin typeface="Aptos" panose="020B0004020202020204" pitchFamily="34" charset="0"/>
              </a:rPr>
              <a:t>Why did you choose Selenium and Newman?</a:t>
            </a:r>
          </a:p>
          <a:p>
            <a:r>
              <a:rPr lang="en-US" sz="2200">
                <a:latin typeface="Aptos" panose="020B0004020202020204" pitchFamily="34" charset="0"/>
              </a:rPr>
              <a:t>How do you distinguish automation failure from product defect?</a:t>
            </a:r>
          </a:p>
          <a:p>
            <a:r>
              <a:rPr lang="en-US" sz="2200">
                <a:latin typeface="Aptos" panose="020B0004020202020204" pitchFamily="34" charset="0"/>
              </a:rPr>
              <a:t>Which module is riskiest right now?</a:t>
            </a:r>
          </a:p>
        </p:txBody>
      </p:sp>
    </p:spTree>
    <p:extLst>
      <p:ext uri="{BB962C8B-B14F-4D97-AF65-F5344CB8AC3E}">
        <p14:creationId xmlns:p14="http://schemas.microsoft.com/office/powerpoint/2010/main" val="6852982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626</Words>
  <Application>Microsoft Office PowerPoint</Application>
  <PresentationFormat>Widescreen</PresentationFormat>
  <Paragraphs>131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Powered by GPT - Software Quality Verification</vt:lpstr>
      <vt:lpstr>Project And Test Scope</vt:lpstr>
      <vt:lpstr>Test Strategy</vt:lpstr>
      <vt:lpstr>Coverage And Team Allocation</vt:lpstr>
      <vt:lpstr>Automation Implementation</vt:lpstr>
      <vt:lpstr>Real Execution Evidence</vt:lpstr>
      <vt:lpstr>Current Metrics</vt:lpstr>
      <vt:lpstr>Defect And Risk Analysis</vt:lpstr>
      <vt:lpstr>Key Insights</vt:lpstr>
      <vt:lpstr>Next Steps And Submission Package</vt:lpstr>
      <vt:lpstr>Q&amp;A Backup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Thiên Hoàng</dc:creator>
  <cp:lastModifiedBy>Thiên Hoàng</cp:lastModifiedBy>
  <cp:revision>1</cp:revision>
  <dcterms:created xsi:type="dcterms:W3CDTF">2026-04-11T08:18:35Z</dcterms:created>
  <dcterms:modified xsi:type="dcterms:W3CDTF">2026-04-11T08:18:35Z</dcterms:modified>
</cp:coreProperties>
</file>