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6" d="100"/>
          <a:sy n="36" d="100"/>
        </p:scale>
        <p:origin x="4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023E5-14E9-075C-BB9C-938E9048BF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E90A3-047E-F498-09D3-FF27D2C9CD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3487-3BAB-C48A-CB82-5472D7B04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01C24-B3D2-2A36-D8C4-A97918497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6296B-E557-F894-524C-EAFA7374B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0572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CBB8E-0095-E203-4845-42DD7C3F3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A9BA3-58BB-55E6-03E2-083DBD223A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258C8-BA66-9FA2-978C-BD96D42DA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57A5B-EA11-D004-1312-5EF76D6FB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5546B-087C-9253-D555-1381A081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27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9DBE7-211B-E7CE-3836-1EF7FAC71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B714C-34A0-A9D4-EA75-5AD81DD88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B125B-ED49-EE90-CC5B-6B65B7FE9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987DF2-2174-8DAE-00CA-0B00DE84D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7D564-E0B7-0CB5-E2F9-65B4C2B54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449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2A9F-8053-E601-35CE-224B08740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6BE8E-F5DC-DC9B-3211-1B20F8078C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E0FFED-19EC-E8E2-C40F-F4CCEFE0CB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BD31B7-35E3-C915-69DD-AEF18130B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B9A5D1-97D1-2A65-C487-0D2697366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DFA8A-42F6-F5F0-B887-DEEB9413E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826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4D3D7-C679-DC87-A8F9-1FDB1C8B2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889EF-89D0-C3AF-AA07-F8C828CC9C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FA7DAC-DF6E-29CB-79D2-89C6457F47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D6574F-8FF2-D894-9765-ECEF9BAA93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2B3CB7-6EAF-632C-BCD8-B69FBB59FE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FA67BB-5202-C44A-260F-F15ADB92A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95F75E-8159-DFF9-4B61-3381BDC28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F34C50-4FCA-B540-7F0F-808ECA010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899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31575-16BF-6E49-75B7-24BFDBF41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F0884B-772B-A1AD-683C-24C5016E2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A76BE8-C50E-09D6-2933-BB0AA4A85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866410-3B73-7D25-5E0C-654E30918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922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B7C8A5-3685-6929-EC5D-5E1438077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E8D5D6-67CB-0665-FA33-D4E60FB1C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5F7A1-5398-5F5F-B093-08E58A98E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617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DBAC0-3064-D82D-6D2D-E97C8C387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A69F6-BF3D-A00B-1D16-F0CC896DA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114895-C91F-7959-C4D2-2BD73AD800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5FAC4-109F-2040-851B-5FEAA09BB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E03243-DDBA-8999-C6A6-3ECBED96F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1667B-F21B-F061-4A9E-3A0197496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843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70260-17B1-BF0B-3458-27B98BF15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F8C5DA-0FD0-73B4-E6FA-34F56784C7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C9523-C1F8-6402-C8A2-FE11F9492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6DD65-7523-2F73-0FE8-D0863A4E7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F4195C-E241-DA61-BA3D-45EF0F909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5C535-ED96-02CE-7303-ACE235EE0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362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ED3FA-20EF-684E-C262-F9B698F02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F518FC-C90A-3816-72B8-07DB6ED1A0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F6860-0302-4EEA-BFDB-45C0655F7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74196-C9C4-01C3-A0D7-B9B042153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D5FAC-1ABC-90FF-8662-A3E79E1BF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446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9515CE-9359-0049-9BE6-ABF15DEFDF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4640C-0325-A6A3-08B7-90FD88954E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86C95-982C-BB32-F2C1-3D2BA18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83679-CC40-FB2C-0DDF-01469A343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DDF0A-2B35-A8E6-3600-186265C88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4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5D277-F19D-C168-F8BE-F9CAC281A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12DFD5-E792-CDB8-296D-5AF7C26F7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FFD96-216A-EC1E-94E1-36A2693B04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548FE3-2BC9-4C2E-A898-444148D3951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4F964-8891-2A67-2F5B-60670C287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68BFD-0757-B4A2-D481-17EECC51A2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9D46A9-7C22-4BEE-A79D-4FCC3D4294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7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8D9FE-D881-7B59-F460-475C050AB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Powered by GPT - Software Quality Verification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C3A4C-A5AC-FA98-2EA2-39AA463BE2B1}"/>
              </a:ext>
            </a:extLst>
          </p:cNvPr>
          <p:cNvSpPr txBox="1"/>
          <p:nvPr/>
        </p:nvSpPr>
        <p:spPr>
          <a:xfrm>
            <a:off x="698500" y="1587500"/>
            <a:ext cx="6604000" cy="34778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System Under Test: Online Sales Management System</a:t>
            </a:r>
          </a:p>
          <a:p>
            <a:r>
              <a:rPr lang="en-US" sz="2200">
                <a:latin typeface="Aptos" panose="020B0004020202020204" pitchFamily="34" charset="0"/>
              </a:rPr>
              <a:t>Course: Software Testing</a:t>
            </a:r>
          </a:p>
          <a:p>
            <a:r>
              <a:rPr lang="en-US" sz="2200">
                <a:latin typeface="Aptos" panose="020B0004020202020204" pitchFamily="34" charset="0"/>
              </a:rPr>
              <a:t>Team:</a:t>
            </a:r>
          </a:p>
          <a:p>
            <a:r>
              <a:rPr lang="en-US" sz="2200">
                <a:latin typeface="Aptos" panose="020B0004020202020204" pitchFamily="34" charset="0"/>
              </a:rPr>
              <a:t>Hoang Van Thien</a:t>
            </a:r>
          </a:p>
          <a:p>
            <a:r>
              <a:rPr lang="en-US" sz="2200">
                <a:latin typeface="Aptos" panose="020B0004020202020204" pitchFamily="34" charset="0"/>
              </a:rPr>
              <a:t>Nguyen Thanh Dat</a:t>
            </a:r>
          </a:p>
          <a:p>
            <a:r>
              <a:rPr lang="en-US" sz="2200">
                <a:latin typeface="Aptos" panose="020B0004020202020204" pitchFamily="34" charset="0"/>
              </a:rPr>
              <a:t>Le Quang Duy</a:t>
            </a:r>
          </a:p>
          <a:p>
            <a:r>
              <a:rPr lang="en-US" sz="2200">
                <a:latin typeface="Aptos" panose="020B0004020202020204" pitchFamily="34" charset="0"/>
              </a:rPr>
              <a:t>Repository:</a:t>
            </a:r>
          </a:p>
          <a:p>
            <a:r>
              <a:rPr lang="en-US" sz="2200">
                <a:latin typeface="Aptos" panose="020B0004020202020204" pitchFamily="34" charset="0"/>
              </a:rPr>
              <a:t>github.com/Alucard30Dec/Online-Sales-Management-System</a:t>
            </a:r>
          </a:p>
        </p:txBody>
      </p:sp>
    </p:spTree>
    <p:extLst>
      <p:ext uri="{BB962C8B-B14F-4D97-AF65-F5344CB8AC3E}">
        <p14:creationId xmlns:p14="http://schemas.microsoft.com/office/powerpoint/2010/main" val="1215386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A2B9-CBFD-94A3-6BFD-CC4A59267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Project And Test 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0019C-1276-CEAA-D889-1664189A8D52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What We Tested</a:t>
            </a:r>
          </a:p>
          <a:p>
            <a:r>
              <a:rPr lang="en-US" sz="2200">
                <a:latin typeface="Aptos" panose="020B0004020202020204" pitchFamily="34" charset="0"/>
              </a:rPr>
              <a:t>Admin UI</a:t>
            </a:r>
          </a:p>
          <a:p>
            <a:r>
              <a:rPr lang="en-US" sz="2200">
                <a:latin typeface="Aptos" panose="020B0004020202020204" pitchFamily="34" charset="0"/>
              </a:rPr>
              <a:t>Public Product Catalog</a:t>
            </a:r>
          </a:p>
          <a:p>
            <a:r>
              <a:rPr lang="en-US" sz="2200">
                <a:latin typeface="Aptos" panose="020B0004020202020204" pitchFamily="34" charset="0"/>
              </a:rPr>
              <a:t>Health API</a:t>
            </a:r>
          </a:p>
          <a:p>
            <a:r>
              <a:rPr lang="en-US" sz="2200">
                <a:latin typeface="Aptos" panose="020B0004020202020204" pitchFamily="34" charset="0"/>
              </a:rPr>
              <a:t>Catalog API</a:t>
            </a:r>
          </a:p>
          <a:p>
            <a:r>
              <a:rPr lang="en-US" sz="2200">
                <a:latin typeface="Aptos" panose="020B0004020202020204" pitchFamily="34" charset="0"/>
              </a:rPr>
              <a:t>Highest-Risk Business Areas</a:t>
            </a:r>
          </a:p>
          <a:p>
            <a:r>
              <a:rPr lang="en-US" sz="2200">
                <a:latin typeface="Aptos" panose="020B0004020202020204" pitchFamily="34" charset="0"/>
              </a:rPr>
              <a:t>Authentication and permissions</a:t>
            </a:r>
          </a:p>
          <a:p>
            <a:r>
              <a:rPr lang="en-US" sz="2200">
                <a:latin typeface="Aptos" panose="020B0004020202020204" pitchFamily="34" charset="0"/>
              </a:rPr>
              <a:t>Products and product import</a:t>
            </a:r>
          </a:p>
          <a:p>
            <a:r>
              <a:rPr lang="en-US" sz="2200">
                <a:latin typeface="Aptos" panose="020B0004020202020204" pitchFamily="34" charset="0"/>
              </a:rPr>
              <a:t>Purchases</a:t>
            </a:r>
          </a:p>
          <a:p>
            <a:r>
              <a:rPr lang="en-US" sz="2200">
                <a:latin typeface="Aptos" panose="020B0004020202020204" pitchFamily="34" charset="0"/>
              </a:rPr>
              <a:t>Invoices</a:t>
            </a:r>
          </a:p>
          <a:p>
            <a:r>
              <a:rPr lang="en-US" sz="2200">
                <a:latin typeface="Aptos" panose="020B0004020202020204" pitchFamily="34" charset="0"/>
              </a:rPr>
              <a:t>Stock and reports</a:t>
            </a:r>
          </a:p>
        </p:txBody>
      </p:sp>
    </p:spTree>
    <p:extLst>
      <p:ext uri="{BB962C8B-B14F-4D97-AF65-F5344CB8AC3E}">
        <p14:creationId xmlns:p14="http://schemas.microsoft.com/office/powerpoint/2010/main" val="3363232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01D9-F4B7-D85C-0DC3-A9B4ACED5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Test Strategy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DEC990-E811-526F-5FDE-8DE6AA89D832}"/>
              </a:ext>
            </a:extLst>
          </p:cNvPr>
          <p:cNvSpPr txBox="1"/>
          <p:nvPr/>
        </p:nvSpPr>
        <p:spPr>
          <a:xfrm>
            <a:off x="698500" y="1587500"/>
            <a:ext cx="6604000" cy="41549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Strategy</a:t>
            </a:r>
          </a:p>
          <a:p>
            <a:r>
              <a:rPr lang="en-US" sz="2200">
                <a:latin typeface="Aptos" panose="020B0004020202020204" pitchFamily="34" charset="0"/>
              </a:rPr>
              <a:t>source-based project audit, not generic template testing</a:t>
            </a:r>
          </a:p>
          <a:p>
            <a:r>
              <a:rPr lang="en-US" sz="2200">
                <a:latin typeface="Aptos" panose="020B0004020202020204" pitchFamily="34" charset="0"/>
              </a:rPr>
              <a:t>black-box execution + white-box-informed test design</a:t>
            </a:r>
          </a:p>
          <a:p>
            <a:r>
              <a:rPr lang="en-US" sz="2200">
                <a:latin typeface="Aptos" panose="020B0004020202020204" pitchFamily="34" charset="0"/>
              </a:rPr>
              <a:t>manual testing for business logic and visible validation</a:t>
            </a:r>
          </a:p>
          <a:p>
            <a:r>
              <a:rPr lang="en-US" sz="2200">
                <a:latin typeface="Aptos" panose="020B0004020202020204" pitchFamily="34" charset="0"/>
              </a:rPr>
              <a:t>targeted automation for high-value regression paths</a:t>
            </a:r>
          </a:p>
          <a:p>
            <a:r>
              <a:rPr lang="en-US" sz="2200">
                <a:latin typeface="Aptos" panose="020B0004020202020204" pitchFamily="34" charset="0"/>
              </a:rPr>
              <a:t>Automation Stack</a:t>
            </a:r>
          </a:p>
          <a:p>
            <a:r>
              <a:rPr lang="en-US" sz="2200">
                <a:latin typeface="Aptos" panose="020B0004020202020204" pitchFamily="34" charset="0"/>
              </a:rPr>
              <a:t>UI: .NET 8 + xUnit + Selenium</a:t>
            </a:r>
          </a:p>
          <a:p>
            <a:r>
              <a:rPr lang="en-US" sz="2200">
                <a:latin typeface="Aptos" panose="020B0004020202020204" pitchFamily="34" charset="0"/>
              </a:rPr>
              <a:t>API: Postman + Newman</a:t>
            </a:r>
          </a:p>
          <a:p>
            <a:r>
              <a:rPr lang="en-US" sz="2200">
                <a:latin typeface="Aptos" panose="020B0004020202020204" pitchFamily="34" charset="0"/>
              </a:rPr>
              <a:t>structure: Page Object Model + reusable helpers</a:t>
            </a:r>
          </a:p>
        </p:txBody>
      </p:sp>
    </p:spTree>
    <p:extLst>
      <p:ext uri="{BB962C8B-B14F-4D97-AF65-F5344CB8AC3E}">
        <p14:creationId xmlns:p14="http://schemas.microsoft.com/office/powerpoint/2010/main" val="583549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C27AE-3E27-DC63-C81E-BC27E573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Coverage And Team Allocation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5E96D7-B644-F2E1-66FE-A2BB4DC3E643}"/>
              </a:ext>
            </a:extLst>
          </p:cNvPr>
          <p:cNvSpPr txBox="1"/>
          <p:nvPr/>
        </p:nvSpPr>
        <p:spPr>
          <a:xfrm>
            <a:off x="698500" y="1587500"/>
            <a:ext cx="6604000" cy="34778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Design Coverage</a:t>
            </a:r>
          </a:p>
          <a:p>
            <a:r>
              <a:rPr lang="en-US" sz="2200">
                <a:latin typeface="Aptos" panose="020B0004020202020204" pitchFamily="34" charset="0"/>
              </a:rPr>
              <a:t>42 documented scenarios</a:t>
            </a:r>
          </a:p>
          <a:p>
            <a:r>
              <a:rPr lang="en-US" sz="2200">
                <a:latin typeface="Aptos" panose="020B0004020202020204" pitchFamily="34" charset="0"/>
              </a:rPr>
              <a:t>63 total test cases</a:t>
            </a:r>
          </a:p>
          <a:p>
            <a:r>
              <a:rPr lang="en-US" sz="2200">
                <a:latin typeface="Aptos" panose="020B0004020202020204" pitchFamily="34" charset="0"/>
              </a:rPr>
              <a:t>44 UI</a:t>
            </a:r>
          </a:p>
          <a:p>
            <a:r>
              <a:rPr lang="en-US" sz="2200">
                <a:latin typeface="Aptos" panose="020B0004020202020204" pitchFamily="34" charset="0"/>
              </a:rPr>
              <a:t>19 API</a:t>
            </a:r>
          </a:p>
          <a:p>
            <a:r>
              <a:rPr lang="en-US" sz="2200">
                <a:latin typeface="Aptos" panose="020B0004020202020204" pitchFamily="34" charset="0"/>
              </a:rPr>
              <a:t>100% scenario design coverage</a:t>
            </a:r>
          </a:p>
          <a:p>
            <a:r>
              <a:rPr lang="en-US" sz="2200">
                <a:latin typeface="Aptos" panose="020B0004020202020204" pitchFamily="34" charset="0"/>
              </a:rPr>
              <a:t>Team Allocation</a:t>
            </a:r>
          </a:p>
          <a:p>
            <a:r>
              <a:rPr lang="en-US" sz="2200">
                <a:latin typeface="Aptos" panose="020B0004020202020204" pitchFamily="34" charset="0"/>
              </a:rPr>
              <a:t>Hoang Van Thien: 17 UI cases</a:t>
            </a:r>
          </a:p>
          <a:p>
            <a:r>
              <a:rPr lang="en-US" sz="2200">
                <a:latin typeface="Aptos" panose="020B0004020202020204" pitchFamily="34" charset="0"/>
              </a:rPr>
              <a:t>Nguyen Thanh Dat: 13 UI cases</a:t>
            </a:r>
          </a:p>
          <a:p>
            <a:r>
              <a:rPr lang="en-US" sz="2200">
                <a:latin typeface="Aptos" panose="020B0004020202020204" pitchFamily="34" charset="0"/>
              </a:rPr>
              <a:t>Le Quang Duy: 14 UI cases</a:t>
            </a:r>
          </a:p>
        </p:txBody>
      </p:sp>
    </p:spTree>
    <p:extLst>
      <p:ext uri="{BB962C8B-B14F-4D97-AF65-F5344CB8AC3E}">
        <p14:creationId xmlns:p14="http://schemas.microsoft.com/office/powerpoint/2010/main" val="3317940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13042-B0C3-73D8-1793-83F8ADBA5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Automation Implementation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66F3BD-495C-807B-1A48-732CD9861321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Implemented Automation Assets</a:t>
            </a:r>
          </a:p>
          <a:p>
            <a:r>
              <a:rPr lang="en-US" sz="2200">
                <a:latin typeface="Aptos" panose="020B0004020202020204" pitchFamily="34" charset="0"/>
              </a:rPr>
              <a:t>Selenium UI project with Page Objects</a:t>
            </a:r>
          </a:p>
          <a:p>
            <a:r>
              <a:rPr lang="en-US" sz="2200">
                <a:latin typeface="Aptos" panose="020B0004020202020204" pitchFamily="34" charset="0"/>
              </a:rPr>
              <a:t>shared config, wait helpers, screenshot capture</a:t>
            </a:r>
          </a:p>
          <a:p>
            <a:r>
              <a:rPr lang="en-US" sz="2200">
                <a:latin typeface="Aptos" panose="020B0004020202020204" pitchFamily="34" charset="0"/>
              </a:rPr>
              <a:t>Postman collection with Newman runner</a:t>
            </a:r>
          </a:p>
          <a:p>
            <a:r>
              <a:rPr lang="en-US" sz="2200">
                <a:latin typeface="Aptos" panose="020B0004020202020204" pitchFamily="34" charset="0"/>
              </a:rPr>
              <a:t>Priority Automated Flows</a:t>
            </a:r>
          </a:p>
          <a:p>
            <a:r>
              <a:rPr lang="en-US" sz="2200">
                <a:latin typeface="Aptos" panose="020B0004020202020204" pitchFamily="34" charset="0"/>
              </a:rPr>
              <a:t>admin login smoke</a:t>
            </a:r>
          </a:p>
          <a:p>
            <a:r>
              <a:rPr lang="en-US" sz="2200">
                <a:latin typeface="Aptos" panose="020B0004020202020204" pitchFamily="34" charset="0"/>
              </a:rPr>
              <a:t>sales permission check</a:t>
            </a:r>
          </a:p>
          <a:p>
            <a:r>
              <a:rPr lang="en-US" sz="2200">
                <a:latin typeface="Aptos" panose="020B0004020202020204" pitchFamily="34" charset="0"/>
              </a:rPr>
              <a:t>purchase creation</a:t>
            </a:r>
          </a:p>
          <a:p>
            <a:r>
              <a:rPr lang="en-US" sz="2200">
                <a:latin typeface="Aptos" panose="020B0004020202020204" pitchFamily="34" charset="0"/>
              </a:rPr>
              <a:t>invoice creation</a:t>
            </a:r>
          </a:p>
          <a:p>
            <a:r>
              <a:rPr lang="en-US" sz="2200">
                <a:latin typeface="Aptos" panose="020B0004020202020204" pitchFamily="34" charset="0"/>
              </a:rPr>
              <a:t>product import preview</a:t>
            </a:r>
          </a:p>
          <a:p>
            <a:r>
              <a:rPr lang="en-US" sz="2200">
                <a:latin typeface="Aptos" panose="020B0004020202020204" pitchFamily="34" charset="0"/>
              </a:rPr>
              <a:t>API health and catalog groups</a:t>
            </a:r>
          </a:p>
        </p:txBody>
      </p:sp>
    </p:spTree>
    <p:extLst>
      <p:ext uri="{BB962C8B-B14F-4D97-AF65-F5344CB8AC3E}">
        <p14:creationId xmlns:p14="http://schemas.microsoft.com/office/powerpoint/2010/main" val="18130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CFB9F-FDF4-50C3-CC4D-584DB2A07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Real Execution Evidence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616E96-7D9F-75C1-DC48-DA6875FDC066}"/>
              </a:ext>
            </a:extLst>
          </p:cNvPr>
          <p:cNvSpPr txBox="1"/>
          <p:nvPr/>
        </p:nvSpPr>
        <p:spPr>
          <a:xfrm>
            <a:off x="698500" y="1587500"/>
            <a:ext cx="6604000" cy="686341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Confirmed Pass Evidence</a:t>
            </a:r>
          </a:p>
          <a:p>
            <a:r>
              <a:rPr lang="en-US" sz="2200">
                <a:latin typeface="Aptos" panose="020B0004020202020204" pitchFamily="34" charset="0"/>
              </a:rPr>
              <a:t>TC-UI-AUTH-001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TC-UI-AUTH-003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TC-UI-IMP-002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TC-UI-PUR-001 and TC-UI-PUR-007 passed</a:t>
            </a:r>
          </a:p>
          <a:p>
            <a:r>
              <a:rPr lang="en-US" sz="2200">
                <a:latin typeface="Aptos" panose="020B0004020202020204" pitchFamily="34" charset="0"/>
              </a:rPr>
              <a:t>extended reruns now also pass admin-user, customer, report, stock, and public-catalog flows</a:t>
            </a:r>
          </a:p>
          <a:p>
            <a:r>
              <a:rPr lang="en-US" sz="2200">
                <a:latin typeface="Aptos" panose="020B0004020202020204" pitchFamily="34" charset="0"/>
              </a:rPr>
              <a:t>full API collection passed (19 / 19)</a:t>
            </a:r>
          </a:p>
          <a:p>
            <a:r>
              <a:rPr lang="en-US" sz="2200">
                <a:latin typeface="Aptos" panose="020B0004020202020204" pitchFamily="34" charset="0"/>
              </a:rPr>
              <a:t>Confirmed Fail Evidence</a:t>
            </a:r>
          </a:p>
          <a:p>
            <a:r>
              <a:rPr lang="en-US" sz="2200">
                <a:latin typeface="Aptos" panose="020B0004020202020204" pitchFamily="34" charset="0"/>
              </a:rPr>
              <a:t>TC-UI-INV-001, TC-UI-INV-003, and TC-UI-INV-006 fail from the same invoice-create defect</a:t>
            </a:r>
          </a:p>
          <a:p>
            <a:r>
              <a:rPr lang="en-US" sz="2200">
                <a:latin typeface="Aptos" panose="020B0004020202020204" pitchFamily="34" charset="0"/>
              </a:rPr>
              <a:t>TC-UI-INV-005 fails in invoice cancellation</a:t>
            </a:r>
          </a:p>
          <a:p>
            <a:r>
              <a:rPr lang="en-US" sz="2200">
                <a:latin typeface="Aptos" panose="020B0004020202020204" pitchFamily="34" charset="0"/>
              </a:rPr>
              <a:t>TC-UI-IMP-003 fails in import confirm</a:t>
            </a:r>
          </a:p>
          <a:p>
            <a:r>
              <a:rPr lang="en-US" sz="2200">
                <a:latin typeface="Aptos" panose="020B0004020202020204" pitchFamily="34" charset="0"/>
              </a:rPr>
              <a:t>TC-UI-PUR-002 and TC-UI-PUR-003 fail on blank validation banners</a:t>
            </a:r>
          </a:p>
          <a:p>
            <a:r>
              <a:rPr lang="en-US" sz="2200">
                <a:latin typeface="Aptos" panose="020B0004020202020204" pitchFamily="34" charset="0"/>
              </a:rPr>
              <a:t>Important Rule</a:t>
            </a:r>
          </a:p>
          <a:p>
            <a:r>
              <a:rPr lang="en-US" sz="2200">
                <a:latin typeface="Aptos" panose="020B0004020202020204" pitchFamily="34" charset="0"/>
              </a:rPr>
              <a:t>no unexecuted test was marked as pass</a:t>
            </a:r>
          </a:p>
          <a:p>
            <a:r>
              <a:rPr lang="en-US" sz="2200">
                <a:latin typeface="Aptos" panose="020B0004020202020204" pitchFamily="34" charset="0"/>
              </a:rPr>
              <a:t>UI suite no longer contains Not Run</a:t>
            </a:r>
          </a:p>
          <a:p>
            <a:r>
              <a:rPr lang="en-US" sz="2200">
                <a:latin typeface="Aptos" panose="020B0004020202020204" pitchFamily="34" charset="0"/>
              </a:rPr>
              <a:t>4 confirmed defects are recorded, and 1 of them is already tracked in GitHub Issue #1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992A7C-152B-2B83-E663-3BB119913DA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38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C6204-5603-5E75-F241-4098A5443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Current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88B59-7650-23B3-33AE-B6984E8151A0}"/>
              </a:ext>
            </a:extLst>
          </p:cNvPr>
          <p:cNvSpPr txBox="1"/>
          <p:nvPr/>
        </p:nvSpPr>
        <p:spPr>
          <a:xfrm>
            <a:off x="698500" y="1587500"/>
            <a:ext cx="6604000" cy="41549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Execution Summary As Of 2026-04-11</a:t>
            </a:r>
          </a:p>
          <a:p>
            <a:r>
              <a:rPr lang="en-US" sz="2200">
                <a:latin typeface="Aptos" panose="020B0004020202020204" pitchFamily="34" charset="0"/>
              </a:rPr>
              <a:t>total cases: 63</a:t>
            </a:r>
          </a:p>
          <a:p>
            <a:r>
              <a:rPr lang="en-US" sz="2200">
                <a:latin typeface="Aptos" panose="020B0004020202020204" pitchFamily="34" charset="0"/>
              </a:rPr>
              <a:t>executed: 63</a:t>
            </a:r>
          </a:p>
          <a:p>
            <a:r>
              <a:rPr lang="en-US" sz="2200">
                <a:latin typeface="Aptos" panose="020B0004020202020204" pitchFamily="34" charset="0"/>
              </a:rPr>
              <a:t>pass: 56</a:t>
            </a:r>
          </a:p>
          <a:p>
            <a:r>
              <a:rPr lang="en-US" sz="2200">
                <a:latin typeface="Aptos" panose="020B0004020202020204" pitchFamily="34" charset="0"/>
              </a:rPr>
              <a:t>fail: 7</a:t>
            </a:r>
          </a:p>
          <a:p>
            <a:r>
              <a:rPr lang="en-US" sz="2200">
                <a:latin typeface="Aptos" panose="020B0004020202020204" pitchFamily="34" charset="0"/>
              </a:rPr>
              <a:t>blocked: 0</a:t>
            </a:r>
          </a:p>
          <a:p>
            <a:r>
              <a:rPr lang="en-US" sz="2200">
                <a:latin typeface="Aptos" panose="020B0004020202020204" pitchFamily="34" charset="0"/>
              </a:rPr>
              <a:t>not run: 0</a:t>
            </a:r>
          </a:p>
          <a:p>
            <a:r>
              <a:rPr lang="en-US" sz="2200">
                <a:latin typeface="Aptos" panose="020B0004020202020204" pitchFamily="34" charset="0"/>
              </a:rPr>
              <a:t>execution progress: 100%</a:t>
            </a:r>
          </a:p>
          <a:p>
            <a:r>
              <a:rPr lang="en-US" sz="2200">
                <a:latin typeface="Aptos" panose="020B0004020202020204" pitchFamily="34" charset="0"/>
              </a:rPr>
              <a:t>Interface View</a:t>
            </a:r>
          </a:p>
          <a:p>
            <a:r>
              <a:rPr lang="en-US" sz="2200">
                <a:latin typeface="Aptos" panose="020B0004020202020204" pitchFamily="34" charset="0"/>
              </a:rPr>
              <a:t>Admin UI: 41 executed, 34 pass, 7 fail</a:t>
            </a:r>
          </a:p>
          <a:p>
            <a:r>
              <a:rPr lang="en-US" sz="2200">
                <a:latin typeface="Aptos" panose="020B0004020202020204" pitchFamily="34" charset="0"/>
              </a:rPr>
              <a:t>API: 19 executed, 19 pass</a:t>
            </a:r>
          </a:p>
          <a:p>
            <a:r>
              <a:rPr lang="en-US" sz="2200">
                <a:latin typeface="Aptos" panose="020B0004020202020204" pitchFamily="34" charset="0"/>
              </a:rPr>
              <a:t>Public UI: 3 executed, 3 pass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077960-7B38-4E57-3F04-C29A73ADBE5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678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36EB9-6CD3-DFD6-EE55-6D8622DB5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Defect And Risk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F2C1F0-091D-9B1F-F79A-F0853EFC8A91}"/>
              </a:ext>
            </a:extLst>
          </p:cNvPr>
          <p:cNvSpPr txBox="1"/>
          <p:nvPr/>
        </p:nvSpPr>
        <p:spPr>
          <a:xfrm>
            <a:off x="698500" y="1587500"/>
            <a:ext cx="6604000" cy="65248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4 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BUG-20260406-001 invoice-create defect, tracked in GitHub Issue #1</a:t>
            </a:r>
          </a:p>
          <a:p>
            <a:r>
              <a:rPr lang="en-US" sz="2200">
                <a:latin typeface="Aptos" panose="020B0004020202020204" pitchFamily="34" charset="0"/>
              </a:rPr>
              <a:t>BUG-20260411-002 purchase validation banner defect, tracked in GitHub Issue #2</a:t>
            </a:r>
          </a:p>
          <a:p>
            <a:r>
              <a:rPr lang="en-US" sz="2200">
                <a:latin typeface="Aptos" panose="020B0004020202020204" pitchFamily="34" charset="0"/>
              </a:rPr>
              <a:t>BUG-20260411-003 import-confirm defect, tracked in GitHub Issue #3</a:t>
            </a:r>
          </a:p>
          <a:p>
            <a:r>
              <a:rPr lang="en-US" sz="2200">
                <a:latin typeface="Aptos" panose="020B0004020202020204" pitchFamily="34" charset="0"/>
              </a:rPr>
              <a:t>BUG-20260411-004 invoice-cancel defect, tracked in GitHub Issue #4</a:t>
            </a:r>
          </a:p>
          <a:p>
            <a:r>
              <a:rPr lang="en-US" sz="2200">
                <a:latin typeface="Aptos" panose="020B0004020202020204" pitchFamily="34" charset="0"/>
              </a:rPr>
              <a:t>Closed Observations</a:t>
            </a:r>
          </a:p>
          <a:p>
            <a:r>
              <a:rPr lang="en-US" sz="2200">
                <a:latin typeface="Aptos" panose="020B0004020202020204" pitchFamily="34" charset="0"/>
              </a:rPr>
              <a:t>authorization redirect behavior</a:t>
            </a:r>
          </a:p>
          <a:p>
            <a:r>
              <a:rPr lang="en-US" sz="2200">
                <a:latin typeface="Aptos" panose="020B0004020202020204" pitchFamily="34" charset="0"/>
              </a:rPr>
              <a:t>product import preview locator issue</a:t>
            </a:r>
          </a:p>
          <a:p>
            <a:r>
              <a:rPr lang="en-US" sz="2200">
                <a:latin typeface="Aptos" panose="020B0004020202020204" pitchFamily="34" charset="0"/>
              </a:rPr>
              <a:t>Highest Remaining Risks</a:t>
            </a:r>
          </a:p>
          <a:p>
            <a:r>
              <a:rPr lang="en-US" sz="2200">
                <a:latin typeface="Aptos" panose="020B0004020202020204" pitchFamily="34" charset="0"/>
              </a:rPr>
              <a:t>unresolved invoice create and cancel flows</a:t>
            </a:r>
          </a:p>
          <a:p>
            <a:r>
              <a:rPr lang="en-US" sz="2200">
                <a:latin typeface="Aptos" panose="020B0004020202020204" pitchFamily="34" charset="0"/>
              </a:rPr>
              <a:t>purchase validation rendering defect</a:t>
            </a:r>
          </a:p>
          <a:p>
            <a:r>
              <a:rPr lang="en-US" sz="2200">
                <a:latin typeface="Aptos" panose="020B0004020202020204" pitchFamily="34" charset="0"/>
              </a:rPr>
              <a:t>import-confirm defect after valid preview</a:t>
            </a:r>
          </a:p>
          <a:p>
            <a:r>
              <a:rPr lang="en-US" sz="2200">
                <a:latin typeface="Aptos" panose="020B0004020202020204" pitchFamily="34" charset="0"/>
              </a:rPr>
              <a:t>no post-fix retest evidence yet for the confirmed defects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153AB-107C-6A08-E312-DD5FBFAA9D3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680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BCF06-A47A-32EC-778F-C6492C56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Key Insights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EC7DD6-428B-ACED-5615-3324E2ACBAA3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What We Can Defend</a:t>
            </a:r>
          </a:p>
          <a:p>
            <a:r>
              <a:rPr lang="en-US" sz="2200">
                <a:latin typeface="Aptos" panose="020B0004020202020204" pitchFamily="34" charset="0"/>
              </a:rPr>
              <a:t>project is testable and automation-capable</a:t>
            </a:r>
          </a:p>
          <a:p>
            <a:r>
              <a:rPr lang="en-US" sz="2200">
                <a:latin typeface="Aptos" panose="020B0004020202020204" pitchFamily="34" charset="0"/>
              </a:rPr>
              <a:t>source-based test design is strong</a:t>
            </a:r>
          </a:p>
          <a:p>
            <a:r>
              <a:rPr lang="en-US" sz="2200">
                <a:latin typeface="Aptos" panose="020B0004020202020204" pitchFamily="34" charset="0"/>
              </a:rPr>
              <a:t>traceability from scenario -&gt; test case -&gt; result -&gt; evidence -&gt; defect is in place</a:t>
            </a:r>
          </a:p>
          <a:p>
            <a:r>
              <a:rPr lang="en-US" sz="2200">
                <a:latin typeface="Aptos" panose="020B0004020202020204" pitchFamily="34" charset="0"/>
              </a:rPr>
              <a:t>What We Do Not Overclaim</a:t>
            </a:r>
          </a:p>
          <a:p>
            <a:r>
              <a:rPr lang="en-US" sz="2200">
                <a:latin typeface="Aptos" panose="020B0004020202020204" pitchFamily="34" charset="0"/>
              </a:rPr>
              <a:t>current evidence still does not prove full system stability</a:t>
            </a:r>
          </a:p>
          <a:p>
            <a:r>
              <a:rPr lang="en-US" sz="2200">
                <a:latin typeface="Aptos" panose="020B0004020202020204" pitchFamily="34" charset="0"/>
              </a:rPr>
              <a:t>four confirmed defects are currently open</a:t>
            </a:r>
          </a:p>
          <a:p>
            <a:r>
              <a:rPr lang="en-US" sz="2200">
                <a:latin typeface="Aptos" panose="020B0004020202020204" pitchFamily="34" charset="0"/>
              </a:rPr>
              <a:t>post-fix retest is still required for maximum confidence</a:t>
            </a:r>
          </a:p>
        </p:txBody>
      </p:sp>
    </p:spTree>
    <p:extLst>
      <p:ext uri="{BB962C8B-B14F-4D97-AF65-F5344CB8AC3E}">
        <p14:creationId xmlns:p14="http://schemas.microsoft.com/office/powerpoint/2010/main" val="2731307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0A7DC-95CC-7202-615D-8431932E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Next Steps And Submission Package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37436-35C4-44B6-2403-9376BFDF110E}"/>
              </a:ext>
            </a:extLst>
          </p:cNvPr>
          <p:cNvSpPr txBox="1"/>
          <p:nvPr/>
        </p:nvSpPr>
        <p:spPr>
          <a:xfrm>
            <a:off x="698500" y="1587500"/>
            <a:ext cx="6604000" cy="65248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Highest-Value Next Steps</a:t>
            </a:r>
          </a:p>
          <a:p>
            <a:r>
              <a:rPr lang="en-US" sz="2200">
                <a:latin typeface="Aptos" panose="020B0004020202020204" pitchFamily="34" charset="0"/>
              </a:rPr>
              <a:t>1. fix and retest invoice creation through GitHub Issue #1</a:t>
            </a:r>
          </a:p>
          <a:p>
            <a:r>
              <a:rPr lang="en-US" sz="2200">
                <a:latin typeface="Aptos" panose="020B0004020202020204" pitchFamily="34" charset="0"/>
              </a:rPr>
              <a:t>2. retest purchase validation, import confirm, and invoice cancellation after fixes are available</a:t>
            </a:r>
          </a:p>
          <a:p>
            <a:r>
              <a:rPr lang="en-US" sz="2200">
                <a:latin typeface="Aptos" panose="020B0004020202020204" pitchFamily="34" charset="0"/>
              </a:rPr>
              <a:t>3. add post-fix retest evidence for all 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4. add optional cross-browser evidence if Edge is available</a:t>
            </a:r>
          </a:p>
          <a:p>
            <a:r>
              <a:rPr lang="en-US" sz="2200">
                <a:latin typeface="Aptos" panose="020B0004020202020204" pitchFamily="34" charset="0"/>
              </a:rPr>
              <a:t>Submission Package</a:t>
            </a:r>
          </a:p>
          <a:p>
            <a:r>
              <a:rPr lang="en-US" sz="2200">
                <a:latin typeface="Aptos" panose="020B0004020202020204" pitchFamily="34" charset="0"/>
              </a:rPr>
              <a:t>Final report</a:t>
            </a:r>
          </a:p>
          <a:p>
            <a:r>
              <a:rPr lang="en-US" sz="2200">
                <a:latin typeface="Aptos" panose="020B0004020202020204" pitchFamily="34" charset="0"/>
              </a:rPr>
              <a:t>PPTX</a:t>
            </a:r>
          </a:p>
          <a:p>
            <a:r>
              <a:rPr lang="en-US" sz="2200">
                <a:latin typeface="Aptos" panose="020B0004020202020204" pitchFamily="34" charset="0"/>
              </a:rPr>
              <a:t>test cases</a:t>
            </a:r>
          </a:p>
          <a:p>
            <a:r>
              <a:rPr lang="en-US" sz="2200">
                <a:latin typeface="Aptos" panose="020B0004020202020204" pitchFamily="34" charset="0"/>
              </a:rPr>
              <a:t>test data</a:t>
            </a:r>
          </a:p>
          <a:p>
            <a:r>
              <a:rPr lang="en-US" sz="2200">
                <a:latin typeface="Aptos" panose="020B0004020202020204" pitchFamily="34" charset="0"/>
              </a:rPr>
              <a:t>automation scripts</a:t>
            </a:r>
          </a:p>
          <a:p>
            <a:r>
              <a:rPr lang="en-US" sz="2200">
                <a:latin typeface="Aptos" panose="020B0004020202020204" pitchFamily="34" charset="0"/>
              </a:rPr>
              <a:t>final results</a:t>
            </a:r>
          </a:p>
          <a:p>
            <a:r>
              <a:rPr lang="en-US" sz="2200">
                <a:latin typeface="Aptos" panose="020B0004020202020204" pitchFamily="34" charset="0"/>
              </a:rPr>
              <a:t>metrics</a:t>
            </a:r>
          </a:p>
          <a:p>
            <a:r>
              <a:rPr lang="en-US" sz="2200">
                <a:latin typeface="Aptos" panose="020B0004020202020204" pitchFamily="34" charset="0"/>
              </a:rPr>
              <a:t>evidence</a:t>
            </a:r>
          </a:p>
          <a:p>
            <a:r>
              <a:rPr lang="en-US" sz="2200">
                <a:latin typeface="Aptos" panose="020B0004020202020204" pitchFamily="34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2256719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A0921-8F88-29E2-5F40-89CAC1499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Q&amp;A Backup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3B2C65-7EBD-4C92-EED1-4EBB18ACEACF}"/>
              </a:ext>
            </a:extLst>
          </p:cNvPr>
          <p:cNvSpPr txBox="1"/>
          <p:nvPr/>
        </p:nvSpPr>
        <p:spPr>
          <a:xfrm>
            <a:off x="698500" y="1587500"/>
            <a:ext cx="6604000" cy="246221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Likely Questions</a:t>
            </a:r>
          </a:p>
          <a:p>
            <a:r>
              <a:rPr lang="en-US" sz="2200">
                <a:latin typeface="Aptos" panose="020B0004020202020204" pitchFamily="34" charset="0"/>
              </a:rPr>
              <a:t>Why do you have 4 confirmed defects?</a:t>
            </a:r>
          </a:p>
          <a:p>
            <a:r>
              <a:rPr lang="en-US" sz="2200">
                <a:latin typeface="Aptos" panose="020B0004020202020204" pitchFamily="34" charset="0"/>
              </a:rPr>
              <a:t>Why is execution progress now 100%?</a:t>
            </a:r>
          </a:p>
          <a:p>
            <a:r>
              <a:rPr lang="en-US" sz="2200">
                <a:latin typeface="Aptos" panose="020B0004020202020204" pitchFamily="34" charset="0"/>
              </a:rPr>
              <a:t>Why did you choose Selenium and Newman?</a:t>
            </a:r>
          </a:p>
          <a:p>
            <a:r>
              <a:rPr lang="en-US" sz="2200">
                <a:latin typeface="Aptos" panose="020B0004020202020204" pitchFamily="34" charset="0"/>
              </a:rPr>
              <a:t>How do you distinguish automation failure from product defect?</a:t>
            </a:r>
          </a:p>
          <a:p>
            <a:r>
              <a:rPr lang="en-US" sz="2200">
                <a:latin typeface="Aptos" panose="020B0004020202020204" pitchFamily="34" charset="0"/>
              </a:rPr>
              <a:t>Which module is riskiest right now?</a:t>
            </a:r>
          </a:p>
        </p:txBody>
      </p:sp>
    </p:spTree>
    <p:extLst>
      <p:ext uri="{BB962C8B-B14F-4D97-AF65-F5344CB8AC3E}">
        <p14:creationId xmlns:p14="http://schemas.microsoft.com/office/powerpoint/2010/main" val="1025403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648</Words>
  <Application>Microsoft Office PowerPoint</Application>
  <PresentationFormat>Widescreen</PresentationFormat>
  <Paragraphs>131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Powered by GPT - Software Quality Verification</vt:lpstr>
      <vt:lpstr>Project And Test Scope</vt:lpstr>
      <vt:lpstr>Test Strategy</vt:lpstr>
      <vt:lpstr>Coverage And Team Allocation</vt:lpstr>
      <vt:lpstr>Automation Implementation</vt:lpstr>
      <vt:lpstr>Real Execution Evidence</vt:lpstr>
      <vt:lpstr>Current Metrics</vt:lpstr>
      <vt:lpstr>Defect And Risk Analysis</vt:lpstr>
      <vt:lpstr>Key Insights</vt:lpstr>
      <vt:lpstr>Next Steps And Submission Package</vt:lpstr>
      <vt:lpstr>Q&amp;A Backup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Thiên Hoàng</dc:creator>
  <cp:lastModifiedBy>Thiên Hoàng</cp:lastModifiedBy>
  <cp:revision>1</cp:revision>
  <dcterms:created xsi:type="dcterms:W3CDTF">2026-04-11T10:03:45Z</dcterms:created>
  <dcterms:modified xsi:type="dcterms:W3CDTF">2026-04-11T10:03:45Z</dcterms:modified>
</cp:coreProperties>
</file>