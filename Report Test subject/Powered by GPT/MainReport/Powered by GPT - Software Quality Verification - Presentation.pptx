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6" d="100"/>
          <a:sy n="36" d="100"/>
        </p:scale>
        <p:origin x="4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0F406-38B4-101C-4526-0087BE238B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B97A93-5281-DCCA-3308-E9B396B5F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250F2-C827-D14F-BE74-7AA93D756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7B293-C39B-4341-97D8-8A5D589474B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5D2F1-5001-897A-5D55-9A0E47EB0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31251-F85E-C0FC-936B-6F900FD1A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2A513-68A6-42F7-94CC-B181D5F7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45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00121-1170-349E-A7E6-A7E7682BA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1E408-46A8-B8BD-E426-CCB7B1EEE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BFD9-AD94-6760-6EBD-1A5A8034D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7B293-C39B-4341-97D8-8A5D589474B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DFE6E-AD45-0AD2-7C00-7E1A7A815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35E1E-3593-722C-EECB-78F5E8EA6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2A513-68A6-42F7-94CC-B181D5F7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13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3461E-C2A2-47FC-E405-40209D52B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A3973-ECC4-7C82-19F8-3F3786185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E0EB2-7666-CB02-E8DF-D753B206F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7B293-C39B-4341-97D8-8A5D589474B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7353B-12E8-75C8-D506-52EAA3151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4C5A0-EBBD-C3B5-71E1-1C104747C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2A513-68A6-42F7-94CC-B181D5F7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902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08D84-4E49-1637-3A04-E67B3CCF6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C1875-07EE-A050-FFE1-E4A4C4690F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795A98-BD01-6CC6-F242-8A3ECA85A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DE5EF6-41D9-959A-10FD-612BD83F3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7B293-C39B-4341-97D8-8A5D589474B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01AA7-E5AB-912C-8E48-E5281BCCE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04BB1B-E86A-DA32-2EE5-ED08712B5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2A513-68A6-42F7-94CC-B181D5F7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11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8796A-3A90-6194-C5E7-DBEAFBE58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09B99-A3E1-51BA-F792-2618108BF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3E1F2-FC7C-876E-4082-E608A3427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40A954-B3D2-0D69-7A87-4589C9383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C643D7-641B-5D83-83D5-D5E800B064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938BFC-1D0F-A32A-5988-7DCD90196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7B293-C39B-4341-97D8-8A5D589474B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3177B4-DB06-4823-B350-D8C29306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6B9A2F-27FF-89EB-DC43-CA20A931F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2A513-68A6-42F7-94CC-B181D5F7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872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34E6C-3453-8960-95C9-B0505EC4C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7B2AC6-D81A-16E3-3AB5-3B14F1C13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7B293-C39B-4341-97D8-8A5D589474B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DD85EC-27D8-F58A-96B1-6817C3555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AF8BDD-BAF5-36D9-D231-89ED42CA2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2A513-68A6-42F7-94CC-B181D5F7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31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C5EB96-24FA-2819-D9D8-978B66D24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7B293-C39B-4341-97D8-8A5D589474B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2DF6A0-6A06-08DE-46E0-37072CE6B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48D67-1696-EF86-C59E-E6CC44305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2A513-68A6-42F7-94CC-B181D5F7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793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1EF70-F521-B823-E51E-ADD771F0C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D40D8-A5DF-785D-05F9-CE5FBD8DD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3F68A-7D48-9569-D6E6-D102D7B409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F194D-7F6C-AAD5-9424-BC0FD8CEA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7B293-C39B-4341-97D8-8A5D589474B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90EE8-A6D7-F920-B3EB-86A3DE5B0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A53E23-DD7C-E43C-6119-816C30EAF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2A513-68A6-42F7-94CC-B181D5F7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612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103C6-3A31-FF88-968B-0642858CE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93C130-2A6B-BD35-96C4-3FA7F0CC62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1F6DF4-CC4A-B7B7-3BE7-393DE4421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27004A-CE81-477C-2B29-3291CFAF4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7B293-C39B-4341-97D8-8A5D589474B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B3C0B-0CDC-6447-73AD-2495AF2FB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7CBDB-38F4-50CA-2C27-7252820C7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2A513-68A6-42F7-94CC-B181D5F7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915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62257-06DC-A608-591B-66B392A5E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79B511-6E9C-9964-A97A-A77CC8E63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771E3-D1BA-681B-7CBD-AE68327AB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7B293-C39B-4341-97D8-8A5D589474B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E26E0-3C9B-E5DF-2B05-EFA63C2DC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AFFD0-BF27-2C61-9927-7B4DD9769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2A513-68A6-42F7-94CC-B181D5F7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331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8021C5-864A-12EE-E81F-5F7DDB3306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BCA6F0-0723-4EFB-0447-CF1B14C78C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90688-8865-D1EC-9CB5-50F77ED04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7B293-C39B-4341-97D8-8A5D589474B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3F74B-151E-C155-C3A4-E8737ED51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C3574-F39A-0A0F-E429-FDA30F31C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2A513-68A6-42F7-94CC-B181D5F7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93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E83F64-15DE-C502-0202-02CD280E1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EAB74-A744-42E0-2970-E646CC9DB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F8FDD-ADE4-A755-2FA1-79CB129693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C7B293-C39B-4341-97D8-8A5D589474B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FA743-4839-2FB3-6A81-F92D5B4DB6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419FE-DEA7-DE89-1F06-CBFB24EC4E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42A513-68A6-42F7-94CC-B181D5F7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17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E470A-88BA-C0EE-CB14-A66CCACBD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Powered by GPT - Software Quality Verification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70E1FC-F68C-939D-C272-57E4F506D125}"/>
              </a:ext>
            </a:extLst>
          </p:cNvPr>
          <p:cNvSpPr txBox="1"/>
          <p:nvPr/>
        </p:nvSpPr>
        <p:spPr>
          <a:xfrm>
            <a:off x="698500" y="1587500"/>
            <a:ext cx="6604000" cy="34778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System Under Test: Online Sales Management System</a:t>
            </a:r>
          </a:p>
          <a:p>
            <a:r>
              <a:rPr lang="en-US" sz="2200">
                <a:latin typeface="Aptos" panose="020B0004020202020204" pitchFamily="34" charset="0"/>
              </a:rPr>
              <a:t>Course: Software Testing</a:t>
            </a:r>
          </a:p>
          <a:p>
            <a:r>
              <a:rPr lang="en-US" sz="2200">
                <a:latin typeface="Aptos" panose="020B0004020202020204" pitchFamily="34" charset="0"/>
              </a:rPr>
              <a:t>Team:</a:t>
            </a:r>
          </a:p>
          <a:p>
            <a:r>
              <a:rPr lang="en-US" sz="2200">
                <a:latin typeface="Aptos" panose="020B0004020202020204" pitchFamily="34" charset="0"/>
              </a:rPr>
              <a:t>Hoang Van Thien</a:t>
            </a:r>
          </a:p>
          <a:p>
            <a:r>
              <a:rPr lang="en-US" sz="2200">
                <a:latin typeface="Aptos" panose="020B0004020202020204" pitchFamily="34" charset="0"/>
              </a:rPr>
              <a:t>Nguyen Thanh Dat</a:t>
            </a:r>
          </a:p>
          <a:p>
            <a:r>
              <a:rPr lang="en-US" sz="2200">
                <a:latin typeface="Aptos" panose="020B0004020202020204" pitchFamily="34" charset="0"/>
              </a:rPr>
              <a:t>Le Quang Duy</a:t>
            </a:r>
          </a:p>
          <a:p>
            <a:r>
              <a:rPr lang="en-US" sz="2200">
                <a:latin typeface="Aptos" panose="020B0004020202020204" pitchFamily="34" charset="0"/>
              </a:rPr>
              <a:t>Repository:</a:t>
            </a:r>
          </a:p>
          <a:p>
            <a:r>
              <a:rPr lang="en-US" sz="2200">
                <a:latin typeface="Aptos" panose="020B0004020202020204" pitchFamily="34" charset="0"/>
              </a:rPr>
              <a:t>github.com/Alucard30Dec/Online-Sales-Management-System</a:t>
            </a:r>
          </a:p>
        </p:txBody>
      </p:sp>
    </p:spTree>
    <p:extLst>
      <p:ext uri="{BB962C8B-B14F-4D97-AF65-F5344CB8AC3E}">
        <p14:creationId xmlns:p14="http://schemas.microsoft.com/office/powerpoint/2010/main" val="3813466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F4DB3-BC61-0259-617C-7C3267369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Project And Test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829902-406C-606D-CDF0-BFC175B7105C}"/>
              </a:ext>
            </a:extLst>
          </p:cNvPr>
          <p:cNvSpPr txBox="1"/>
          <p:nvPr/>
        </p:nvSpPr>
        <p:spPr>
          <a:xfrm>
            <a:off x="698500" y="1587500"/>
            <a:ext cx="6604000" cy="38164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What We Tested</a:t>
            </a:r>
          </a:p>
          <a:p>
            <a:r>
              <a:rPr lang="en-US" sz="2200">
                <a:latin typeface="Aptos" panose="020B0004020202020204" pitchFamily="34" charset="0"/>
              </a:rPr>
              <a:t>Admin UI</a:t>
            </a:r>
          </a:p>
          <a:p>
            <a:r>
              <a:rPr lang="en-US" sz="2200">
                <a:latin typeface="Aptos" panose="020B0004020202020204" pitchFamily="34" charset="0"/>
              </a:rPr>
              <a:t>Public Product Catalog</a:t>
            </a:r>
          </a:p>
          <a:p>
            <a:r>
              <a:rPr lang="en-US" sz="2200">
                <a:latin typeface="Aptos" panose="020B0004020202020204" pitchFamily="34" charset="0"/>
              </a:rPr>
              <a:t>Health API</a:t>
            </a:r>
          </a:p>
          <a:p>
            <a:r>
              <a:rPr lang="en-US" sz="2200">
                <a:latin typeface="Aptos" panose="020B0004020202020204" pitchFamily="34" charset="0"/>
              </a:rPr>
              <a:t>Catalog API</a:t>
            </a:r>
          </a:p>
          <a:p>
            <a:r>
              <a:rPr lang="en-US" sz="2200">
                <a:latin typeface="Aptos" panose="020B0004020202020204" pitchFamily="34" charset="0"/>
              </a:rPr>
              <a:t>Highest-Risk Business Areas</a:t>
            </a:r>
          </a:p>
          <a:p>
            <a:r>
              <a:rPr lang="en-US" sz="2200">
                <a:latin typeface="Aptos" panose="020B0004020202020204" pitchFamily="34" charset="0"/>
              </a:rPr>
              <a:t>Authentication and permissions</a:t>
            </a:r>
          </a:p>
          <a:p>
            <a:r>
              <a:rPr lang="en-US" sz="2200">
                <a:latin typeface="Aptos" panose="020B0004020202020204" pitchFamily="34" charset="0"/>
              </a:rPr>
              <a:t>Products and product import</a:t>
            </a:r>
          </a:p>
          <a:p>
            <a:r>
              <a:rPr lang="en-US" sz="2200">
                <a:latin typeface="Aptos" panose="020B0004020202020204" pitchFamily="34" charset="0"/>
              </a:rPr>
              <a:t>Purchases</a:t>
            </a:r>
          </a:p>
          <a:p>
            <a:r>
              <a:rPr lang="en-US" sz="2200">
                <a:latin typeface="Aptos" panose="020B0004020202020204" pitchFamily="34" charset="0"/>
              </a:rPr>
              <a:t>Invoices</a:t>
            </a:r>
          </a:p>
          <a:p>
            <a:r>
              <a:rPr lang="en-US" sz="2200">
                <a:latin typeface="Aptos" panose="020B0004020202020204" pitchFamily="34" charset="0"/>
              </a:rPr>
              <a:t>Stock and reports</a:t>
            </a:r>
          </a:p>
        </p:txBody>
      </p:sp>
    </p:spTree>
    <p:extLst>
      <p:ext uri="{BB962C8B-B14F-4D97-AF65-F5344CB8AC3E}">
        <p14:creationId xmlns:p14="http://schemas.microsoft.com/office/powerpoint/2010/main" val="3932739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23ECF-AF6C-1FC1-0DBE-83C26C9BB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Test Strategy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23528D-80CF-0283-D8E8-D5AEB77575C4}"/>
              </a:ext>
            </a:extLst>
          </p:cNvPr>
          <p:cNvSpPr txBox="1"/>
          <p:nvPr/>
        </p:nvSpPr>
        <p:spPr>
          <a:xfrm>
            <a:off x="698500" y="1587500"/>
            <a:ext cx="6604000" cy="415498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Strategy</a:t>
            </a:r>
          </a:p>
          <a:p>
            <a:r>
              <a:rPr lang="en-US" sz="2200">
                <a:latin typeface="Aptos" panose="020B0004020202020204" pitchFamily="34" charset="0"/>
              </a:rPr>
              <a:t>source-based project audit, not generic template testing</a:t>
            </a:r>
          </a:p>
          <a:p>
            <a:r>
              <a:rPr lang="en-US" sz="2200">
                <a:latin typeface="Aptos" panose="020B0004020202020204" pitchFamily="34" charset="0"/>
              </a:rPr>
              <a:t>black-box execution + white-box-informed test design</a:t>
            </a:r>
          </a:p>
          <a:p>
            <a:r>
              <a:rPr lang="en-US" sz="2200">
                <a:latin typeface="Aptos" panose="020B0004020202020204" pitchFamily="34" charset="0"/>
              </a:rPr>
              <a:t>manual testing for business logic and visible validation</a:t>
            </a:r>
          </a:p>
          <a:p>
            <a:r>
              <a:rPr lang="en-US" sz="2200">
                <a:latin typeface="Aptos" panose="020B0004020202020204" pitchFamily="34" charset="0"/>
              </a:rPr>
              <a:t>targeted automation for high-value regression paths</a:t>
            </a:r>
          </a:p>
          <a:p>
            <a:r>
              <a:rPr lang="en-US" sz="2200">
                <a:latin typeface="Aptos" panose="020B0004020202020204" pitchFamily="34" charset="0"/>
              </a:rPr>
              <a:t>Automation Stack</a:t>
            </a:r>
          </a:p>
          <a:p>
            <a:r>
              <a:rPr lang="en-US" sz="2200">
                <a:latin typeface="Aptos" panose="020B0004020202020204" pitchFamily="34" charset="0"/>
              </a:rPr>
              <a:t>UI: .NET 8 + xUnit + Selenium</a:t>
            </a:r>
          </a:p>
          <a:p>
            <a:r>
              <a:rPr lang="en-US" sz="2200">
                <a:latin typeface="Aptos" panose="020B0004020202020204" pitchFamily="34" charset="0"/>
              </a:rPr>
              <a:t>API: Postman + Newman</a:t>
            </a:r>
          </a:p>
          <a:p>
            <a:r>
              <a:rPr lang="en-US" sz="2200">
                <a:latin typeface="Aptos" panose="020B0004020202020204" pitchFamily="34" charset="0"/>
              </a:rPr>
              <a:t>structure: Page Object Model + reusable helpers</a:t>
            </a:r>
          </a:p>
        </p:txBody>
      </p:sp>
    </p:spTree>
    <p:extLst>
      <p:ext uri="{BB962C8B-B14F-4D97-AF65-F5344CB8AC3E}">
        <p14:creationId xmlns:p14="http://schemas.microsoft.com/office/powerpoint/2010/main" val="4265834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4B849-B066-EB6F-A9EB-7B6D0DF6B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Coverage And Team Allocation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68C5B4-4ECC-5E4A-5DBD-2C7BD7F48A59}"/>
              </a:ext>
            </a:extLst>
          </p:cNvPr>
          <p:cNvSpPr txBox="1"/>
          <p:nvPr/>
        </p:nvSpPr>
        <p:spPr>
          <a:xfrm>
            <a:off x="698500" y="1587500"/>
            <a:ext cx="6604000" cy="34778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Design Coverage</a:t>
            </a:r>
          </a:p>
          <a:p>
            <a:r>
              <a:rPr lang="en-US" sz="2200">
                <a:latin typeface="Aptos" panose="020B0004020202020204" pitchFamily="34" charset="0"/>
              </a:rPr>
              <a:t>42 documented scenarios</a:t>
            </a:r>
          </a:p>
          <a:p>
            <a:r>
              <a:rPr lang="en-US" sz="2200">
                <a:latin typeface="Aptos" panose="020B0004020202020204" pitchFamily="34" charset="0"/>
              </a:rPr>
              <a:t>63 total test cases</a:t>
            </a:r>
          </a:p>
          <a:p>
            <a:r>
              <a:rPr lang="en-US" sz="2200">
                <a:latin typeface="Aptos" panose="020B0004020202020204" pitchFamily="34" charset="0"/>
              </a:rPr>
              <a:t>44 UI</a:t>
            </a:r>
          </a:p>
          <a:p>
            <a:r>
              <a:rPr lang="en-US" sz="2200">
                <a:latin typeface="Aptos" panose="020B0004020202020204" pitchFamily="34" charset="0"/>
              </a:rPr>
              <a:t>19 API</a:t>
            </a:r>
          </a:p>
          <a:p>
            <a:r>
              <a:rPr lang="en-US" sz="2200">
                <a:latin typeface="Aptos" panose="020B0004020202020204" pitchFamily="34" charset="0"/>
              </a:rPr>
              <a:t>100% scenario design coverage</a:t>
            </a:r>
          </a:p>
          <a:p>
            <a:r>
              <a:rPr lang="en-US" sz="2200">
                <a:latin typeface="Aptos" panose="020B0004020202020204" pitchFamily="34" charset="0"/>
              </a:rPr>
              <a:t>Team Allocation</a:t>
            </a:r>
          </a:p>
          <a:p>
            <a:r>
              <a:rPr lang="en-US" sz="2200">
                <a:latin typeface="Aptos" panose="020B0004020202020204" pitchFamily="34" charset="0"/>
              </a:rPr>
              <a:t>Hoang Van Thien: 17 UI cases</a:t>
            </a:r>
          </a:p>
          <a:p>
            <a:r>
              <a:rPr lang="en-US" sz="2200">
                <a:latin typeface="Aptos" panose="020B0004020202020204" pitchFamily="34" charset="0"/>
              </a:rPr>
              <a:t>Nguyen Thanh Dat: 13 UI cases</a:t>
            </a:r>
          </a:p>
          <a:p>
            <a:r>
              <a:rPr lang="en-US" sz="2200">
                <a:latin typeface="Aptos" panose="020B0004020202020204" pitchFamily="34" charset="0"/>
              </a:rPr>
              <a:t>Le Quang Duy: 14 UI cases</a:t>
            </a:r>
          </a:p>
        </p:txBody>
      </p:sp>
    </p:spTree>
    <p:extLst>
      <p:ext uri="{BB962C8B-B14F-4D97-AF65-F5344CB8AC3E}">
        <p14:creationId xmlns:p14="http://schemas.microsoft.com/office/powerpoint/2010/main" val="1742529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46124-779D-E355-F1AB-32B20B239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Automation 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85FACF-8EB7-96E5-12D4-242404A071AC}"/>
              </a:ext>
            </a:extLst>
          </p:cNvPr>
          <p:cNvSpPr txBox="1"/>
          <p:nvPr/>
        </p:nvSpPr>
        <p:spPr>
          <a:xfrm>
            <a:off x="698500" y="1587500"/>
            <a:ext cx="6604000" cy="38164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Implemented Automation Assets</a:t>
            </a:r>
          </a:p>
          <a:p>
            <a:r>
              <a:rPr lang="en-US" sz="2200">
                <a:latin typeface="Aptos" panose="020B0004020202020204" pitchFamily="34" charset="0"/>
              </a:rPr>
              <a:t>Selenium UI project with Page Objects</a:t>
            </a:r>
          </a:p>
          <a:p>
            <a:r>
              <a:rPr lang="en-US" sz="2200">
                <a:latin typeface="Aptos" panose="020B0004020202020204" pitchFamily="34" charset="0"/>
              </a:rPr>
              <a:t>shared config, wait helpers, screenshot capture</a:t>
            </a:r>
          </a:p>
          <a:p>
            <a:r>
              <a:rPr lang="en-US" sz="2200">
                <a:latin typeface="Aptos" panose="020B0004020202020204" pitchFamily="34" charset="0"/>
              </a:rPr>
              <a:t>Postman collection with Newman runner</a:t>
            </a:r>
          </a:p>
          <a:p>
            <a:r>
              <a:rPr lang="en-US" sz="2200">
                <a:latin typeface="Aptos" panose="020B0004020202020204" pitchFamily="34" charset="0"/>
              </a:rPr>
              <a:t>Priority Automated Flows</a:t>
            </a:r>
          </a:p>
          <a:p>
            <a:r>
              <a:rPr lang="en-US" sz="2200">
                <a:latin typeface="Aptos" panose="020B0004020202020204" pitchFamily="34" charset="0"/>
              </a:rPr>
              <a:t>admin login smoke</a:t>
            </a:r>
          </a:p>
          <a:p>
            <a:r>
              <a:rPr lang="en-US" sz="2200">
                <a:latin typeface="Aptos" panose="020B0004020202020204" pitchFamily="34" charset="0"/>
              </a:rPr>
              <a:t>sales permission check</a:t>
            </a:r>
          </a:p>
          <a:p>
            <a:r>
              <a:rPr lang="en-US" sz="2200">
                <a:latin typeface="Aptos" panose="020B0004020202020204" pitchFamily="34" charset="0"/>
              </a:rPr>
              <a:t>purchase creation</a:t>
            </a:r>
          </a:p>
          <a:p>
            <a:r>
              <a:rPr lang="en-US" sz="2200">
                <a:latin typeface="Aptos" panose="020B0004020202020204" pitchFamily="34" charset="0"/>
              </a:rPr>
              <a:t>invoice creation</a:t>
            </a:r>
          </a:p>
          <a:p>
            <a:r>
              <a:rPr lang="en-US" sz="2200">
                <a:latin typeface="Aptos" panose="020B0004020202020204" pitchFamily="34" charset="0"/>
              </a:rPr>
              <a:t>product import preview</a:t>
            </a:r>
          </a:p>
          <a:p>
            <a:r>
              <a:rPr lang="en-US" sz="2200">
                <a:latin typeface="Aptos" panose="020B0004020202020204" pitchFamily="34" charset="0"/>
              </a:rPr>
              <a:t>API health and catalog groups</a:t>
            </a:r>
          </a:p>
        </p:txBody>
      </p:sp>
    </p:spTree>
    <p:extLst>
      <p:ext uri="{BB962C8B-B14F-4D97-AF65-F5344CB8AC3E}">
        <p14:creationId xmlns:p14="http://schemas.microsoft.com/office/powerpoint/2010/main" val="647110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59349-CB18-8063-0967-19A13C649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Real Execution Evidence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22B5BA-CCFC-33DD-4EB1-3DF6946D4ED9}"/>
              </a:ext>
            </a:extLst>
          </p:cNvPr>
          <p:cNvSpPr txBox="1"/>
          <p:nvPr/>
        </p:nvSpPr>
        <p:spPr>
          <a:xfrm>
            <a:off x="698500" y="1587500"/>
            <a:ext cx="6604000" cy="686341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Confirmed Pass Evidence</a:t>
            </a:r>
          </a:p>
          <a:p>
            <a:r>
              <a:rPr lang="en-US" sz="2200">
                <a:latin typeface="Aptos" panose="020B0004020202020204" pitchFamily="34" charset="0"/>
              </a:rPr>
              <a:t>TC-UI-AUTH-001 passed</a:t>
            </a:r>
          </a:p>
          <a:p>
            <a:r>
              <a:rPr lang="en-US" sz="2200">
                <a:latin typeface="Aptos" panose="020B0004020202020204" pitchFamily="34" charset="0"/>
              </a:rPr>
              <a:t>TC-UI-AUTH-003 passed</a:t>
            </a:r>
          </a:p>
          <a:p>
            <a:r>
              <a:rPr lang="en-US" sz="2200">
                <a:latin typeface="Aptos" panose="020B0004020202020204" pitchFamily="34" charset="0"/>
              </a:rPr>
              <a:t>TC-UI-IMP-002 passed</a:t>
            </a:r>
          </a:p>
          <a:p>
            <a:r>
              <a:rPr lang="en-US" sz="2200">
                <a:latin typeface="Aptos" panose="020B0004020202020204" pitchFamily="34" charset="0"/>
              </a:rPr>
              <a:t>TC-UI-PUR-001 and TC-UI-PUR-007 passed</a:t>
            </a:r>
          </a:p>
          <a:p>
            <a:r>
              <a:rPr lang="en-US" sz="2200">
                <a:latin typeface="Aptos" panose="020B0004020202020204" pitchFamily="34" charset="0"/>
              </a:rPr>
              <a:t>extended reruns now also pass admin-user, customer, report, stock, and public-catalog flows</a:t>
            </a:r>
          </a:p>
          <a:p>
            <a:r>
              <a:rPr lang="en-US" sz="2200">
                <a:latin typeface="Aptos" panose="020B0004020202020204" pitchFamily="34" charset="0"/>
              </a:rPr>
              <a:t>full API collection passed (19 / 19)</a:t>
            </a:r>
          </a:p>
          <a:p>
            <a:r>
              <a:rPr lang="en-US" sz="2200">
                <a:latin typeface="Aptos" panose="020B0004020202020204" pitchFamily="34" charset="0"/>
              </a:rPr>
              <a:t>Confirmed Fail Evidence</a:t>
            </a:r>
          </a:p>
          <a:p>
            <a:r>
              <a:rPr lang="en-US" sz="2200">
                <a:latin typeface="Aptos" panose="020B0004020202020204" pitchFamily="34" charset="0"/>
              </a:rPr>
              <a:t>TC-UI-INV-001, TC-UI-INV-003, and TC-UI-INV-006 fail from the same invoice-create defect</a:t>
            </a:r>
          </a:p>
          <a:p>
            <a:r>
              <a:rPr lang="en-US" sz="2200">
                <a:latin typeface="Aptos" panose="020B0004020202020204" pitchFamily="34" charset="0"/>
              </a:rPr>
              <a:t>TC-UI-INV-005 fails in invoice cancellation</a:t>
            </a:r>
          </a:p>
          <a:p>
            <a:r>
              <a:rPr lang="en-US" sz="2200">
                <a:latin typeface="Aptos" panose="020B0004020202020204" pitchFamily="34" charset="0"/>
              </a:rPr>
              <a:t>TC-UI-IMP-003 fails in import confirm</a:t>
            </a:r>
          </a:p>
          <a:p>
            <a:r>
              <a:rPr lang="en-US" sz="2200">
                <a:latin typeface="Aptos" panose="020B0004020202020204" pitchFamily="34" charset="0"/>
              </a:rPr>
              <a:t>TC-UI-PUR-002 and TC-UI-PUR-003 fail on blank validation banners</a:t>
            </a:r>
          </a:p>
          <a:p>
            <a:r>
              <a:rPr lang="en-US" sz="2200">
                <a:latin typeface="Aptos" panose="020B0004020202020204" pitchFamily="34" charset="0"/>
              </a:rPr>
              <a:t>Important Rule</a:t>
            </a:r>
          </a:p>
          <a:p>
            <a:r>
              <a:rPr lang="en-US" sz="2200">
                <a:latin typeface="Aptos" panose="020B0004020202020204" pitchFamily="34" charset="0"/>
              </a:rPr>
              <a:t>no unexecuted test was marked as pass</a:t>
            </a:r>
          </a:p>
          <a:p>
            <a:r>
              <a:rPr lang="en-US" sz="2200">
                <a:latin typeface="Aptos" panose="020B0004020202020204" pitchFamily="34" charset="0"/>
              </a:rPr>
              <a:t>UI suite no longer contains Not Run</a:t>
            </a:r>
          </a:p>
          <a:p>
            <a:r>
              <a:rPr lang="en-US" sz="2200">
                <a:latin typeface="Aptos" panose="020B0004020202020204" pitchFamily="34" charset="0"/>
              </a:rPr>
              <a:t>4 confirmed defects are recorded, and 1 of them is already tracked in GitHub Issue #1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DC671F-BFC2-1150-361D-865EFDCF309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0" y="1524000"/>
            <a:ext cx="78740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949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8594C-E952-F25D-C21E-E2540C3E3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Current Metrics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EA19F3-00E6-D389-2C01-4FD322287F80}"/>
              </a:ext>
            </a:extLst>
          </p:cNvPr>
          <p:cNvSpPr txBox="1"/>
          <p:nvPr/>
        </p:nvSpPr>
        <p:spPr>
          <a:xfrm>
            <a:off x="698500" y="1587500"/>
            <a:ext cx="6604000" cy="415498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Execution Summary As Of 2026-04-11</a:t>
            </a:r>
          </a:p>
          <a:p>
            <a:r>
              <a:rPr lang="en-US" sz="2200">
                <a:latin typeface="Aptos" panose="020B0004020202020204" pitchFamily="34" charset="0"/>
              </a:rPr>
              <a:t>total cases: 63</a:t>
            </a:r>
          </a:p>
          <a:p>
            <a:r>
              <a:rPr lang="en-US" sz="2200">
                <a:latin typeface="Aptos" panose="020B0004020202020204" pitchFamily="34" charset="0"/>
              </a:rPr>
              <a:t>executed: 63</a:t>
            </a:r>
          </a:p>
          <a:p>
            <a:r>
              <a:rPr lang="en-US" sz="2200">
                <a:latin typeface="Aptos" panose="020B0004020202020204" pitchFamily="34" charset="0"/>
              </a:rPr>
              <a:t>pass: 56</a:t>
            </a:r>
          </a:p>
          <a:p>
            <a:r>
              <a:rPr lang="en-US" sz="2200">
                <a:latin typeface="Aptos" panose="020B0004020202020204" pitchFamily="34" charset="0"/>
              </a:rPr>
              <a:t>fail: 7</a:t>
            </a:r>
          </a:p>
          <a:p>
            <a:r>
              <a:rPr lang="en-US" sz="2200">
                <a:latin typeface="Aptos" panose="020B0004020202020204" pitchFamily="34" charset="0"/>
              </a:rPr>
              <a:t>blocked: 0</a:t>
            </a:r>
          </a:p>
          <a:p>
            <a:r>
              <a:rPr lang="en-US" sz="2200">
                <a:latin typeface="Aptos" panose="020B0004020202020204" pitchFamily="34" charset="0"/>
              </a:rPr>
              <a:t>not run: 0</a:t>
            </a:r>
          </a:p>
          <a:p>
            <a:r>
              <a:rPr lang="en-US" sz="2200">
                <a:latin typeface="Aptos" panose="020B0004020202020204" pitchFamily="34" charset="0"/>
              </a:rPr>
              <a:t>execution progress: 100%</a:t>
            </a:r>
          </a:p>
          <a:p>
            <a:r>
              <a:rPr lang="en-US" sz="2200">
                <a:latin typeface="Aptos" panose="020B0004020202020204" pitchFamily="34" charset="0"/>
              </a:rPr>
              <a:t>Interface View</a:t>
            </a:r>
          </a:p>
          <a:p>
            <a:r>
              <a:rPr lang="en-US" sz="2200">
                <a:latin typeface="Aptos" panose="020B0004020202020204" pitchFamily="34" charset="0"/>
              </a:rPr>
              <a:t>Admin UI: 41 executed, 34 pass, 7 fail</a:t>
            </a:r>
          </a:p>
          <a:p>
            <a:r>
              <a:rPr lang="en-US" sz="2200">
                <a:latin typeface="Aptos" panose="020B0004020202020204" pitchFamily="34" charset="0"/>
              </a:rPr>
              <a:t>API: 19 executed, 19 pass</a:t>
            </a:r>
          </a:p>
          <a:p>
            <a:r>
              <a:rPr lang="en-US" sz="2200">
                <a:latin typeface="Aptos" panose="020B0004020202020204" pitchFamily="34" charset="0"/>
              </a:rPr>
              <a:t>Public UI: 3 executed, 3 pass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DC0842-5834-0120-D665-B037F4B2D1D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0" y="1524000"/>
            <a:ext cx="78740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753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E75CF-71A9-0CE4-E2F1-BFDACA26F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Defect And Risk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B10611-5CB4-7DBB-7169-28CA12C552DB}"/>
              </a:ext>
            </a:extLst>
          </p:cNvPr>
          <p:cNvSpPr txBox="1"/>
          <p:nvPr/>
        </p:nvSpPr>
        <p:spPr>
          <a:xfrm>
            <a:off x="698500" y="1587500"/>
            <a:ext cx="6604000" cy="65248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Confirmed Defects</a:t>
            </a:r>
          </a:p>
          <a:p>
            <a:r>
              <a:rPr lang="en-US" sz="2200">
                <a:latin typeface="Aptos" panose="020B0004020202020204" pitchFamily="34" charset="0"/>
              </a:rPr>
              <a:t>4 confirmed defects</a:t>
            </a:r>
          </a:p>
          <a:p>
            <a:r>
              <a:rPr lang="en-US" sz="2200">
                <a:latin typeface="Aptos" panose="020B0004020202020204" pitchFamily="34" charset="0"/>
              </a:rPr>
              <a:t>BUG-20260406-001 invoice-create defect, tracked in GitHub Issue #1</a:t>
            </a:r>
          </a:p>
          <a:p>
            <a:r>
              <a:rPr lang="en-US" sz="2200">
                <a:latin typeface="Aptos" panose="020B0004020202020204" pitchFamily="34" charset="0"/>
              </a:rPr>
              <a:t>BUG-20260411-002 purchase validation banner defect, tracked in GitHub Issue #2</a:t>
            </a:r>
          </a:p>
          <a:p>
            <a:r>
              <a:rPr lang="en-US" sz="2200">
                <a:latin typeface="Aptos" panose="020B0004020202020204" pitchFamily="34" charset="0"/>
              </a:rPr>
              <a:t>BUG-20260411-003 import-confirm defect, tracked in GitHub Issue #3</a:t>
            </a:r>
          </a:p>
          <a:p>
            <a:r>
              <a:rPr lang="en-US" sz="2200">
                <a:latin typeface="Aptos" panose="020B0004020202020204" pitchFamily="34" charset="0"/>
              </a:rPr>
              <a:t>BUG-20260411-004 invoice-cancel defect, tracked in GitHub Issue #4</a:t>
            </a:r>
          </a:p>
          <a:p>
            <a:r>
              <a:rPr lang="en-US" sz="2200">
                <a:latin typeface="Aptos" panose="020B0004020202020204" pitchFamily="34" charset="0"/>
              </a:rPr>
              <a:t>Closed Observations</a:t>
            </a:r>
          </a:p>
          <a:p>
            <a:r>
              <a:rPr lang="en-US" sz="2200">
                <a:latin typeface="Aptos" panose="020B0004020202020204" pitchFamily="34" charset="0"/>
              </a:rPr>
              <a:t>authorization redirect behavior</a:t>
            </a:r>
          </a:p>
          <a:p>
            <a:r>
              <a:rPr lang="en-US" sz="2200">
                <a:latin typeface="Aptos" panose="020B0004020202020204" pitchFamily="34" charset="0"/>
              </a:rPr>
              <a:t>product import preview locator issue</a:t>
            </a:r>
          </a:p>
          <a:p>
            <a:r>
              <a:rPr lang="en-US" sz="2200">
                <a:latin typeface="Aptos" panose="020B0004020202020204" pitchFamily="34" charset="0"/>
              </a:rPr>
              <a:t>Highest Remaining Risks</a:t>
            </a:r>
          </a:p>
          <a:p>
            <a:r>
              <a:rPr lang="en-US" sz="2200">
                <a:latin typeface="Aptos" panose="020B0004020202020204" pitchFamily="34" charset="0"/>
              </a:rPr>
              <a:t>unresolved invoice create and cancel flows</a:t>
            </a:r>
          </a:p>
          <a:p>
            <a:r>
              <a:rPr lang="en-US" sz="2200">
                <a:latin typeface="Aptos" panose="020B0004020202020204" pitchFamily="34" charset="0"/>
              </a:rPr>
              <a:t>purchase validation rendering defect</a:t>
            </a:r>
          </a:p>
          <a:p>
            <a:r>
              <a:rPr lang="en-US" sz="2200">
                <a:latin typeface="Aptos" panose="020B0004020202020204" pitchFamily="34" charset="0"/>
              </a:rPr>
              <a:t>import-confirm defect after valid preview</a:t>
            </a:r>
          </a:p>
          <a:p>
            <a:r>
              <a:rPr lang="en-US" sz="2200">
                <a:latin typeface="Aptos" panose="020B0004020202020204" pitchFamily="34" charset="0"/>
              </a:rPr>
              <a:t>no post-fix retest evidence yet for the confirmed defects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6522F4-012A-7C5C-2828-31097C10623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0" y="1524000"/>
            <a:ext cx="78740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893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BE020-A800-6F6A-0B72-74E9B3BC8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Key 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5C5D9E-A901-520C-58AB-808CFCB5E679}"/>
              </a:ext>
            </a:extLst>
          </p:cNvPr>
          <p:cNvSpPr txBox="1"/>
          <p:nvPr/>
        </p:nvSpPr>
        <p:spPr>
          <a:xfrm>
            <a:off x="698500" y="1587500"/>
            <a:ext cx="6604000" cy="38164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What We Can Defend</a:t>
            </a:r>
          </a:p>
          <a:p>
            <a:r>
              <a:rPr lang="en-US" sz="2200">
                <a:latin typeface="Aptos" panose="020B0004020202020204" pitchFamily="34" charset="0"/>
              </a:rPr>
              <a:t>project is testable and automation-capable</a:t>
            </a:r>
          </a:p>
          <a:p>
            <a:r>
              <a:rPr lang="en-US" sz="2200">
                <a:latin typeface="Aptos" panose="020B0004020202020204" pitchFamily="34" charset="0"/>
              </a:rPr>
              <a:t>source-based test design is strong</a:t>
            </a:r>
          </a:p>
          <a:p>
            <a:r>
              <a:rPr lang="en-US" sz="2200">
                <a:latin typeface="Aptos" panose="020B0004020202020204" pitchFamily="34" charset="0"/>
              </a:rPr>
              <a:t>traceability from scenario -&gt; test case -&gt; result -&gt; evidence -&gt; defect is in place</a:t>
            </a:r>
          </a:p>
          <a:p>
            <a:r>
              <a:rPr lang="en-US" sz="2200">
                <a:latin typeface="Aptos" panose="020B0004020202020204" pitchFamily="34" charset="0"/>
              </a:rPr>
              <a:t>What We Do Not Overclaim</a:t>
            </a:r>
          </a:p>
          <a:p>
            <a:r>
              <a:rPr lang="en-US" sz="2200">
                <a:latin typeface="Aptos" panose="020B0004020202020204" pitchFamily="34" charset="0"/>
              </a:rPr>
              <a:t>current evidence still does not prove full system stability</a:t>
            </a:r>
          </a:p>
          <a:p>
            <a:r>
              <a:rPr lang="en-US" sz="2200">
                <a:latin typeface="Aptos" panose="020B0004020202020204" pitchFamily="34" charset="0"/>
              </a:rPr>
              <a:t>four confirmed defects are currently open</a:t>
            </a:r>
          </a:p>
          <a:p>
            <a:r>
              <a:rPr lang="en-US" sz="2200">
                <a:latin typeface="Aptos" panose="020B0004020202020204" pitchFamily="34" charset="0"/>
              </a:rPr>
              <a:t>post-fix retest is still required for maximum confidence</a:t>
            </a:r>
          </a:p>
        </p:txBody>
      </p:sp>
    </p:spTree>
    <p:extLst>
      <p:ext uri="{BB962C8B-B14F-4D97-AF65-F5344CB8AC3E}">
        <p14:creationId xmlns:p14="http://schemas.microsoft.com/office/powerpoint/2010/main" val="4089292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01CC7-BAE3-6205-5598-60A9B398E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Next Steps And Submission Package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8B3106-29FD-06E5-7F45-CDE1C9CF2FF6}"/>
              </a:ext>
            </a:extLst>
          </p:cNvPr>
          <p:cNvSpPr txBox="1"/>
          <p:nvPr/>
        </p:nvSpPr>
        <p:spPr>
          <a:xfrm>
            <a:off x="698500" y="1587500"/>
            <a:ext cx="6604000" cy="65248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Highest-Value Next Steps</a:t>
            </a:r>
          </a:p>
          <a:p>
            <a:r>
              <a:rPr lang="en-US" sz="2200">
                <a:latin typeface="Aptos" panose="020B0004020202020204" pitchFamily="34" charset="0"/>
              </a:rPr>
              <a:t>1. fix and retest invoice creation through GitHub Issue #1</a:t>
            </a:r>
          </a:p>
          <a:p>
            <a:r>
              <a:rPr lang="en-US" sz="2200">
                <a:latin typeface="Aptos" panose="020B0004020202020204" pitchFamily="34" charset="0"/>
              </a:rPr>
              <a:t>2. attach the saved package evidence to GitHub Issues #2, #3, and #4</a:t>
            </a:r>
          </a:p>
          <a:p>
            <a:r>
              <a:rPr lang="en-US" sz="2200">
                <a:latin typeface="Aptos" panose="020B0004020202020204" pitchFamily="34" charset="0"/>
              </a:rPr>
              <a:t>3. add post-fix retest evidence for all confirmed defects</a:t>
            </a:r>
          </a:p>
          <a:p>
            <a:r>
              <a:rPr lang="en-US" sz="2200">
                <a:latin typeface="Aptos" panose="020B0004020202020204" pitchFamily="34" charset="0"/>
              </a:rPr>
              <a:t>4. add optional cross-browser evidence if Edge is available</a:t>
            </a:r>
          </a:p>
          <a:p>
            <a:r>
              <a:rPr lang="en-US" sz="2200">
                <a:latin typeface="Aptos" panose="020B0004020202020204" pitchFamily="34" charset="0"/>
              </a:rPr>
              <a:t>Submission Package</a:t>
            </a:r>
          </a:p>
          <a:p>
            <a:r>
              <a:rPr lang="en-US" sz="2200">
                <a:latin typeface="Aptos" panose="020B0004020202020204" pitchFamily="34" charset="0"/>
              </a:rPr>
              <a:t>Final report</a:t>
            </a:r>
          </a:p>
          <a:p>
            <a:r>
              <a:rPr lang="en-US" sz="2200">
                <a:latin typeface="Aptos" panose="020B0004020202020204" pitchFamily="34" charset="0"/>
              </a:rPr>
              <a:t>PPTX</a:t>
            </a:r>
          </a:p>
          <a:p>
            <a:r>
              <a:rPr lang="en-US" sz="2200">
                <a:latin typeface="Aptos" panose="020B0004020202020204" pitchFamily="34" charset="0"/>
              </a:rPr>
              <a:t>test cases</a:t>
            </a:r>
          </a:p>
          <a:p>
            <a:r>
              <a:rPr lang="en-US" sz="2200">
                <a:latin typeface="Aptos" panose="020B0004020202020204" pitchFamily="34" charset="0"/>
              </a:rPr>
              <a:t>test data</a:t>
            </a:r>
          </a:p>
          <a:p>
            <a:r>
              <a:rPr lang="en-US" sz="2200">
                <a:latin typeface="Aptos" panose="020B0004020202020204" pitchFamily="34" charset="0"/>
              </a:rPr>
              <a:t>automation scripts</a:t>
            </a:r>
          </a:p>
          <a:p>
            <a:r>
              <a:rPr lang="en-US" sz="2200">
                <a:latin typeface="Aptos" panose="020B0004020202020204" pitchFamily="34" charset="0"/>
              </a:rPr>
              <a:t>final results</a:t>
            </a:r>
          </a:p>
          <a:p>
            <a:r>
              <a:rPr lang="en-US" sz="2200">
                <a:latin typeface="Aptos" panose="020B0004020202020204" pitchFamily="34" charset="0"/>
              </a:rPr>
              <a:t>metrics</a:t>
            </a:r>
          </a:p>
          <a:p>
            <a:r>
              <a:rPr lang="en-US" sz="2200">
                <a:latin typeface="Aptos" panose="020B0004020202020204" pitchFamily="34" charset="0"/>
              </a:rPr>
              <a:t>evidence</a:t>
            </a:r>
          </a:p>
          <a:p>
            <a:r>
              <a:rPr lang="en-US" sz="2200">
                <a:latin typeface="Aptos" panose="020B0004020202020204" pitchFamily="34" charset="0"/>
              </a:rPr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1918212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89405-4355-EB10-8284-AEA67267F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Q&amp;A Backup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49AB1A-E7BD-C808-C317-C539C3DDED3A}"/>
              </a:ext>
            </a:extLst>
          </p:cNvPr>
          <p:cNvSpPr txBox="1"/>
          <p:nvPr/>
        </p:nvSpPr>
        <p:spPr>
          <a:xfrm>
            <a:off x="698500" y="1587500"/>
            <a:ext cx="6604000" cy="246221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Likely Questions</a:t>
            </a:r>
          </a:p>
          <a:p>
            <a:r>
              <a:rPr lang="en-US" sz="2200">
                <a:latin typeface="Aptos" panose="020B0004020202020204" pitchFamily="34" charset="0"/>
              </a:rPr>
              <a:t>Why do you have 4 confirmed defects?</a:t>
            </a:r>
          </a:p>
          <a:p>
            <a:r>
              <a:rPr lang="en-US" sz="2200">
                <a:latin typeface="Aptos" panose="020B0004020202020204" pitchFamily="34" charset="0"/>
              </a:rPr>
              <a:t>Why is execution progress now 100%?</a:t>
            </a:r>
          </a:p>
          <a:p>
            <a:r>
              <a:rPr lang="en-US" sz="2200">
                <a:latin typeface="Aptos" panose="020B0004020202020204" pitchFamily="34" charset="0"/>
              </a:rPr>
              <a:t>Why did you choose Selenium and Newman?</a:t>
            </a:r>
          </a:p>
          <a:p>
            <a:r>
              <a:rPr lang="en-US" sz="2200">
                <a:latin typeface="Aptos" panose="020B0004020202020204" pitchFamily="34" charset="0"/>
              </a:rPr>
              <a:t>How do you distinguish automation failure from product defect?</a:t>
            </a:r>
          </a:p>
          <a:p>
            <a:r>
              <a:rPr lang="en-US" sz="2200">
                <a:latin typeface="Aptos" panose="020B0004020202020204" pitchFamily="34" charset="0"/>
              </a:rPr>
              <a:t>Which module is riskiest right now?</a:t>
            </a:r>
          </a:p>
        </p:txBody>
      </p:sp>
    </p:spTree>
    <p:extLst>
      <p:ext uri="{BB962C8B-B14F-4D97-AF65-F5344CB8AC3E}">
        <p14:creationId xmlns:p14="http://schemas.microsoft.com/office/powerpoint/2010/main" val="3116988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651</Words>
  <Application>Microsoft Office PowerPoint</Application>
  <PresentationFormat>Widescreen</PresentationFormat>
  <Paragraphs>131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Powered by GPT - Software Quality Verification</vt:lpstr>
      <vt:lpstr>Project And Test Scope</vt:lpstr>
      <vt:lpstr>Test Strategy</vt:lpstr>
      <vt:lpstr>Coverage And Team Allocation</vt:lpstr>
      <vt:lpstr>Automation Implementation</vt:lpstr>
      <vt:lpstr>Real Execution Evidence</vt:lpstr>
      <vt:lpstr>Current Metrics</vt:lpstr>
      <vt:lpstr>Defect And Risk Analysis</vt:lpstr>
      <vt:lpstr>Key Insights</vt:lpstr>
      <vt:lpstr>Next Steps And Submission Package</vt:lpstr>
      <vt:lpstr>Q&amp;A Backup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Thiên Hoàng</dc:creator>
  <cp:lastModifiedBy>Thiên Hoàng</cp:lastModifiedBy>
  <cp:revision>1</cp:revision>
  <dcterms:created xsi:type="dcterms:W3CDTF">2026-04-11T09:55:10Z</dcterms:created>
  <dcterms:modified xsi:type="dcterms:W3CDTF">2026-04-11T09:55:10Z</dcterms:modified>
</cp:coreProperties>
</file>