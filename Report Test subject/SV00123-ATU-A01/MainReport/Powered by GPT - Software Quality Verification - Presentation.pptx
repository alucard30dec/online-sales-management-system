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5372-F6C2-DC72-6883-D03914431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8D9F1-6648-AE14-0F9C-12560AF26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679FA-6AEF-5FC9-F92B-0FE4E679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9002-3521-73AA-95AF-C480B9AD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DD002-3DBB-DF77-380D-7EFC74F8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6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97EA3-7956-7D19-D37F-08EF45F1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37C3-DB43-0E5C-57FE-836968EA3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850D-33BE-F682-13CB-51953BD5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D8B7F-8161-5D84-ECCC-94FC3E36D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8B514-1763-5D22-9941-CB5B1518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7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E63A-23F6-C0AA-DFDD-4C84343E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E5231-CD87-8A18-289A-7FF54052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D7276-9293-D7C7-2156-6748B33F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4F70-A5E7-D460-37A0-9FD9DECF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E2FA5-8348-84DD-2E4A-8016F476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6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3504-ED3B-7A5D-2EAE-4363A4E7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9D64A-3950-99B8-C7D9-6932DD210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3FA80-42F6-E752-B8D1-DDF503D4C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8AAA3-A318-6DE5-D309-322121CB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1901C-641A-008E-F2E0-C8B65B21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805B4-7683-FF5E-7623-364BEA8D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1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C8B9-B41F-3971-06F5-98FFAB3E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AFBF-6771-69C1-6B89-F3B8287BB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849DD-E269-598B-B927-37AC38191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0FE6E-43CC-26A3-8418-2880CEC8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D7C46-5E09-3F37-6E36-E2544B77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B098F-222B-A42C-17E0-84BA764C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EB04E-E299-D98A-7789-B5C1C1CD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3FC72-45F6-B1A2-6811-80D931DC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34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2348-3842-33E0-1E3B-7CEDC867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61B50-DF3A-D4D7-2453-7371E051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4C85B-AEB3-39B7-0185-E2770CC5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C6849-4E94-1597-F3CA-9B4925C1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9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371BD-BEFA-F2F2-6BDD-8DC61C7A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4BE85-3A39-AEE3-C4D7-BEC171A5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23E9A-1FCB-8A9F-AAEC-5499AA1D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8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AF956-2342-C0E6-B4C3-CF7643B4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70DA-3B19-7447-4C1C-04A7B6252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667D0-42DD-CAC0-74A4-4B0D734F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CF512-F3BD-BE37-0C58-48F1FBB0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8482B-60A9-FA96-BA73-C9EE9C44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0C60A-5BE4-E61D-DD43-7E971F5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1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C6F4-7B08-6BC7-1131-7183A8E7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36623-1702-89FE-FE30-16D0E3559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BF9D7-5969-AD8A-4FBD-710C5C06F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27066-C2E4-4F8E-A4AA-FCFC90B56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F65C7-85AD-22A1-1739-5A013E36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3DB6F-5002-7E21-F99C-C43F74CB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4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0044-6F1F-0C64-875F-72A5C6C0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318B9-D3E5-22B0-2AA1-29A00280A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30D35-6F81-B391-D409-71BCA1E5C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332CD-C25F-DF24-71B4-1D2A64F5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56CB2-3FFC-8A2D-F0D5-0ECDF092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1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1AFF3-6619-AD14-CE85-647179A45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A26D5-8CC8-54AE-353F-AC5B2DB91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59D14-C5B9-57A8-5782-552802DF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6D3BB-B482-4CF1-E9FE-5BA3AE50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3DB0E-59FA-741A-6886-CC99B292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9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10077-F67F-652A-985D-2A19CE8B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29C5D-55F1-9200-35DB-79E5A6C5B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11C03-5FDD-E5EA-B53A-CDAA29500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6B64E-68CA-4A20-AAEF-897E1C0B119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FDA80-1B89-5711-C2C8-CA815FDDB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F7554-D4BD-B4C4-8C08-0CEFBA2A9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376A7-7490-4FD3-BCA8-25F379501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7198-5C36-F48E-4C2B-3441FDFD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Powered by GPT - Software Quality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5BDB4-1BAC-9DE7-FA7B-0BCBA5941C3C}"/>
              </a:ext>
            </a:extLst>
          </p:cNvPr>
          <p:cNvSpPr txBox="1"/>
          <p:nvPr/>
        </p:nvSpPr>
        <p:spPr>
          <a:xfrm>
            <a:off x="698500" y="1587500"/>
            <a:ext cx="660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System Under Test: Online Sales Management System</a:t>
            </a:r>
          </a:p>
          <a:p>
            <a:r>
              <a:rPr lang="en-US" sz="2200">
                <a:latin typeface="Aptos" panose="020B0004020202020204" pitchFamily="34" charset="0"/>
              </a:rPr>
              <a:t>Course: Software Testing</a:t>
            </a:r>
          </a:p>
          <a:p>
            <a:r>
              <a:rPr lang="en-US" sz="2200">
                <a:latin typeface="Aptos" panose="020B0004020202020204" pitchFamily="34" charset="0"/>
              </a:rPr>
              <a:t>Team:</a:t>
            </a:r>
          </a:p>
          <a:p>
            <a:r>
              <a:rPr lang="en-US" sz="2200">
                <a:latin typeface="Aptos" panose="020B0004020202020204" pitchFamily="34" charset="0"/>
              </a:rPr>
              <a:t>Hoang Van Thien</a:t>
            </a:r>
          </a:p>
          <a:p>
            <a:r>
              <a:rPr lang="en-US" sz="2200">
                <a:latin typeface="Aptos" panose="020B0004020202020204" pitchFamily="34" charset="0"/>
              </a:rPr>
              <a:t>Nguyen Thanh Dat</a:t>
            </a:r>
          </a:p>
          <a:p>
            <a:r>
              <a:rPr lang="en-US" sz="2200">
                <a:latin typeface="Aptos" panose="020B0004020202020204" pitchFamily="34" charset="0"/>
              </a:rPr>
              <a:t>Le Quang Duy</a:t>
            </a:r>
          </a:p>
          <a:p>
            <a:r>
              <a:rPr lang="en-US" sz="2200">
                <a:latin typeface="Aptos" panose="020B0004020202020204" pitchFamily="34" charset="0"/>
              </a:rPr>
              <a:t>Repository:</a:t>
            </a:r>
          </a:p>
          <a:p>
            <a:r>
              <a:rPr lang="en-US" sz="2200">
                <a:latin typeface="Aptos" panose="020B0004020202020204" pitchFamily="34" charset="0"/>
              </a:rPr>
              <a:t>github.com/Alucard30Dec/Online-Sales-Management-System</a:t>
            </a:r>
          </a:p>
        </p:txBody>
      </p:sp>
    </p:spTree>
    <p:extLst>
      <p:ext uri="{BB962C8B-B14F-4D97-AF65-F5344CB8AC3E}">
        <p14:creationId xmlns:p14="http://schemas.microsoft.com/office/powerpoint/2010/main" val="318817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EFED-278E-3EF2-6AE9-B06BF631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Project And Test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A4AE2-D69E-670F-0493-A599585D4440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What We Tested</a:t>
            </a:r>
          </a:p>
          <a:p>
            <a:r>
              <a:rPr lang="en-US" sz="2200">
                <a:latin typeface="Aptos" panose="020B0004020202020204" pitchFamily="34" charset="0"/>
              </a:rPr>
              <a:t>Admin UI</a:t>
            </a:r>
          </a:p>
          <a:p>
            <a:r>
              <a:rPr lang="en-US" sz="2200">
                <a:latin typeface="Aptos" panose="020B0004020202020204" pitchFamily="34" charset="0"/>
              </a:rPr>
              <a:t>Public Product Catalog</a:t>
            </a:r>
          </a:p>
          <a:p>
            <a:r>
              <a:rPr lang="en-US" sz="2200">
                <a:latin typeface="Aptos" panose="020B0004020202020204" pitchFamily="34" charset="0"/>
              </a:rPr>
              <a:t>Health API</a:t>
            </a:r>
          </a:p>
          <a:p>
            <a:r>
              <a:rPr lang="en-US" sz="2200">
                <a:latin typeface="Aptos" panose="020B0004020202020204" pitchFamily="34" charset="0"/>
              </a:rPr>
              <a:t>Catalog API</a:t>
            </a:r>
          </a:p>
          <a:p>
            <a:r>
              <a:rPr lang="en-US" sz="2200">
                <a:latin typeface="Aptos" panose="020B0004020202020204" pitchFamily="34" charset="0"/>
              </a:rPr>
              <a:t>Highest-Risk Business Areas</a:t>
            </a:r>
          </a:p>
          <a:p>
            <a:r>
              <a:rPr lang="en-US" sz="2200">
                <a:latin typeface="Aptos" panose="020B0004020202020204" pitchFamily="34" charset="0"/>
              </a:rPr>
              <a:t>Authentication and permissions</a:t>
            </a:r>
          </a:p>
          <a:p>
            <a:r>
              <a:rPr lang="en-US" sz="2200">
                <a:latin typeface="Aptos" panose="020B0004020202020204" pitchFamily="34" charset="0"/>
              </a:rPr>
              <a:t>Products and product import</a:t>
            </a:r>
          </a:p>
          <a:p>
            <a:r>
              <a:rPr lang="en-US" sz="2200">
                <a:latin typeface="Aptos" panose="020B0004020202020204" pitchFamily="34" charset="0"/>
              </a:rPr>
              <a:t>Purchases</a:t>
            </a:r>
          </a:p>
          <a:p>
            <a:r>
              <a:rPr lang="en-US" sz="2200">
                <a:latin typeface="Aptos" panose="020B0004020202020204" pitchFamily="34" charset="0"/>
              </a:rPr>
              <a:t>Invoices</a:t>
            </a:r>
          </a:p>
          <a:p>
            <a:r>
              <a:rPr lang="en-US" sz="2200">
                <a:latin typeface="Aptos" panose="020B0004020202020204" pitchFamily="34" charset="0"/>
              </a:rPr>
              <a:t>Stock and reports</a:t>
            </a:r>
          </a:p>
        </p:txBody>
      </p:sp>
    </p:spTree>
    <p:extLst>
      <p:ext uri="{BB962C8B-B14F-4D97-AF65-F5344CB8AC3E}">
        <p14:creationId xmlns:p14="http://schemas.microsoft.com/office/powerpoint/2010/main" val="185968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3B1B-81C5-5AEB-CC2C-F12FA515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Test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DCA4C-C03D-8F9B-3058-1C532F5FA068}"/>
              </a:ext>
            </a:extLst>
          </p:cNvPr>
          <p:cNvSpPr txBox="1"/>
          <p:nvPr/>
        </p:nvSpPr>
        <p:spPr>
          <a:xfrm>
            <a:off x="698500" y="1587500"/>
            <a:ext cx="660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Strategy</a:t>
            </a:r>
          </a:p>
          <a:p>
            <a:r>
              <a:rPr lang="en-US" sz="2200">
                <a:latin typeface="Aptos" panose="020B0004020202020204" pitchFamily="34" charset="0"/>
              </a:rPr>
              <a:t>source-based project audit, not generic template testing</a:t>
            </a:r>
          </a:p>
          <a:p>
            <a:r>
              <a:rPr lang="en-US" sz="2200">
                <a:latin typeface="Aptos" panose="020B0004020202020204" pitchFamily="34" charset="0"/>
              </a:rPr>
              <a:t>black-box execution + white-box-informed test design</a:t>
            </a:r>
          </a:p>
          <a:p>
            <a:r>
              <a:rPr lang="en-US" sz="2200">
                <a:latin typeface="Aptos" panose="020B0004020202020204" pitchFamily="34" charset="0"/>
              </a:rPr>
              <a:t>manual testing for business logic and visible validation</a:t>
            </a:r>
          </a:p>
          <a:p>
            <a:r>
              <a:rPr lang="en-US" sz="2200">
                <a:latin typeface="Aptos" panose="020B0004020202020204" pitchFamily="34" charset="0"/>
              </a:rPr>
              <a:t>targeted automation for high-value regression paths</a:t>
            </a:r>
          </a:p>
          <a:p>
            <a:r>
              <a:rPr lang="en-US" sz="2200">
                <a:latin typeface="Aptos" panose="020B0004020202020204" pitchFamily="34" charset="0"/>
              </a:rPr>
              <a:t>Automation Stack</a:t>
            </a:r>
          </a:p>
          <a:p>
            <a:r>
              <a:rPr lang="en-US" sz="2200">
                <a:latin typeface="Aptos" panose="020B0004020202020204" pitchFamily="34" charset="0"/>
              </a:rPr>
              <a:t>UI: .NET 8 + xUnit + Selenium</a:t>
            </a:r>
          </a:p>
          <a:p>
            <a:r>
              <a:rPr lang="en-US" sz="2200">
                <a:latin typeface="Aptos" panose="020B0004020202020204" pitchFamily="34" charset="0"/>
              </a:rPr>
              <a:t>API: Postman + Newman</a:t>
            </a:r>
          </a:p>
          <a:p>
            <a:r>
              <a:rPr lang="en-US" sz="2200">
                <a:latin typeface="Aptos" panose="020B0004020202020204" pitchFamily="34" charset="0"/>
              </a:rPr>
              <a:t>structure: Page Object Model + reusable helpers</a:t>
            </a:r>
          </a:p>
        </p:txBody>
      </p:sp>
    </p:spTree>
    <p:extLst>
      <p:ext uri="{BB962C8B-B14F-4D97-AF65-F5344CB8AC3E}">
        <p14:creationId xmlns:p14="http://schemas.microsoft.com/office/powerpoint/2010/main" val="224190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5B64A-6877-59A8-A03C-FD8854B6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Coverage And Team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5D0A1-0BD0-F933-A0BD-950A3F6AC1E8}"/>
              </a:ext>
            </a:extLst>
          </p:cNvPr>
          <p:cNvSpPr txBox="1"/>
          <p:nvPr/>
        </p:nvSpPr>
        <p:spPr>
          <a:xfrm>
            <a:off x="698500" y="1587500"/>
            <a:ext cx="660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Design Coverage</a:t>
            </a:r>
          </a:p>
          <a:p>
            <a:r>
              <a:rPr lang="en-US" sz="2200">
                <a:latin typeface="Aptos" panose="020B0004020202020204" pitchFamily="34" charset="0"/>
              </a:rPr>
              <a:t>42 documented scenarios</a:t>
            </a:r>
          </a:p>
          <a:p>
            <a:r>
              <a:rPr lang="en-US" sz="2200">
                <a:latin typeface="Aptos" panose="020B0004020202020204" pitchFamily="34" charset="0"/>
              </a:rPr>
              <a:t>63 total test cases</a:t>
            </a:r>
          </a:p>
          <a:p>
            <a:r>
              <a:rPr lang="en-US" sz="2200">
                <a:latin typeface="Aptos" panose="020B0004020202020204" pitchFamily="34" charset="0"/>
              </a:rPr>
              <a:t>44 UI</a:t>
            </a:r>
          </a:p>
          <a:p>
            <a:r>
              <a:rPr lang="en-US" sz="2200">
                <a:latin typeface="Aptos" panose="020B0004020202020204" pitchFamily="34" charset="0"/>
              </a:rPr>
              <a:t>19 API</a:t>
            </a:r>
          </a:p>
          <a:p>
            <a:r>
              <a:rPr lang="en-US" sz="2200">
                <a:latin typeface="Aptos" panose="020B0004020202020204" pitchFamily="34" charset="0"/>
              </a:rPr>
              <a:t>100% scenario design coverage</a:t>
            </a:r>
          </a:p>
          <a:p>
            <a:r>
              <a:rPr lang="en-US" sz="2200">
                <a:latin typeface="Aptos" panose="020B0004020202020204" pitchFamily="34" charset="0"/>
              </a:rPr>
              <a:t>Team Allocation</a:t>
            </a:r>
          </a:p>
          <a:p>
            <a:r>
              <a:rPr lang="en-US" sz="2200">
                <a:latin typeface="Aptos" panose="020B0004020202020204" pitchFamily="34" charset="0"/>
              </a:rPr>
              <a:t>Hoang Van Thien: 17 UI cases</a:t>
            </a:r>
          </a:p>
          <a:p>
            <a:r>
              <a:rPr lang="en-US" sz="2200">
                <a:latin typeface="Aptos" panose="020B0004020202020204" pitchFamily="34" charset="0"/>
              </a:rPr>
              <a:t>Nguyen Thanh Dat: 13 UI cases</a:t>
            </a:r>
          </a:p>
          <a:p>
            <a:r>
              <a:rPr lang="en-US" sz="2200">
                <a:latin typeface="Aptos" panose="020B0004020202020204" pitchFamily="34" charset="0"/>
              </a:rPr>
              <a:t>Le Quang Duy: 14 UI cases</a:t>
            </a:r>
          </a:p>
        </p:txBody>
      </p:sp>
    </p:spTree>
    <p:extLst>
      <p:ext uri="{BB962C8B-B14F-4D97-AF65-F5344CB8AC3E}">
        <p14:creationId xmlns:p14="http://schemas.microsoft.com/office/powerpoint/2010/main" val="33009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362E-5B4C-3E19-2084-C04F63F3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Automation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B800A-565B-8578-F096-6573A729A341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Implemented Automation Assets</a:t>
            </a:r>
          </a:p>
          <a:p>
            <a:r>
              <a:rPr lang="en-US" sz="2200">
                <a:latin typeface="Aptos" panose="020B0004020202020204" pitchFamily="34" charset="0"/>
              </a:rPr>
              <a:t>Selenium UI project with Page Objects</a:t>
            </a:r>
          </a:p>
          <a:p>
            <a:r>
              <a:rPr lang="en-US" sz="2200">
                <a:latin typeface="Aptos" panose="020B0004020202020204" pitchFamily="34" charset="0"/>
              </a:rPr>
              <a:t>shared config, wait helpers, screenshot capture</a:t>
            </a:r>
          </a:p>
          <a:p>
            <a:r>
              <a:rPr lang="en-US" sz="2200">
                <a:latin typeface="Aptos" panose="020B0004020202020204" pitchFamily="34" charset="0"/>
              </a:rPr>
              <a:t>Postman collection with Newman runner</a:t>
            </a:r>
          </a:p>
          <a:p>
            <a:r>
              <a:rPr lang="en-US" sz="2200">
                <a:latin typeface="Aptos" panose="020B0004020202020204" pitchFamily="34" charset="0"/>
              </a:rPr>
              <a:t>Priority Automated Flows</a:t>
            </a:r>
          </a:p>
          <a:p>
            <a:r>
              <a:rPr lang="en-US" sz="2200">
                <a:latin typeface="Aptos" panose="020B0004020202020204" pitchFamily="34" charset="0"/>
              </a:rPr>
              <a:t>admin login smoke</a:t>
            </a:r>
          </a:p>
          <a:p>
            <a:r>
              <a:rPr lang="en-US" sz="2200">
                <a:latin typeface="Aptos" panose="020B0004020202020204" pitchFamily="34" charset="0"/>
              </a:rPr>
              <a:t>sales permission check</a:t>
            </a:r>
          </a:p>
          <a:p>
            <a:r>
              <a:rPr lang="en-US" sz="2200">
                <a:latin typeface="Aptos" panose="020B0004020202020204" pitchFamily="34" charset="0"/>
              </a:rPr>
              <a:t>purchase creation</a:t>
            </a:r>
          </a:p>
          <a:p>
            <a:r>
              <a:rPr lang="en-US" sz="2200">
                <a:latin typeface="Aptos" panose="020B0004020202020204" pitchFamily="34" charset="0"/>
              </a:rPr>
              <a:t>invoice creation</a:t>
            </a:r>
          </a:p>
          <a:p>
            <a:r>
              <a:rPr lang="en-US" sz="2200">
                <a:latin typeface="Aptos" panose="020B0004020202020204" pitchFamily="34" charset="0"/>
              </a:rPr>
              <a:t>product import preview</a:t>
            </a:r>
          </a:p>
          <a:p>
            <a:r>
              <a:rPr lang="en-US" sz="2200">
                <a:latin typeface="Aptos" panose="020B0004020202020204" pitchFamily="34" charset="0"/>
              </a:rPr>
              <a:t>API health and catalog groups</a:t>
            </a:r>
          </a:p>
        </p:txBody>
      </p:sp>
    </p:spTree>
    <p:extLst>
      <p:ext uri="{BB962C8B-B14F-4D97-AF65-F5344CB8AC3E}">
        <p14:creationId xmlns:p14="http://schemas.microsoft.com/office/powerpoint/2010/main" val="138843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822C-8B48-3F7D-8BE5-93D26482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Real Execution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DB4C6-BB8C-76BE-0231-6DA2CE407DAA}"/>
              </a:ext>
            </a:extLst>
          </p:cNvPr>
          <p:cNvSpPr txBox="1"/>
          <p:nvPr/>
        </p:nvSpPr>
        <p:spPr>
          <a:xfrm>
            <a:off x="698500" y="1587500"/>
            <a:ext cx="6604000" cy="44935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Confirmed Pass Evidence</a:t>
            </a:r>
          </a:p>
          <a:p>
            <a:r>
              <a:rPr lang="en-US" sz="2200">
                <a:latin typeface="Aptos" panose="020B0004020202020204" pitchFamily="34" charset="0"/>
              </a:rPr>
              <a:t>TC-UI-AUTH-001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TC-UI-AUTH-003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TC-UI-IMP-002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TC-UI-PUR-001 and TC-UI-PUR-007 passed</a:t>
            </a:r>
          </a:p>
          <a:p>
            <a:r>
              <a:rPr lang="en-US" sz="2200">
                <a:latin typeface="Aptos" panose="020B0004020202020204" pitchFamily="34" charset="0"/>
              </a:rPr>
              <a:t>full API collection passed (19 / 19)</a:t>
            </a:r>
          </a:p>
          <a:p>
            <a:r>
              <a:rPr lang="en-US" sz="2200">
                <a:latin typeface="Aptos" panose="020B0004020202020204" pitchFamily="34" charset="0"/>
              </a:rPr>
              <a:t>Confirmed Fail Evidence</a:t>
            </a:r>
          </a:p>
          <a:p>
            <a:r>
              <a:rPr lang="en-US" sz="2200">
                <a:latin typeface="Aptos" panose="020B0004020202020204" pitchFamily="34" charset="0"/>
              </a:rPr>
              <a:t>TC-UI-INV-001 failed with UI and server-log proof</a:t>
            </a:r>
          </a:p>
          <a:p>
            <a:r>
              <a:rPr lang="en-US" sz="2200">
                <a:latin typeface="Aptos" panose="020B0004020202020204" pitchFamily="34" charset="0"/>
              </a:rPr>
              <a:t>Important Rule</a:t>
            </a:r>
          </a:p>
          <a:p>
            <a:r>
              <a:rPr lang="en-US" sz="2200">
                <a:latin typeface="Aptos" panose="020B0004020202020204" pitchFamily="34" charset="0"/>
              </a:rPr>
              <a:t>no unexecuted test was marked as pass</a:t>
            </a:r>
          </a:p>
          <a:p>
            <a:r>
              <a:rPr lang="en-US" sz="2200">
                <a:latin typeface="Aptos" panose="020B0004020202020204" pitchFamily="34" charset="0"/>
              </a:rPr>
              <a:t>only one issue was promoted into a confirmed defect because the root cause was proven by server log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ADF60-5A71-EE26-C2DC-878703F36A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8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4D3F-B121-0789-7680-E2627858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Current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D8643-EF56-0867-6454-90C70EC1EE8A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Execution Summary As Of 2026-04-06</a:t>
            </a:r>
          </a:p>
          <a:p>
            <a:r>
              <a:rPr lang="en-US" sz="2200">
                <a:latin typeface="Aptos" panose="020B0004020202020204" pitchFamily="34" charset="0"/>
              </a:rPr>
              <a:t>total cases: 63</a:t>
            </a:r>
          </a:p>
          <a:p>
            <a:r>
              <a:rPr lang="en-US" sz="2200">
                <a:latin typeface="Aptos" panose="020B0004020202020204" pitchFamily="34" charset="0"/>
              </a:rPr>
              <a:t>executed: 25</a:t>
            </a:r>
          </a:p>
          <a:p>
            <a:r>
              <a:rPr lang="en-US" sz="2200">
                <a:latin typeface="Aptos" panose="020B0004020202020204" pitchFamily="34" charset="0"/>
              </a:rPr>
              <a:t>pass: 24</a:t>
            </a:r>
          </a:p>
          <a:p>
            <a:r>
              <a:rPr lang="en-US" sz="2200">
                <a:latin typeface="Aptos" panose="020B0004020202020204" pitchFamily="34" charset="0"/>
              </a:rPr>
              <a:t>fail: 1</a:t>
            </a:r>
          </a:p>
          <a:p>
            <a:r>
              <a:rPr lang="en-US" sz="2200">
                <a:latin typeface="Aptos" panose="020B0004020202020204" pitchFamily="34" charset="0"/>
              </a:rPr>
              <a:t>blocked: 0</a:t>
            </a:r>
          </a:p>
          <a:p>
            <a:r>
              <a:rPr lang="en-US" sz="2200">
                <a:latin typeface="Aptos" panose="020B0004020202020204" pitchFamily="34" charset="0"/>
              </a:rPr>
              <a:t>not run: 38</a:t>
            </a:r>
          </a:p>
          <a:p>
            <a:r>
              <a:rPr lang="en-US" sz="2200">
                <a:latin typeface="Aptos" panose="020B0004020202020204" pitchFamily="34" charset="0"/>
              </a:rPr>
              <a:t>execution progress: 39.68%</a:t>
            </a:r>
          </a:p>
          <a:p>
            <a:r>
              <a:rPr lang="en-US" sz="2200">
                <a:latin typeface="Aptos" panose="020B0004020202020204" pitchFamily="34" charset="0"/>
              </a:rPr>
              <a:t>Interface View</a:t>
            </a:r>
          </a:p>
          <a:p>
            <a:r>
              <a:rPr lang="en-US" sz="2200">
                <a:latin typeface="Aptos" panose="020B0004020202020204" pitchFamily="34" charset="0"/>
              </a:rPr>
              <a:t>Admin UI: 6 executed, 5 pass, 1 fail</a:t>
            </a:r>
          </a:p>
          <a:p>
            <a:r>
              <a:rPr lang="en-US" sz="2200">
                <a:latin typeface="Aptos" panose="020B0004020202020204" pitchFamily="34" charset="0"/>
              </a:rPr>
              <a:t>API: 19 executed, 19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AC2F5-A3A9-AE5B-D9CA-4BC7775A56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7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745-FF95-F889-FD9C-AB987B20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Defect And Risk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2E495-5563-EF55-C2AA-9F9AD209B0A6}"/>
              </a:ext>
            </a:extLst>
          </p:cNvPr>
          <p:cNvSpPr txBox="1"/>
          <p:nvPr/>
        </p:nvSpPr>
        <p:spPr>
          <a:xfrm>
            <a:off x="698500" y="1587500"/>
            <a:ext cx="660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Confirmed Defects</a:t>
            </a:r>
          </a:p>
          <a:p>
            <a:r>
              <a:rPr lang="en-US" sz="2200">
                <a:latin typeface="Aptos" panose="020B0004020202020204" pitchFamily="34" charset="0"/>
              </a:rPr>
              <a:t>1 confirmed defect</a:t>
            </a:r>
          </a:p>
          <a:p>
            <a:r>
              <a:rPr lang="en-US" sz="2200">
                <a:latin typeface="Aptos" panose="020B0004020202020204" pitchFamily="34" charset="0"/>
              </a:rPr>
              <a:t>BUG-20260406-001 in invoice creation</a:t>
            </a:r>
          </a:p>
          <a:p>
            <a:r>
              <a:rPr lang="en-US" sz="2200">
                <a:latin typeface="Aptos" panose="020B0004020202020204" pitchFamily="34" charset="0"/>
              </a:rPr>
              <a:t>tracked in GitHub Issue #1</a:t>
            </a:r>
          </a:p>
          <a:p>
            <a:r>
              <a:rPr lang="en-US" sz="2200">
                <a:latin typeface="Aptos" panose="020B0004020202020204" pitchFamily="34" charset="0"/>
              </a:rPr>
              <a:t>Closed Observations</a:t>
            </a:r>
          </a:p>
          <a:p>
            <a:r>
              <a:rPr lang="en-US" sz="2200">
                <a:latin typeface="Aptos" panose="020B0004020202020204" pitchFamily="34" charset="0"/>
              </a:rPr>
              <a:t>authorization redirect behavior</a:t>
            </a:r>
          </a:p>
          <a:p>
            <a:r>
              <a:rPr lang="en-US" sz="2200">
                <a:latin typeface="Aptos" panose="020B0004020202020204" pitchFamily="34" charset="0"/>
              </a:rPr>
              <a:t>product import preview locator issue</a:t>
            </a:r>
          </a:p>
          <a:p>
            <a:r>
              <a:rPr lang="en-US" sz="2200">
                <a:latin typeface="Aptos" panose="020B0004020202020204" pitchFamily="34" charset="0"/>
              </a:rPr>
              <a:t>Highest Business Risks Still Unverified</a:t>
            </a:r>
          </a:p>
          <a:p>
            <a:r>
              <a:rPr lang="en-US" sz="2200">
                <a:latin typeface="Aptos" panose="020B0004020202020204" pitchFamily="34" charset="0"/>
              </a:rPr>
              <a:t>Stock</a:t>
            </a:r>
          </a:p>
          <a:p>
            <a:r>
              <a:rPr lang="en-US" sz="2200">
                <a:latin typeface="Aptos" panose="020B0004020202020204" pitchFamily="34" charset="0"/>
              </a:rPr>
              <a:t>Products</a:t>
            </a:r>
          </a:p>
          <a:p>
            <a:r>
              <a:rPr lang="en-US" sz="2200">
                <a:latin typeface="Aptos" panose="020B0004020202020204" pitchFamily="34" charset="0"/>
              </a:rPr>
              <a:t>Reports</a:t>
            </a:r>
          </a:p>
          <a:p>
            <a:r>
              <a:rPr lang="en-US" sz="2200">
                <a:latin typeface="Aptos" panose="020B0004020202020204" pitchFamily="34" charset="0"/>
              </a:rPr>
              <a:t>Public Catalog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7DA01-4E30-89D6-BDAD-1C31A2B403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4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BE07-BDE9-4B4E-40A7-DA45891A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2ED8D-00AE-85A7-C8E1-17CCD2BFAD09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What We Can Defend</a:t>
            </a:r>
          </a:p>
          <a:p>
            <a:r>
              <a:rPr lang="en-US" sz="2200">
                <a:latin typeface="Aptos" panose="020B0004020202020204" pitchFamily="34" charset="0"/>
              </a:rPr>
              <a:t>project is testable and automation-capable</a:t>
            </a:r>
          </a:p>
          <a:p>
            <a:r>
              <a:rPr lang="en-US" sz="2200">
                <a:latin typeface="Aptos" panose="020B0004020202020204" pitchFamily="34" charset="0"/>
              </a:rPr>
              <a:t>source-based test design is strong</a:t>
            </a:r>
          </a:p>
          <a:p>
            <a:r>
              <a:rPr lang="en-US" sz="2200">
                <a:latin typeface="Aptos" panose="020B0004020202020204" pitchFamily="34" charset="0"/>
              </a:rPr>
              <a:t>traceability from scenario -&gt; test case -&gt; result -&gt; evidence -&gt; defect is in place</a:t>
            </a:r>
          </a:p>
          <a:p>
            <a:r>
              <a:rPr lang="en-US" sz="2200">
                <a:latin typeface="Aptos" panose="020B0004020202020204" pitchFamily="34" charset="0"/>
              </a:rPr>
              <a:t>What We Do Not Overclaim</a:t>
            </a:r>
          </a:p>
          <a:p>
            <a:r>
              <a:rPr lang="en-US" sz="2200">
                <a:latin typeface="Aptos" panose="020B0004020202020204" pitchFamily="34" charset="0"/>
              </a:rPr>
              <a:t>current evidence still does not prove full system stability</a:t>
            </a:r>
          </a:p>
          <a:p>
            <a:r>
              <a:rPr lang="en-US" sz="2200">
                <a:latin typeface="Aptos" panose="020B0004020202020204" pitchFamily="34" charset="0"/>
              </a:rPr>
              <a:t>one core business defect is currently confirmed</a:t>
            </a:r>
          </a:p>
          <a:p>
            <a:r>
              <a:rPr lang="en-US" sz="2200">
                <a:latin typeface="Aptos" panose="020B0004020202020204" pitchFamily="34" charset="0"/>
              </a:rPr>
              <a:t>more UI execution is still required for high-confidence quality claims</a:t>
            </a:r>
          </a:p>
        </p:txBody>
      </p:sp>
    </p:spTree>
    <p:extLst>
      <p:ext uri="{BB962C8B-B14F-4D97-AF65-F5344CB8AC3E}">
        <p14:creationId xmlns:p14="http://schemas.microsoft.com/office/powerpoint/2010/main" val="143306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3E2-26F9-1483-0385-37CA43BB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Next Steps And Submission 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04D30-A30A-CBF2-7F2F-7BC918E74C9A}"/>
              </a:ext>
            </a:extLst>
          </p:cNvPr>
          <p:cNvSpPr txBox="1"/>
          <p:nvPr/>
        </p:nvSpPr>
        <p:spPr>
          <a:xfrm>
            <a:off x="698500" y="1587500"/>
            <a:ext cx="6604000" cy="65248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Highest-Value Next Steps</a:t>
            </a:r>
          </a:p>
          <a:p>
            <a:r>
              <a:rPr lang="en-US" sz="2200">
                <a:latin typeface="Aptos" panose="020B0004020202020204" pitchFamily="34" charset="0"/>
              </a:rPr>
              <a:t>1. fix and retest invoice creation through GitHub Issue #1</a:t>
            </a:r>
          </a:p>
          <a:p>
            <a:r>
              <a:rPr lang="en-US" sz="2200">
                <a:latin typeface="Aptos" panose="020B0004020202020204" pitchFamily="34" charset="0"/>
              </a:rPr>
              <a:t>2. execute stock, reports, products, and public-catalog UI flows</a:t>
            </a:r>
          </a:p>
          <a:p>
            <a:r>
              <a:rPr lang="en-US" sz="2200">
                <a:latin typeface="Aptos" panose="020B0004020202020204" pitchFamily="34" charset="0"/>
              </a:rPr>
              <a:t>3. add optional cross-browser evidence if Edge is available</a:t>
            </a:r>
          </a:p>
          <a:p>
            <a:r>
              <a:rPr lang="en-US" sz="2200">
                <a:latin typeface="Aptos" panose="020B0004020202020204" pitchFamily="34" charset="0"/>
              </a:rPr>
              <a:t>4. refresh the report, slides, and metrics only if new execution evidence is added</a:t>
            </a:r>
          </a:p>
          <a:p>
            <a:r>
              <a:rPr lang="en-US" sz="2200">
                <a:latin typeface="Aptos" panose="020B0004020202020204" pitchFamily="34" charset="0"/>
              </a:rPr>
              <a:t>Submission Package</a:t>
            </a:r>
          </a:p>
          <a:p>
            <a:r>
              <a:rPr lang="en-US" sz="2200">
                <a:latin typeface="Aptos" panose="020B0004020202020204" pitchFamily="34" charset="0"/>
              </a:rPr>
              <a:t>Final report</a:t>
            </a:r>
          </a:p>
          <a:p>
            <a:r>
              <a:rPr lang="en-US" sz="2200">
                <a:latin typeface="Aptos" panose="020B0004020202020204" pitchFamily="34" charset="0"/>
              </a:rPr>
              <a:t>PPTX</a:t>
            </a:r>
          </a:p>
          <a:p>
            <a:r>
              <a:rPr lang="en-US" sz="2200">
                <a:latin typeface="Aptos" panose="020B0004020202020204" pitchFamily="34" charset="0"/>
              </a:rPr>
              <a:t>test cases</a:t>
            </a:r>
          </a:p>
          <a:p>
            <a:r>
              <a:rPr lang="en-US" sz="2200">
                <a:latin typeface="Aptos" panose="020B0004020202020204" pitchFamily="34" charset="0"/>
              </a:rPr>
              <a:t>test data</a:t>
            </a:r>
          </a:p>
          <a:p>
            <a:r>
              <a:rPr lang="en-US" sz="2200">
                <a:latin typeface="Aptos" panose="020B0004020202020204" pitchFamily="34" charset="0"/>
              </a:rPr>
              <a:t>automation scripts</a:t>
            </a:r>
          </a:p>
          <a:p>
            <a:r>
              <a:rPr lang="en-US" sz="2200">
                <a:latin typeface="Aptos" panose="020B0004020202020204" pitchFamily="34" charset="0"/>
              </a:rPr>
              <a:t>final results</a:t>
            </a:r>
          </a:p>
          <a:p>
            <a:r>
              <a:rPr lang="en-US" sz="2200">
                <a:latin typeface="Aptos" panose="020B0004020202020204" pitchFamily="34" charset="0"/>
              </a:rPr>
              <a:t>metrics</a:t>
            </a:r>
          </a:p>
          <a:p>
            <a:r>
              <a:rPr lang="en-US" sz="2200">
                <a:latin typeface="Aptos" panose="020B0004020202020204" pitchFamily="34" charset="0"/>
              </a:rPr>
              <a:t>evidence</a:t>
            </a:r>
          </a:p>
          <a:p>
            <a:r>
              <a:rPr lang="en-US" sz="2200">
                <a:latin typeface="Aptos" panose="020B0004020202020204" pitchFamily="34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84410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2F2D-D2D5-80DF-5522-8243A5D7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Q&amp;A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61815-291F-6EEF-C329-E759B44CDAF1}"/>
              </a:ext>
            </a:extLst>
          </p:cNvPr>
          <p:cNvSpPr txBox="1"/>
          <p:nvPr/>
        </p:nvSpPr>
        <p:spPr>
          <a:xfrm>
            <a:off x="698500" y="1587500"/>
            <a:ext cx="6604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Likely Questions</a:t>
            </a:r>
          </a:p>
          <a:p>
            <a:r>
              <a:rPr lang="en-US" sz="2200">
                <a:latin typeface="Aptos" panose="020B0004020202020204" pitchFamily="34" charset="0"/>
              </a:rPr>
              <a:t>Why do you have 0 confirmed defects?</a:t>
            </a:r>
          </a:p>
          <a:p>
            <a:r>
              <a:rPr lang="en-US" sz="2200">
                <a:latin typeface="Aptos" panose="020B0004020202020204" pitchFamily="34" charset="0"/>
              </a:rPr>
              <a:t>Why is execution progress still low?</a:t>
            </a:r>
          </a:p>
          <a:p>
            <a:r>
              <a:rPr lang="en-US" sz="2200">
                <a:latin typeface="Aptos" panose="020B0004020202020204" pitchFamily="34" charset="0"/>
              </a:rPr>
              <a:t>Why did you choose Selenium and Newman?</a:t>
            </a:r>
          </a:p>
          <a:p>
            <a:r>
              <a:rPr lang="en-US" sz="2200">
                <a:latin typeface="Aptos" panose="020B0004020202020204" pitchFamily="34" charset="0"/>
              </a:rPr>
              <a:t>How do you distinguish automation failure from product defect?</a:t>
            </a:r>
          </a:p>
          <a:p>
            <a:r>
              <a:rPr lang="en-US" sz="2200">
                <a:latin typeface="Aptos" panose="020B0004020202020204" pitchFamily="34" charset="0"/>
              </a:rPr>
              <a:t>Which module is riskiest right now?</a:t>
            </a:r>
          </a:p>
        </p:txBody>
      </p:sp>
    </p:spTree>
    <p:extLst>
      <p:ext uri="{BB962C8B-B14F-4D97-AF65-F5344CB8AC3E}">
        <p14:creationId xmlns:p14="http://schemas.microsoft.com/office/powerpoint/2010/main" val="47068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Powered by GPT - Software Quality Verification</vt:lpstr>
      <vt:lpstr>Project And Test Scope</vt:lpstr>
      <vt:lpstr>Test Strategy</vt:lpstr>
      <vt:lpstr>Coverage And Team Allocation</vt:lpstr>
      <vt:lpstr>Automation Implementation</vt:lpstr>
      <vt:lpstr>Real Execution Evidence</vt:lpstr>
      <vt:lpstr>Current Metrics</vt:lpstr>
      <vt:lpstr>Defect And Risk Analysis</vt:lpstr>
      <vt:lpstr>Key Insights</vt:lpstr>
      <vt:lpstr>Next Steps And Submission Package</vt:lpstr>
      <vt:lpstr>Q&amp;A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Thiên Hoàng</dc:creator>
  <cp:lastModifiedBy>Thiên Hoàng</cp:lastModifiedBy>
  <cp:revision>1</cp:revision>
  <dcterms:created xsi:type="dcterms:W3CDTF">2026-04-08T15:24:34Z</dcterms:created>
  <dcterms:modified xsi:type="dcterms:W3CDTF">2026-04-08T15:24:34Z</dcterms:modified>
</cp:coreProperties>
</file>