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6" d="100"/>
          <a:sy n="36" d="100"/>
        </p:scale>
        <p:origin x="4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D216C-9887-6F63-6BCB-E9387E97A4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24123-CF2F-49BE-5D72-7F37E5083D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9FBF0-0527-D923-7DBB-23E5F83B4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E7EC8-0C7A-9D04-D9A5-C955C4F29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3AB7C-0320-9D65-0036-0B7053759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52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D6EA7-035E-C447-96EE-C72B33BCE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F512A-6392-F8C2-B405-F0298D02F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4AD0D-DF7D-B448-7E5D-D696CE225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F249B4-2734-F613-49DF-BC9A567C6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CAAEF8-5584-0D94-EFF6-1C9B19CF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960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91C4B-7717-E5CF-A719-AB48C36C7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33F873-2D69-5A17-3901-8A08AD4EA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BBB6F4-A66B-3D7D-AADC-9C4B11B5C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B9E0B-5535-0F6E-93EB-B00E9EA3F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C43BF-1133-630D-D45E-AA251EF32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50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0C439-F75E-E2EF-4724-329D0A16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8AB3F-35E7-C46B-F6D8-54C0F18BF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F2E4F9-A7DF-BB84-181A-3AE04C836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48FB37-A373-BFC9-EB44-AFA5C9F82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87F9A1-AB10-16EB-1136-701F40A72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094290-1E90-CD6D-4911-4A849C0E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08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57F7A-E8D2-691D-F5F1-B0C27D13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961C4B-ECB9-FAD7-4FDB-DC7F62D282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3D65D-0B0E-2F88-C88F-E4CE069BF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F86372-6646-46BF-D8CF-6F12A6B2CC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4C1132-3B2E-1DE3-22F4-3F24C741BA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971A47-189E-60FA-388D-D75C636E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E7145E-34F8-ECDA-1053-619B77CCC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D84E27-F49E-53FC-E7DC-A5889CEA4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479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900A9-D72F-5665-29C2-0AD006378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807BA-ABF8-7687-3963-DD2BB48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827EF6-FBE8-B48E-4171-BF606CB9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73B171-695B-C9F4-8A0E-B3028887F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24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76B5C4-FB36-D4DC-03A6-4E21A1180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6D4FC5-72B2-7EFD-7B16-DAE869F95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2E759-D8D4-3BBF-C869-96DB3352B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085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1E96D-6733-143D-1108-737D1A35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278E8-DC6B-D3AD-2810-FF185D8BC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EBBCCA-D704-5DD5-FECA-86EF6CAAB5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735A29-7A07-2294-E009-34242E5A9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805BE0-7894-90E2-38BD-3327E8B50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C4BAE1-1911-DAAB-FDBC-865505793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364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0DEFE-B085-2593-4C72-FF70C740F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4AFAF5-855D-5572-0A12-99A875AB42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D2C21-0A70-E7EF-E39D-35C7BD9BFA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F49B1-D4F6-5CBE-3D0B-F50E5B1AC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77D0CD-1012-9CA2-ABB0-03E95FA54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26F0F0-FFC3-F66D-0842-4B995A819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556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6481B-68B4-A038-9706-4A655F4D0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629B23-D3BA-04AB-53FB-2124FF7657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5A2D17-561D-418A-768B-0F24210F4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3B0800-EDCB-7A73-7240-21EC872E6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2A9CE-14CA-3AC1-D839-C658B3CC6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044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5D4820-03E3-30E6-FF86-5471D0A84A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F88718-786C-00CB-EDE4-94DA7AEF0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9DF497-25B6-5278-93F0-AF4D47A39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36FE7-3D16-222A-3E4B-9940D0C56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C1BCF-2DF2-C169-3996-54294AE06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861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A8C5F8-6BB6-0D4C-9D16-9501023BB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2F02BB-475A-0A52-7A02-3FF1FAD4D0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28949-2D5D-40F7-89FC-8AA79DDCFC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EEF154-6F20-4A33-904F-9409835DBC1C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3015B-383B-E47E-EE77-F1F4FF2621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4BF41-D6AA-A152-96EC-5FBB65D27A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BE6585-91AE-4142-9F0E-3B6BF16C3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93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7B8F93-D06B-454B-EA48-8BD1A848F5B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8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C2B05E-BE62-DE8C-C36D-6A0966BDF0B7}"/>
              </a:ext>
            </a:extLst>
          </p:cNvPr>
          <p:cNvSpPr/>
          <p:nvPr/>
        </p:nvSpPr>
        <p:spPr>
          <a:xfrm>
            <a:off x="9398000" y="-508000"/>
            <a:ext cx="3302000" cy="3302000"/>
          </a:xfrm>
          <a:prstGeom prst="rect">
            <a:avLst/>
          </a:prstGeom>
          <a:solidFill>
            <a:srgbClr val="1079D9">
              <a:alpha val="2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17060E-BBBB-7DA7-D78F-71FF98DA73A9}"/>
              </a:ext>
            </a:extLst>
          </p:cNvPr>
          <p:cNvSpPr/>
          <p:nvPr/>
        </p:nvSpPr>
        <p:spPr>
          <a:xfrm>
            <a:off x="-762000" y="4572000"/>
            <a:ext cx="3556000" cy="3556000"/>
          </a:xfrm>
          <a:prstGeom prst="rect">
            <a:avLst/>
          </a:prstGeom>
          <a:solidFill>
            <a:srgbClr val="16A398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11505E-CDF6-4279-B99F-33BAD7E8A701}"/>
              </a:ext>
            </a:extLst>
          </p:cNvPr>
          <p:cNvSpPr txBox="1"/>
          <p:nvPr/>
        </p:nvSpPr>
        <p:spPr>
          <a:xfrm>
            <a:off x="736600" y="889000"/>
            <a:ext cx="6604000" cy="636072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  <a:latin typeface="Bahnschrift SemiBold" panose="020B0502040204020203" pitchFamily="34" charset="0"/>
              </a:rPr>
              <a:t>Online Sales Management 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E64F38-477C-41C7-D85B-4E2D43524D07}"/>
              </a:ext>
            </a:extLst>
          </p:cNvPr>
          <p:cNvSpPr txBox="1"/>
          <p:nvPr/>
        </p:nvSpPr>
        <p:spPr>
          <a:xfrm>
            <a:off x="736600" y="1600200"/>
            <a:ext cx="5334000" cy="436017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500" b="1">
                <a:solidFill>
                  <a:srgbClr val="DBEEFF"/>
                </a:solidFill>
                <a:latin typeface="Segoe UI" panose="020B0502040204020203" pitchFamily="34" charset="0"/>
              </a:rPr>
              <a:t>Software Testing Final Submission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779039-7CBC-FE6E-5F12-C8288F5F9862}"/>
              </a:ext>
            </a:extLst>
          </p:cNvPr>
          <p:cNvSpPr txBox="1"/>
          <p:nvPr/>
        </p:nvSpPr>
        <p:spPr>
          <a:xfrm>
            <a:off x="736600" y="2133600"/>
            <a:ext cx="6858000" cy="943848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600">
                <a:solidFill>
                  <a:srgbClr val="FFFFFF"/>
                </a:solidFill>
                <a:latin typeface="Segoe UI" panose="020B0502040204020203" pitchFamily="34" charset="0"/>
              </a:rPr>
              <a:t>Final testing presentation built from the recorded execution results and supporting artifacts.
63 / 63 cases executed, 56 pass, 7 fail, 4 confirmed open defects.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B7DA104-47EC-B9BB-25D5-BEA3BB3411BC}"/>
              </a:ext>
            </a:extLst>
          </p:cNvPr>
          <p:cNvSpPr/>
          <p:nvPr/>
        </p:nvSpPr>
        <p:spPr>
          <a:xfrm>
            <a:off x="736600" y="3403600"/>
            <a:ext cx="4318000" cy="787400"/>
          </a:xfrm>
          <a:prstGeom prst="roundRect">
            <a:avLst/>
          </a:prstGeom>
          <a:solidFill>
            <a:srgbClr val="172742">
              <a:alpha val="92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101600" rIns="101600" bIns="101600" rtlCol="0" anchor="ctr"/>
          <a:lstStyle/>
          <a:p>
            <a:r>
              <a:rPr lang="nl-NL" sz="1300">
                <a:solidFill>
                  <a:srgbClr val="FFFFFF"/>
                </a:solidFill>
                <a:latin typeface="Segoe UI" panose="020B0502040204020203" pitchFamily="34" charset="0"/>
              </a:rPr>
              <a:t>Team
Hoang Van Thien
Nguyen Thanh Dat
Le Quang Duy</a:t>
            </a:r>
            <a:endParaRPr lang="en-US" sz="13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C10522-5DB4-6A3E-26B6-1164F812F491}"/>
              </a:ext>
            </a:extLst>
          </p:cNvPr>
          <p:cNvSpPr txBox="1"/>
          <p:nvPr/>
        </p:nvSpPr>
        <p:spPr>
          <a:xfrm>
            <a:off x="736600" y="6172200"/>
            <a:ext cx="4572000" cy="359073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000">
                <a:solidFill>
                  <a:srgbClr val="DBEEFF"/>
                </a:solidFill>
                <a:latin typeface="Segoe UI" panose="020B0502040204020203" pitchFamily="34" charset="0"/>
              </a:rPr>
              <a:t>Repository: github.com/Alucard30Dec/Online-Sales-Management-System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C0D087-2559-1692-51C3-8AB181058C0B}"/>
              </a:ext>
            </a:extLst>
          </p:cNvPr>
          <p:cNvSpPr/>
          <p:nvPr/>
        </p:nvSpPr>
        <p:spPr>
          <a:xfrm>
            <a:off x="7391400" y="1600200"/>
            <a:ext cx="1676400" cy="111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E00205-C8A9-4487-BA16-CCFB5D687706}"/>
              </a:ext>
            </a:extLst>
          </p:cNvPr>
          <p:cNvSpPr/>
          <p:nvPr/>
        </p:nvSpPr>
        <p:spPr>
          <a:xfrm>
            <a:off x="7391400" y="1600200"/>
            <a:ext cx="101600" cy="1117600"/>
          </a:xfrm>
          <a:prstGeom prst="round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0595F3-6F91-D92F-7792-759A79EE3560}"/>
              </a:ext>
            </a:extLst>
          </p:cNvPr>
          <p:cNvSpPr txBox="1"/>
          <p:nvPr/>
        </p:nvSpPr>
        <p:spPr>
          <a:xfrm>
            <a:off x="7645400" y="1828800"/>
            <a:ext cx="1320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63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2BB72C-8E11-2A11-8C4A-57973C366271}"/>
              </a:ext>
            </a:extLst>
          </p:cNvPr>
          <p:cNvSpPr txBox="1"/>
          <p:nvPr/>
        </p:nvSpPr>
        <p:spPr>
          <a:xfrm>
            <a:off x="7645400" y="2286000"/>
            <a:ext cx="1320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Total cases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E54AEE6-2C25-1437-6DF1-361BCF7053AF}"/>
              </a:ext>
            </a:extLst>
          </p:cNvPr>
          <p:cNvSpPr/>
          <p:nvPr/>
        </p:nvSpPr>
        <p:spPr>
          <a:xfrm>
            <a:off x="9220200" y="1600200"/>
            <a:ext cx="1676400" cy="111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D3CF90-B53C-C4DD-B267-3BD948254A50}"/>
              </a:ext>
            </a:extLst>
          </p:cNvPr>
          <p:cNvSpPr/>
          <p:nvPr/>
        </p:nvSpPr>
        <p:spPr>
          <a:xfrm>
            <a:off x="9220200" y="1600200"/>
            <a:ext cx="101600" cy="1117600"/>
          </a:xfrm>
          <a:prstGeom prst="roundRect">
            <a:avLst/>
          </a:prstGeom>
          <a:solidFill>
            <a:srgbClr val="16A39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E17DC9-A9E3-5F39-BEAD-AF1D10DDEC2C}"/>
              </a:ext>
            </a:extLst>
          </p:cNvPr>
          <p:cNvSpPr txBox="1"/>
          <p:nvPr/>
        </p:nvSpPr>
        <p:spPr>
          <a:xfrm>
            <a:off x="9474200" y="1828800"/>
            <a:ext cx="1320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100%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9975AD-8D5B-3659-4C5A-D6AC6E842D5C}"/>
              </a:ext>
            </a:extLst>
          </p:cNvPr>
          <p:cNvSpPr txBox="1"/>
          <p:nvPr/>
        </p:nvSpPr>
        <p:spPr>
          <a:xfrm>
            <a:off x="9474200" y="2286000"/>
            <a:ext cx="1320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Executed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BA403EB-9074-4C9D-154F-E233BDDA24C4}"/>
              </a:ext>
            </a:extLst>
          </p:cNvPr>
          <p:cNvSpPr/>
          <p:nvPr/>
        </p:nvSpPr>
        <p:spPr>
          <a:xfrm>
            <a:off x="7391400" y="2870200"/>
            <a:ext cx="1676400" cy="111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44A112-46DB-33F8-EF34-C84CA39361A4}"/>
              </a:ext>
            </a:extLst>
          </p:cNvPr>
          <p:cNvSpPr/>
          <p:nvPr/>
        </p:nvSpPr>
        <p:spPr>
          <a:xfrm>
            <a:off x="7391400" y="2870200"/>
            <a:ext cx="101600" cy="1117600"/>
          </a:xfrm>
          <a:prstGeom prst="roundRect">
            <a:avLst/>
          </a:prstGeom>
          <a:solidFill>
            <a:srgbClr val="C43D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B907DB-368B-9301-0888-FD6C7294042C}"/>
              </a:ext>
            </a:extLst>
          </p:cNvPr>
          <p:cNvSpPr txBox="1"/>
          <p:nvPr/>
        </p:nvSpPr>
        <p:spPr>
          <a:xfrm>
            <a:off x="7645400" y="3098800"/>
            <a:ext cx="1320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4BA9E2-78AB-2DBD-EC61-2F3CC5776AE8}"/>
              </a:ext>
            </a:extLst>
          </p:cNvPr>
          <p:cNvSpPr txBox="1"/>
          <p:nvPr/>
        </p:nvSpPr>
        <p:spPr>
          <a:xfrm>
            <a:off x="7645400" y="3556000"/>
            <a:ext cx="1320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Live issues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2DE8B9D-97BF-9EC6-FF61-2D3F1F36C219}"/>
              </a:ext>
            </a:extLst>
          </p:cNvPr>
          <p:cNvSpPr/>
          <p:nvPr/>
        </p:nvSpPr>
        <p:spPr>
          <a:xfrm>
            <a:off x="9220200" y="2870200"/>
            <a:ext cx="1676400" cy="111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62FD25A-C23E-F500-D385-FF1189C51986}"/>
              </a:ext>
            </a:extLst>
          </p:cNvPr>
          <p:cNvSpPr/>
          <p:nvPr/>
        </p:nvSpPr>
        <p:spPr>
          <a:xfrm>
            <a:off x="9220200" y="2870200"/>
            <a:ext cx="101600" cy="1117600"/>
          </a:xfrm>
          <a:prstGeom prst="roundRect">
            <a:avLst/>
          </a:prstGeom>
          <a:solidFill>
            <a:srgbClr val="D689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4F8D7-0B25-667C-8F17-FC12B75B1FA5}"/>
              </a:ext>
            </a:extLst>
          </p:cNvPr>
          <p:cNvSpPr txBox="1"/>
          <p:nvPr/>
        </p:nvSpPr>
        <p:spPr>
          <a:xfrm>
            <a:off x="9474200" y="3098800"/>
            <a:ext cx="1320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E9E911-2361-FAF5-1E5D-F84A4F4A056D}"/>
              </a:ext>
            </a:extLst>
          </p:cNvPr>
          <p:cNvSpPr txBox="1"/>
          <p:nvPr/>
        </p:nvSpPr>
        <p:spPr>
          <a:xfrm>
            <a:off x="9474200" y="3556000"/>
            <a:ext cx="1320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Current fail cases</a:t>
            </a:r>
          </a:p>
        </p:txBody>
      </p:sp>
    </p:spTree>
    <p:extLst>
      <p:ext uri="{BB962C8B-B14F-4D97-AF65-F5344CB8AC3E}">
        <p14:creationId xmlns:p14="http://schemas.microsoft.com/office/powerpoint/2010/main" val="480303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5B0F74-C6FF-A1CD-4EA3-27C2371909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8C3E86-C87F-DFAA-C643-31E5AAC3EE0E}"/>
              </a:ext>
            </a:extLst>
          </p:cNvPr>
          <p:cNvSpPr/>
          <p:nvPr/>
        </p:nvSpPr>
        <p:spPr>
          <a:xfrm>
            <a:off x="609600" y="406400"/>
            <a:ext cx="457200" cy="76200"/>
          </a:xfrm>
          <a:prstGeom prst="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297BEF-9C17-3A8D-1E54-B8C8C0B2C797}"/>
              </a:ext>
            </a:extLst>
          </p:cNvPr>
          <p:cNvSpPr txBox="1"/>
          <p:nvPr/>
        </p:nvSpPr>
        <p:spPr>
          <a:xfrm>
            <a:off x="609600" y="508000"/>
            <a:ext cx="2413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 b="1">
                <a:solidFill>
                  <a:srgbClr val="1079D9"/>
                </a:solidFill>
                <a:latin typeface="Segoe UI" panose="020B0502040204020203" pitchFamily="34" charset="0"/>
              </a:rPr>
              <a:t>01  Risk-Based Scope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D9ADC6-385B-91BD-6A56-1737147955D2}"/>
              </a:ext>
            </a:extLst>
          </p:cNvPr>
          <p:cNvSpPr txBox="1"/>
          <p:nvPr/>
        </p:nvSpPr>
        <p:spPr>
          <a:xfrm>
            <a:off x="609600" y="838200"/>
            <a:ext cx="10972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System Surfaces And High-Risk Areas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42FA81-FF52-31F4-CD4E-E9FBBB361D6E}"/>
              </a:ext>
            </a:extLst>
          </p:cNvPr>
          <p:cNvSpPr txBox="1"/>
          <p:nvPr/>
        </p:nvSpPr>
        <p:spPr>
          <a:xfrm>
            <a:off x="609600" y="1549400"/>
            <a:ext cx="10972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The scope is centered on business-critical flows where defects can affect permissions, inventory, transaction status, or reporting.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3CEA96-295E-8491-3C01-239CC366DD7D}"/>
              </a:ext>
            </a:extLst>
          </p:cNvPr>
          <p:cNvSpPr/>
          <p:nvPr/>
        </p:nvSpPr>
        <p:spPr>
          <a:xfrm>
            <a:off x="609600" y="1905000"/>
            <a:ext cx="3175000" cy="1193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F6FBDE3-3EBD-B9B6-8DA3-C6B6535C2025}"/>
              </a:ext>
            </a:extLst>
          </p:cNvPr>
          <p:cNvSpPr/>
          <p:nvPr/>
        </p:nvSpPr>
        <p:spPr>
          <a:xfrm>
            <a:off x="609600" y="1905000"/>
            <a:ext cx="101600" cy="1193800"/>
          </a:xfrm>
          <a:prstGeom prst="round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6C8E21-8281-912B-D2A7-67D027162090}"/>
              </a:ext>
            </a:extLst>
          </p:cNvPr>
          <p:cNvSpPr txBox="1"/>
          <p:nvPr/>
        </p:nvSpPr>
        <p:spPr>
          <a:xfrm>
            <a:off x="863600" y="2133600"/>
            <a:ext cx="28194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Admin UI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9BC456-44DB-379D-2704-9CDAC9708B4A}"/>
              </a:ext>
            </a:extLst>
          </p:cNvPr>
          <p:cNvSpPr txBox="1"/>
          <p:nvPr/>
        </p:nvSpPr>
        <p:spPr>
          <a:xfrm>
            <a:off x="863600" y="2590800"/>
            <a:ext cx="2819400" cy="543739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Authentication, roles, products, purchases, invoices, reports, and stock operations.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E394BEB-DF51-5924-162A-6CEC770BABCF}"/>
              </a:ext>
            </a:extLst>
          </p:cNvPr>
          <p:cNvSpPr/>
          <p:nvPr/>
        </p:nvSpPr>
        <p:spPr>
          <a:xfrm>
            <a:off x="4038600" y="1905000"/>
            <a:ext cx="3175000" cy="1193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9DE6F0B-E1EF-1C88-48EE-FE0A037CBFB7}"/>
              </a:ext>
            </a:extLst>
          </p:cNvPr>
          <p:cNvSpPr/>
          <p:nvPr/>
        </p:nvSpPr>
        <p:spPr>
          <a:xfrm>
            <a:off x="4038600" y="1905000"/>
            <a:ext cx="101600" cy="1193800"/>
          </a:xfrm>
          <a:prstGeom prst="roundRect">
            <a:avLst/>
          </a:prstGeom>
          <a:solidFill>
            <a:srgbClr val="16A39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D9ED5D-4933-9CE4-9982-9E9B9EBC0988}"/>
              </a:ext>
            </a:extLst>
          </p:cNvPr>
          <p:cNvSpPr txBox="1"/>
          <p:nvPr/>
        </p:nvSpPr>
        <p:spPr>
          <a:xfrm>
            <a:off x="4292600" y="2133600"/>
            <a:ext cx="28194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Public Catalog UI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3D11B4-1786-EAF5-BEB4-DFA457254A39}"/>
              </a:ext>
            </a:extLst>
          </p:cNvPr>
          <p:cNvSpPr txBox="1"/>
          <p:nvPr/>
        </p:nvSpPr>
        <p:spPr>
          <a:xfrm>
            <a:off x="4292600" y="2590800"/>
            <a:ext cx="2819400" cy="543739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Search, sorting, product detail access, and customer-facing catalog behavior.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FE50891-D2DF-883C-B099-74749FD5EF3B}"/>
              </a:ext>
            </a:extLst>
          </p:cNvPr>
          <p:cNvSpPr/>
          <p:nvPr/>
        </p:nvSpPr>
        <p:spPr>
          <a:xfrm>
            <a:off x="609600" y="3276600"/>
            <a:ext cx="3175000" cy="1193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619A8FE-0DE7-6414-C658-B23F44670DFF}"/>
              </a:ext>
            </a:extLst>
          </p:cNvPr>
          <p:cNvSpPr/>
          <p:nvPr/>
        </p:nvSpPr>
        <p:spPr>
          <a:xfrm>
            <a:off x="609600" y="3276600"/>
            <a:ext cx="101600" cy="1193800"/>
          </a:xfrm>
          <a:prstGeom prst="roundRect">
            <a:avLst/>
          </a:prstGeom>
          <a:solidFill>
            <a:srgbClr val="D689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91E39C-F72B-8448-779A-C3A7168F5118}"/>
              </a:ext>
            </a:extLst>
          </p:cNvPr>
          <p:cNvSpPr txBox="1"/>
          <p:nvPr/>
        </p:nvSpPr>
        <p:spPr>
          <a:xfrm>
            <a:off x="863600" y="3505200"/>
            <a:ext cx="28194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Health API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99363E-42E3-333B-238B-F57137FC2156}"/>
              </a:ext>
            </a:extLst>
          </p:cNvPr>
          <p:cNvSpPr txBox="1"/>
          <p:nvPr/>
        </p:nvSpPr>
        <p:spPr>
          <a:xfrm>
            <a:off x="863600" y="3962400"/>
            <a:ext cx="2819400" cy="7130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Environment readiness smoke used to validate API availability before deeper runs.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EF53F32-74DF-7E74-1756-3D15D515B51B}"/>
              </a:ext>
            </a:extLst>
          </p:cNvPr>
          <p:cNvSpPr/>
          <p:nvPr/>
        </p:nvSpPr>
        <p:spPr>
          <a:xfrm>
            <a:off x="4038600" y="3276600"/>
            <a:ext cx="3175000" cy="1193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C37F4B6-5F0B-4A9D-C10F-F57706EDD62C}"/>
              </a:ext>
            </a:extLst>
          </p:cNvPr>
          <p:cNvSpPr/>
          <p:nvPr/>
        </p:nvSpPr>
        <p:spPr>
          <a:xfrm>
            <a:off x="4038600" y="3276600"/>
            <a:ext cx="101600" cy="1193800"/>
          </a:xfrm>
          <a:prstGeom prst="roundRect">
            <a:avLst/>
          </a:prstGeom>
          <a:solidFill>
            <a:srgbClr val="2A7F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2A5327-B2EE-8D6D-EBB0-7AA070ADA8BB}"/>
              </a:ext>
            </a:extLst>
          </p:cNvPr>
          <p:cNvSpPr txBox="1"/>
          <p:nvPr/>
        </p:nvSpPr>
        <p:spPr>
          <a:xfrm>
            <a:off x="4292600" y="3505200"/>
            <a:ext cx="28194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Catalog API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C4F7B1-1AA9-6C45-3FAE-FA3F956D9F44}"/>
              </a:ext>
            </a:extLst>
          </p:cNvPr>
          <p:cNvSpPr txBox="1"/>
          <p:nvPr/>
        </p:nvSpPr>
        <p:spPr>
          <a:xfrm>
            <a:off x="4292600" y="3962400"/>
            <a:ext cx="2819400" cy="7130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Filtering, paging, sort, and boundary behavior through Newman collection runs.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FAFB513-C14E-AE06-CB88-094227BF4FC3}"/>
              </a:ext>
            </a:extLst>
          </p:cNvPr>
          <p:cNvSpPr/>
          <p:nvPr/>
        </p:nvSpPr>
        <p:spPr>
          <a:xfrm>
            <a:off x="7569200" y="1905000"/>
            <a:ext cx="4013200" cy="256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500">
                <a:solidFill>
                  <a:srgbClr val="182438"/>
                </a:solidFill>
                <a:latin typeface="Segoe UI" panose="020B0502040204020203" pitchFamily="34" charset="0"/>
              </a:rPr>
              <a:t>Highest-Risk Modules
- Authentication and permission boundaries
- Product import, stock, and inventory movement
- Purchase and invoice transaction flows
- Reports and public catalog correctness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22C9A6F-AE22-3DF2-B841-12E5B49584DA}"/>
              </a:ext>
            </a:extLst>
          </p:cNvPr>
          <p:cNvSpPr/>
          <p:nvPr/>
        </p:nvSpPr>
        <p:spPr>
          <a:xfrm>
            <a:off x="7569200" y="4724400"/>
            <a:ext cx="4013200" cy="1117600"/>
          </a:xfrm>
          <a:prstGeom prst="roundRect">
            <a:avLst/>
          </a:prstGeom>
          <a:solidFill>
            <a:srgbClr val="EDF7FF"/>
          </a:solidFill>
          <a:ln w="12700">
            <a:solidFill>
              <a:srgbClr val="D689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400">
                <a:solidFill>
                  <a:srgbClr val="182438"/>
                </a:solidFill>
                <a:latin typeface="Segoe UI" panose="020B0502040204020203" pitchFamily="34" charset="0"/>
              </a:rPr>
              <a:t>Why this matters
These areas can create false stock, invalid revenue records, or unauthorized access if they break.</a:t>
            </a:r>
          </a:p>
        </p:txBody>
      </p:sp>
    </p:spTree>
    <p:extLst>
      <p:ext uri="{BB962C8B-B14F-4D97-AF65-F5344CB8AC3E}">
        <p14:creationId xmlns:p14="http://schemas.microsoft.com/office/powerpoint/2010/main" val="2903630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B9AC3FA-F183-6A40-DB29-5EA24EE894B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270FE-F942-D805-8B2F-36A464D71F66}"/>
              </a:ext>
            </a:extLst>
          </p:cNvPr>
          <p:cNvSpPr/>
          <p:nvPr/>
        </p:nvSpPr>
        <p:spPr>
          <a:xfrm>
            <a:off x="609600" y="406400"/>
            <a:ext cx="457200" cy="76200"/>
          </a:xfrm>
          <a:prstGeom prst="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A20873-1C5E-14C2-A97F-6433CE020E17}"/>
              </a:ext>
            </a:extLst>
          </p:cNvPr>
          <p:cNvSpPr txBox="1"/>
          <p:nvPr/>
        </p:nvSpPr>
        <p:spPr>
          <a:xfrm>
            <a:off x="609600" y="508000"/>
            <a:ext cx="2413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 b="1">
                <a:solidFill>
                  <a:srgbClr val="1079D9"/>
                </a:solidFill>
                <a:latin typeface="Segoe UI" panose="020B0502040204020203" pitchFamily="34" charset="0"/>
              </a:rPr>
              <a:t>02  Strategy And Evidence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80DE1F-1D42-6CF8-6C58-3663880C5E53}"/>
              </a:ext>
            </a:extLst>
          </p:cNvPr>
          <p:cNvSpPr txBox="1"/>
          <p:nvPr/>
        </p:nvSpPr>
        <p:spPr>
          <a:xfrm>
            <a:off x="609600" y="838200"/>
            <a:ext cx="10972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From Test Design To Recorded Evidence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FC5D55-1AFC-C859-7013-D02A2FFA3C97}"/>
              </a:ext>
            </a:extLst>
          </p:cNvPr>
          <p:cNvSpPr txBox="1"/>
          <p:nvPr/>
        </p:nvSpPr>
        <p:spPr>
          <a:xfrm>
            <a:off x="609600" y="1549400"/>
            <a:ext cx="10972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This section shows how scenario design, execution outputs, and defect tracking were kept in one consistent chain.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47BBE3-40FA-DA57-DB1F-AA6805E34799}"/>
              </a:ext>
            </a:extLst>
          </p:cNvPr>
          <p:cNvSpPr/>
          <p:nvPr/>
        </p:nvSpPr>
        <p:spPr>
          <a:xfrm>
            <a:off x="609600" y="1905000"/>
            <a:ext cx="3657600" cy="236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400">
                <a:solidFill>
                  <a:srgbClr val="182438"/>
                </a:solidFill>
                <a:latin typeface="Segoe UI" panose="020B0502040204020203" pitchFamily="34" charset="0"/>
              </a:rPr>
              <a:t>Approach
- project-specific audit instead of template-only planning
- black-box execution with white-box-informed edge cases
- manual UI validation plus API regression plus targeted UI automation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86DB26-2AEE-0CE3-992E-6BBE32DBA649}"/>
              </a:ext>
            </a:extLst>
          </p:cNvPr>
          <p:cNvSpPr/>
          <p:nvPr/>
        </p:nvSpPr>
        <p:spPr>
          <a:xfrm>
            <a:off x="4445000" y="1905000"/>
            <a:ext cx="71374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500">
                <a:solidFill>
                  <a:srgbClr val="182438"/>
                </a:solidFill>
                <a:latin typeface="Segoe UI" panose="020B0502040204020203" pitchFamily="34" charset="0"/>
              </a:rPr>
              <a:t>Evidence Chain
Each key claim in the report can be followed from test design to execution output, defect logging, and the linked GitHub issue when a failure was confirmed.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D6C10B2-7996-0CFB-5097-82B28AA9C7B9}"/>
              </a:ext>
            </a:extLst>
          </p:cNvPr>
          <p:cNvSpPr/>
          <p:nvPr/>
        </p:nvSpPr>
        <p:spPr>
          <a:xfrm>
            <a:off x="4445000" y="3733800"/>
            <a:ext cx="965200" cy="838200"/>
          </a:xfrm>
          <a:prstGeom prst="round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101600" rIns="101600" bIns="1016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Scenario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E8B51DA-D635-A42A-9B74-55C9810E830B}"/>
              </a:ext>
            </a:extLst>
          </p:cNvPr>
          <p:cNvCxnSpPr/>
          <p:nvPr/>
        </p:nvCxnSpPr>
        <p:spPr>
          <a:xfrm>
            <a:off x="5410200" y="4152900"/>
            <a:ext cx="152400" cy="0"/>
          </a:xfrm>
          <a:prstGeom prst="line">
            <a:avLst/>
          </a:prstGeom>
          <a:ln w="25400">
            <a:solidFill>
              <a:srgbClr val="E1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9CEA5E-1685-40D1-0ACC-3E9B32CDA0EB}"/>
              </a:ext>
            </a:extLst>
          </p:cNvPr>
          <p:cNvSpPr/>
          <p:nvPr/>
        </p:nvSpPr>
        <p:spPr>
          <a:xfrm>
            <a:off x="5562600" y="3733800"/>
            <a:ext cx="965200" cy="838200"/>
          </a:xfrm>
          <a:prstGeom prst="roundRect">
            <a:avLst/>
          </a:prstGeom>
          <a:solidFill>
            <a:srgbClr val="16A39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101600" rIns="101600" bIns="1016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Test Case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2D1925D-6BA5-0CF5-579C-EEFE9BDDAEAC}"/>
              </a:ext>
            </a:extLst>
          </p:cNvPr>
          <p:cNvCxnSpPr/>
          <p:nvPr/>
        </p:nvCxnSpPr>
        <p:spPr>
          <a:xfrm>
            <a:off x="6527800" y="4152900"/>
            <a:ext cx="152400" cy="0"/>
          </a:xfrm>
          <a:prstGeom prst="line">
            <a:avLst/>
          </a:prstGeom>
          <a:ln w="25400">
            <a:solidFill>
              <a:srgbClr val="E1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307CB6B-6747-DACB-E14A-5AFD62162DAF}"/>
              </a:ext>
            </a:extLst>
          </p:cNvPr>
          <p:cNvSpPr/>
          <p:nvPr/>
        </p:nvSpPr>
        <p:spPr>
          <a:xfrm>
            <a:off x="6680200" y="3733800"/>
            <a:ext cx="965200" cy="838200"/>
          </a:xfrm>
          <a:prstGeom prst="roundRect">
            <a:avLst/>
          </a:prstGeom>
          <a:solidFill>
            <a:srgbClr val="D689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101600" rIns="101600" bIns="1016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Execution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D66CB4A-2264-E453-09E3-AB32E9298A09}"/>
              </a:ext>
            </a:extLst>
          </p:cNvPr>
          <p:cNvCxnSpPr/>
          <p:nvPr/>
        </p:nvCxnSpPr>
        <p:spPr>
          <a:xfrm>
            <a:off x="7645400" y="4152900"/>
            <a:ext cx="152400" cy="0"/>
          </a:xfrm>
          <a:prstGeom prst="line">
            <a:avLst/>
          </a:prstGeom>
          <a:ln w="25400">
            <a:solidFill>
              <a:srgbClr val="E1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9F6BB19-3B46-3112-5C32-95581E94DE04}"/>
              </a:ext>
            </a:extLst>
          </p:cNvPr>
          <p:cNvSpPr/>
          <p:nvPr/>
        </p:nvSpPr>
        <p:spPr>
          <a:xfrm>
            <a:off x="7797800" y="3733800"/>
            <a:ext cx="965200" cy="838200"/>
          </a:xfrm>
          <a:prstGeom prst="roundRect">
            <a:avLst/>
          </a:prstGeom>
          <a:solidFill>
            <a:srgbClr val="2A7F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101600" rIns="101600" bIns="1016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Evidence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21B9C6C-85D5-81BC-7D77-F0E639FC9534}"/>
              </a:ext>
            </a:extLst>
          </p:cNvPr>
          <p:cNvCxnSpPr/>
          <p:nvPr/>
        </p:nvCxnSpPr>
        <p:spPr>
          <a:xfrm>
            <a:off x="8763000" y="4152900"/>
            <a:ext cx="152400" cy="0"/>
          </a:xfrm>
          <a:prstGeom prst="line">
            <a:avLst/>
          </a:prstGeom>
          <a:ln w="25400">
            <a:solidFill>
              <a:srgbClr val="E1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1B3F4D2-39F8-9868-3454-82B082EFA6A9}"/>
              </a:ext>
            </a:extLst>
          </p:cNvPr>
          <p:cNvSpPr/>
          <p:nvPr/>
        </p:nvSpPr>
        <p:spPr>
          <a:xfrm>
            <a:off x="8915400" y="3733800"/>
            <a:ext cx="965200" cy="838200"/>
          </a:xfrm>
          <a:prstGeom prst="roundRect">
            <a:avLst/>
          </a:prstGeom>
          <a:solidFill>
            <a:srgbClr val="C43D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101600" rIns="101600" bIns="1016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Defect Log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A3F279C-3C5F-9580-A81D-0843CACCD5E0}"/>
              </a:ext>
            </a:extLst>
          </p:cNvPr>
          <p:cNvCxnSpPr/>
          <p:nvPr/>
        </p:nvCxnSpPr>
        <p:spPr>
          <a:xfrm>
            <a:off x="9880600" y="4152900"/>
            <a:ext cx="152400" cy="0"/>
          </a:xfrm>
          <a:prstGeom prst="line">
            <a:avLst/>
          </a:prstGeom>
          <a:ln w="25400">
            <a:solidFill>
              <a:srgbClr val="E1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48C9AEE-E17D-8C0A-752E-DE851A344926}"/>
              </a:ext>
            </a:extLst>
          </p:cNvPr>
          <p:cNvSpPr/>
          <p:nvPr/>
        </p:nvSpPr>
        <p:spPr>
          <a:xfrm>
            <a:off x="10033000" y="3733800"/>
            <a:ext cx="965200" cy="838200"/>
          </a:xfrm>
          <a:prstGeom prst="roundRect">
            <a:avLst/>
          </a:prstGeom>
          <a:solidFill>
            <a:srgbClr val="182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101600" rIns="101600" bIns="1016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GitHub Issue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2C3052-3627-87BC-2BDF-C60E86E4E37F}"/>
              </a:ext>
            </a:extLst>
          </p:cNvPr>
          <p:cNvSpPr/>
          <p:nvPr/>
        </p:nvSpPr>
        <p:spPr>
          <a:xfrm>
            <a:off x="609600" y="4622800"/>
            <a:ext cx="10972800" cy="1244600"/>
          </a:xfrm>
          <a:prstGeom prst="roundRect">
            <a:avLst/>
          </a:prstGeom>
          <a:solidFill>
            <a:srgbClr val="EDF7FF"/>
          </a:solidFill>
          <a:ln w="12700">
            <a:solidFill>
              <a:srgbClr val="107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400">
                <a:solidFill>
                  <a:srgbClr val="182438"/>
                </a:solidFill>
                <a:latin typeface="Segoe UI" panose="020B0502040204020203" pitchFamily="34" charset="0"/>
              </a:rPr>
              <a:t>Review point
The deck does not rely on summary labels alone. Each important result is backed by a visible runtime artifact and, when failing, by a tracked GitHub issue with severity and priority.</a:t>
            </a:r>
          </a:p>
        </p:txBody>
      </p:sp>
    </p:spTree>
    <p:extLst>
      <p:ext uri="{BB962C8B-B14F-4D97-AF65-F5344CB8AC3E}">
        <p14:creationId xmlns:p14="http://schemas.microsoft.com/office/powerpoint/2010/main" val="3293001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46816B-D432-A769-8437-379636A527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F0C578-A546-DD7C-A0C3-2977EEA28AA4}"/>
              </a:ext>
            </a:extLst>
          </p:cNvPr>
          <p:cNvSpPr/>
          <p:nvPr/>
        </p:nvSpPr>
        <p:spPr>
          <a:xfrm>
            <a:off x="609600" y="406400"/>
            <a:ext cx="457200" cy="76200"/>
          </a:xfrm>
          <a:prstGeom prst="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E7A697-6D90-4A41-982A-C92FAE953FD8}"/>
              </a:ext>
            </a:extLst>
          </p:cNvPr>
          <p:cNvSpPr txBox="1"/>
          <p:nvPr/>
        </p:nvSpPr>
        <p:spPr>
          <a:xfrm>
            <a:off x="609600" y="508000"/>
            <a:ext cx="2413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 b="1">
                <a:solidFill>
                  <a:srgbClr val="1079D9"/>
                </a:solidFill>
                <a:latin typeface="Segoe UI" panose="020B0502040204020203" pitchFamily="34" charset="0"/>
              </a:rPr>
              <a:t>03  Coverage Snapshot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67D89-2233-0267-8C23-EBE36D1049F3}"/>
              </a:ext>
            </a:extLst>
          </p:cNvPr>
          <p:cNvSpPr txBox="1"/>
          <p:nvPr/>
        </p:nvSpPr>
        <p:spPr>
          <a:xfrm>
            <a:off x="609600" y="838200"/>
            <a:ext cx="10972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Coverage Is Complete, Ownership Is Clear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13C502-E803-CB73-11B3-0B90CC791A36}"/>
              </a:ext>
            </a:extLst>
          </p:cNvPr>
          <p:cNvSpPr txBox="1"/>
          <p:nvPr/>
        </p:nvSpPr>
        <p:spPr>
          <a:xfrm>
            <a:off x="609600" y="1549400"/>
            <a:ext cx="10972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The case set is wide enough to cover the required scope and explicit enough to show that the UI workload was split without overlap.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0B99CB5-12FE-D497-E401-D6D17EEEE856}"/>
              </a:ext>
            </a:extLst>
          </p:cNvPr>
          <p:cNvSpPr/>
          <p:nvPr/>
        </p:nvSpPr>
        <p:spPr>
          <a:xfrm>
            <a:off x="609600" y="1879600"/>
            <a:ext cx="2514600" cy="109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AF5BED4-DE77-716E-FEC7-5A60809BC688}"/>
              </a:ext>
            </a:extLst>
          </p:cNvPr>
          <p:cNvSpPr/>
          <p:nvPr/>
        </p:nvSpPr>
        <p:spPr>
          <a:xfrm>
            <a:off x="609600" y="1879600"/>
            <a:ext cx="101600" cy="1092200"/>
          </a:xfrm>
          <a:prstGeom prst="round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39D86A-A828-9C42-6572-36337BA5E516}"/>
              </a:ext>
            </a:extLst>
          </p:cNvPr>
          <p:cNvSpPr txBox="1"/>
          <p:nvPr/>
        </p:nvSpPr>
        <p:spPr>
          <a:xfrm>
            <a:off x="863600" y="2108200"/>
            <a:ext cx="21590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56CC1-7527-FF38-90F3-AE62FF651A5B}"/>
              </a:ext>
            </a:extLst>
          </p:cNvPr>
          <p:cNvSpPr txBox="1"/>
          <p:nvPr/>
        </p:nvSpPr>
        <p:spPr>
          <a:xfrm>
            <a:off x="863600" y="2565400"/>
            <a:ext cx="2159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Documented scenarios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B9F284-CBC6-24F6-8DC1-FC793D174C10}"/>
              </a:ext>
            </a:extLst>
          </p:cNvPr>
          <p:cNvSpPr/>
          <p:nvPr/>
        </p:nvSpPr>
        <p:spPr>
          <a:xfrm>
            <a:off x="3302000" y="1879600"/>
            <a:ext cx="2514600" cy="109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4854B24-5EC4-6088-C28B-19BC25DC23A6}"/>
              </a:ext>
            </a:extLst>
          </p:cNvPr>
          <p:cNvSpPr/>
          <p:nvPr/>
        </p:nvSpPr>
        <p:spPr>
          <a:xfrm>
            <a:off x="3302000" y="1879600"/>
            <a:ext cx="101600" cy="1092200"/>
          </a:xfrm>
          <a:prstGeom prst="roundRect">
            <a:avLst/>
          </a:prstGeom>
          <a:solidFill>
            <a:srgbClr val="16A39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FF3A50-CF4D-A1DF-D313-766628C77CFF}"/>
              </a:ext>
            </a:extLst>
          </p:cNvPr>
          <p:cNvSpPr txBox="1"/>
          <p:nvPr/>
        </p:nvSpPr>
        <p:spPr>
          <a:xfrm>
            <a:off x="3556000" y="2108200"/>
            <a:ext cx="21590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8DB17B-68A7-2D75-BEDB-E0E5ED23ACC9}"/>
              </a:ext>
            </a:extLst>
          </p:cNvPr>
          <p:cNvSpPr txBox="1"/>
          <p:nvPr/>
        </p:nvSpPr>
        <p:spPr>
          <a:xfrm>
            <a:off x="3556000" y="2565400"/>
            <a:ext cx="2159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Total test cases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786FED7-7D4E-81F4-80A5-53A07AC2A740}"/>
              </a:ext>
            </a:extLst>
          </p:cNvPr>
          <p:cNvSpPr/>
          <p:nvPr/>
        </p:nvSpPr>
        <p:spPr>
          <a:xfrm>
            <a:off x="5994400" y="1879600"/>
            <a:ext cx="2514600" cy="109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29EB368-C2FB-ACF1-EFC0-E290A6BF6D37}"/>
              </a:ext>
            </a:extLst>
          </p:cNvPr>
          <p:cNvSpPr/>
          <p:nvPr/>
        </p:nvSpPr>
        <p:spPr>
          <a:xfrm>
            <a:off x="5994400" y="1879600"/>
            <a:ext cx="101600" cy="1092200"/>
          </a:xfrm>
          <a:prstGeom prst="roundRect">
            <a:avLst/>
          </a:prstGeom>
          <a:solidFill>
            <a:srgbClr val="D689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886B0C-B4DC-280E-A0FC-7A622A823E6A}"/>
              </a:ext>
            </a:extLst>
          </p:cNvPr>
          <p:cNvSpPr txBox="1"/>
          <p:nvPr/>
        </p:nvSpPr>
        <p:spPr>
          <a:xfrm>
            <a:off x="6248400" y="2108200"/>
            <a:ext cx="21590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44 UI / 19 API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141521-EBEC-D462-EB8A-70A132BD8450}"/>
              </a:ext>
            </a:extLst>
          </p:cNvPr>
          <p:cNvSpPr txBox="1"/>
          <p:nvPr/>
        </p:nvSpPr>
        <p:spPr>
          <a:xfrm>
            <a:off x="6248400" y="2565400"/>
            <a:ext cx="2159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Design split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B1ADC8B-0670-616D-9F3B-D33BBD4E94EA}"/>
              </a:ext>
            </a:extLst>
          </p:cNvPr>
          <p:cNvSpPr/>
          <p:nvPr/>
        </p:nvSpPr>
        <p:spPr>
          <a:xfrm>
            <a:off x="8686800" y="1879600"/>
            <a:ext cx="2895600" cy="109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BF76078-E795-2F04-35AB-DEEF3A29F6D5}"/>
              </a:ext>
            </a:extLst>
          </p:cNvPr>
          <p:cNvSpPr/>
          <p:nvPr/>
        </p:nvSpPr>
        <p:spPr>
          <a:xfrm>
            <a:off x="8686800" y="1879600"/>
            <a:ext cx="101600" cy="1092200"/>
          </a:xfrm>
          <a:prstGeom prst="roundRect">
            <a:avLst/>
          </a:prstGeom>
          <a:solidFill>
            <a:srgbClr val="2A7F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E5947B-8BCB-B737-FF9D-DB9099A2BF72}"/>
              </a:ext>
            </a:extLst>
          </p:cNvPr>
          <p:cNvSpPr txBox="1"/>
          <p:nvPr/>
        </p:nvSpPr>
        <p:spPr>
          <a:xfrm>
            <a:off x="8940800" y="2108200"/>
            <a:ext cx="25400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100% mapped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D3E9BC-8173-3D0F-6A6F-AB3599F90FCF}"/>
              </a:ext>
            </a:extLst>
          </p:cNvPr>
          <p:cNvSpPr txBox="1"/>
          <p:nvPr/>
        </p:nvSpPr>
        <p:spPr>
          <a:xfrm>
            <a:off x="8940800" y="2565400"/>
            <a:ext cx="2540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Scenario-to-testcase coverage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5A9026-22A2-A838-2591-EBECCA96288E}"/>
              </a:ext>
            </a:extLst>
          </p:cNvPr>
          <p:cNvSpPr txBox="1"/>
          <p:nvPr/>
        </p:nvSpPr>
        <p:spPr>
          <a:xfrm>
            <a:off x="609600" y="3352800"/>
            <a:ext cx="10972800" cy="45140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600" b="1">
                <a:solidFill>
                  <a:srgbClr val="182438"/>
                </a:solidFill>
                <a:latin typeface="Bahnschrift SemiBold" panose="020B0502040204020203" pitchFamily="34" charset="0"/>
              </a:rPr>
              <a:t>Owner Allocation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91DEC8-6EEF-AE3B-5902-49D69C5C177F}"/>
              </a:ext>
            </a:extLst>
          </p:cNvPr>
          <p:cNvSpPr txBox="1"/>
          <p:nvPr/>
        </p:nvSpPr>
        <p:spPr>
          <a:xfrm>
            <a:off x="609600" y="3835400"/>
            <a:ext cx="22860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182438"/>
                </a:solidFill>
                <a:latin typeface="Segoe UI" panose="020B0502040204020203" pitchFamily="34" charset="0"/>
              </a:rPr>
              <a:t>Hoang Van Thien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1875259-7A7D-F790-CA7C-B66403A6AEE8}"/>
              </a:ext>
            </a:extLst>
          </p:cNvPr>
          <p:cNvSpPr/>
          <p:nvPr/>
        </p:nvSpPr>
        <p:spPr>
          <a:xfrm>
            <a:off x="2946400" y="3860800"/>
            <a:ext cx="7112000" cy="228600"/>
          </a:xfrm>
          <a:prstGeom prst="roundRect">
            <a:avLst/>
          </a:prstGeom>
          <a:solidFill>
            <a:srgbClr val="EDF7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94AD3EC-DA69-36F2-9B0F-EC59FCF52720}"/>
              </a:ext>
            </a:extLst>
          </p:cNvPr>
          <p:cNvSpPr/>
          <p:nvPr/>
        </p:nvSpPr>
        <p:spPr>
          <a:xfrm>
            <a:off x="2946400" y="3860800"/>
            <a:ext cx="7112000" cy="228600"/>
          </a:xfrm>
          <a:prstGeom prst="round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DD4669F-EC8F-B337-660D-14E96BCC9D2D}"/>
              </a:ext>
            </a:extLst>
          </p:cNvPr>
          <p:cNvSpPr txBox="1"/>
          <p:nvPr/>
        </p:nvSpPr>
        <p:spPr>
          <a:xfrm>
            <a:off x="10236200" y="3810000"/>
            <a:ext cx="11684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pPr algn="r"/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17 UI cases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76EDDB-25C5-2BFF-0B2D-FA357CF34AE0}"/>
              </a:ext>
            </a:extLst>
          </p:cNvPr>
          <p:cNvSpPr txBox="1"/>
          <p:nvPr/>
        </p:nvSpPr>
        <p:spPr>
          <a:xfrm>
            <a:off x="609600" y="4495800"/>
            <a:ext cx="22860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182438"/>
                </a:solidFill>
                <a:latin typeface="Segoe UI" panose="020B0502040204020203" pitchFamily="34" charset="0"/>
              </a:rPr>
              <a:t>Le Quang Duy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F0D733A-03D9-3D0D-32EF-EE7C5B1648B5}"/>
              </a:ext>
            </a:extLst>
          </p:cNvPr>
          <p:cNvSpPr/>
          <p:nvPr/>
        </p:nvSpPr>
        <p:spPr>
          <a:xfrm>
            <a:off x="2946400" y="4521200"/>
            <a:ext cx="7112000" cy="228600"/>
          </a:xfrm>
          <a:prstGeom prst="roundRect">
            <a:avLst/>
          </a:prstGeom>
          <a:solidFill>
            <a:srgbClr val="EDF7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4BA0921-D9F4-EFC3-04E1-702030807FE8}"/>
              </a:ext>
            </a:extLst>
          </p:cNvPr>
          <p:cNvSpPr/>
          <p:nvPr/>
        </p:nvSpPr>
        <p:spPr>
          <a:xfrm>
            <a:off x="2946400" y="4521200"/>
            <a:ext cx="5854700" cy="228600"/>
          </a:xfrm>
          <a:prstGeom prst="round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2E0D84-23F0-41BC-EEA3-F68FFC4DAC92}"/>
              </a:ext>
            </a:extLst>
          </p:cNvPr>
          <p:cNvSpPr txBox="1"/>
          <p:nvPr/>
        </p:nvSpPr>
        <p:spPr>
          <a:xfrm>
            <a:off x="10236200" y="4470400"/>
            <a:ext cx="11684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pPr algn="r"/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14 UI cases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54E843-1A8F-6DDA-AAA2-EF59DEFEB3AE}"/>
              </a:ext>
            </a:extLst>
          </p:cNvPr>
          <p:cNvSpPr txBox="1"/>
          <p:nvPr/>
        </p:nvSpPr>
        <p:spPr>
          <a:xfrm>
            <a:off x="609600" y="5156200"/>
            <a:ext cx="22860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182438"/>
                </a:solidFill>
                <a:latin typeface="Segoe UI" panose="020B0502040204020203" pitchFamily="34" charset="0"/>
              </a:rPr>
              <a:t>Nguyen Thanh Dat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23AF248-2C29-F5B0-42A0-5731E7B86E85}"/>
              </a:ext>
            </a:extLst>
          </p:cNvPr>
          <p:cNvSpPr/>
          <p:nvPr/>
        </p:nvSpPr>
        <p:spPr>
          <a:xfrm>
            <a:off x="2946400" y="5181600"/>
            <a:ext cx="7112000" cy="228600"/>
          </a:xfrm>
          <a:prstGeom prst="roundRect">
            <a:avLst/>
          </a:prstGeom>
          <a:solidFill>
            <a:srgbClr val="EDF7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884E080-5A79-C7E5-1122-0FC1527A4167}"/>
              </a:ext>
            </a:extLst>
          </p:cNvPr>
          <p:cNvSpPr/>
          <p:nvPr/>
        </p:nvSpPr>
        <p:spPr>
          <a:xfrm>
            <a:off x="2946400" y="5181600"/>
            <a:ext cx="5435600" cy="228600"/>
          </a:xfrm>
          <a:prstGeom prst="round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233AA81-1AA9-7864-5D46-2CA6D5EE7A6F}"/>
              </a:ext>
            </a:extLst>
          </p:cNvPr>
          <p:cNvSpPr txBox="1"/>
          <p:nvPr/>
        </p:nvSpPr>
        <p:spPr>
          <a:xfrm>
            <a:off x="10236200" y="5130800"/>
            <a:ext cx="11684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pPr algn="r"/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13 UI cases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988EAB-05D7-4BDB-3619-7A1207CFC437}"/>
              </a:ext>
            </a:extLst>
          </p:cNvPr>
          <p:cNvSpPr txBox="1"/>
          <p:nvPr/>
        </p:nvSpPr>
        <p:spPr>
          <a:xfrm>
            <a:off x="609600" y="5892800"/>
            <a:ext cx="109728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>
                <a:solidFill>
                  <a:srgbClr val="58647D"/>
                </a:solidFill>
                <a:latin typeface="Segoe UI" panose="020B0502040204020203" pitchFamily="34" charset="0"/>
              </a:rPr>
              <a:t>All three members stay above the 10-UI-case threshold required by the brief, and the current ownership split sums cleanly to 44 UI cases.</a:t>
            </a:r>
          </a:p>
        </p:txBody>
      </p:sp>
    </p:spTree>
    <p:extLst>
      <p:ext uri="{BB962C8B-B14F-4D97-AF65-F5344CB8AC3E}">
        <p14:creationId xmlns:p14="http://schemas.microsoft.com/office/powerpoint/2010/main" val="2286629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BD7DBA-4FA8-FDC7-2F3A-3BB01365F2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8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CDB207-AA30-4BE1-4CD1-33577852897E}"/>
              </a:ext>
            </a:extLst>
          </p:cNvPr>
          <p:cNvSpPr/>
          <p:nvPr/>
        </p:nvSpPr>
        <p:spPr>
          <a:xfrm>
            <a:off x="609600" y="406400"/>
            <a:ext cx="457200" cy="76200"/>
          </a:xfrm>
          <a:prstGeom prst="rect">
            <a:avLst/>
          </a:prstGeom>
          <a:solidFill>
            <a:srgbClr val="16A39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37FB81-66C9-E06A-1969-D15F425004E4}"/>
              </a:ext>
            </a:extLst>
          </p:cNvPr>
          <p:cNvSpPr txBox="1"/>
          <p:nvPr/>
        </p:nvSpPr>
        <p:spPr>
          <a:xfrm>
            <a:off x="609600" y="508000"/>
            <a:ext cx="2413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 b="1">
                <a:solidFill>
                  <a:srgbClr val="16A398"/>
                </a:solidFill>
                <a:latin typeface="Segoe UI" panose="020B0502040204020203" pitchFamily="34" charset="0"/>
              </a:rPr>
              <a:t>04  Automation Implementation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24C4F4-1A74-596F-7CAB-5B0BF30EFE16}"/>
              </a:ext>
            </a:extLst>
          </p:cNvPr>
          <p:cNvSpPr txBox="1"/>
          <p:nvPr/>
        </p:nvSpPr>
        <p:spPr>
          <a:xfrm>
            <a:off x="609600" y="838200"/>
            <a:ext cx="10972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Bahnschrift SemiBold" panose="020B0502040204020203" pitchFamily="34" charset="0"/>
              </a:rPr>
              <a:t>Automation Supports The Manual Baseline Instead Of Replacing 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EF96B9-0B88-F67E-1B8F-F92D609F915A}"/>
              </a:ext>
            </a:extLst>
          </p:cNvPr>
          <p:cNvSpPr txBox="1"/>
          <p:nvPr/>
        </p:nvSpPr>
        <p:spPr>
          <a:xfrm>
            <a:off x="609600" y="1549400"/>
            <a:ext cx="10972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DBEEFF"/>
                </a:solidFill>
                <a:latin typeface="Segoe UI" panose="020B0502040204020203" pitchFamily="34" charset="0"/>
              </a:rPr>
              <a:t>The automation layer adds repeatable UI and API checks while final status still depends on recorded runtime behavior.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F9E182-23B6-9787-9C36-BF98E171834F}"/>
              </a:ext>
            </a:extLst>
          </p:cNvPr>
          <p:cNvSpPr/>
          <p:nvPr/>
        </p:nvSpPr>
        <p:spPr>
          <a:xfrm>
            <a:off x="609600" y="1905000"/>
            <a:ext cx="3327400" cy="2336800"/>
          </a:xfrm>
          <a:prstGeom prst="roundRect">
            <a:avLst/>
          </a:prstGeom>
          <a:solidFill>
            <a:srgbClr val="172742"/>
          </a:solidFill>
          <a:ln w="12700">
            <a:solidFill>
              <a:srgbClr val="107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400">
                <a:solidFill>
                  <a:srgbClr val="FFFFFF"/>
                </a:solidFill>
                <a:latin typeface="Segoe UI" panose="020B0502040204020203" pitchFamily="34" charset="0"/>
              </a:rPr>
              <a:t>.NET UI Suite
- .NET 8, xUnit, Selenium
- Page Object Model
- shared settings, waits, and screenshot helper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9CDF92C-5112-31AB-BB87-544C83F84A84}"/>
              </a:ext>
            </a:extLst>
          </p:cNvPr>
          <p:cNvSpPr/>
          <p:nvPr/>
        </p:nvSpPr>
        <p:spPr>
          <a:xfrm>
            <a:off x="4191000" y="1905000"/>
            <a:ext cx="3327400" cy="2336800"/>
          </a:xfrm>
          <a:prstGeom prst="roundRect">
            <a:avLst/>
          </a:prstGeom>
          <a:solidFill>
            <a:srgbClr val="172742"/>
          </a:solidFill>
          <a:ln w="12700">
            <a:solidFill>
              <a:srgbClr val="16A3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400">
                <a:solidFill>
                  <a:srgbClr val="FFFFFF"/>
                </a:solidFill>
                <a:latin typeface="Segoe UI" panose="020B0502040204020203" pitchFamily="34" charset="0"/>
              </a:rPr>
              <a:t>API Suite
- Postman collection + Newman
- text and XML runner artifacts
- execution stored in submission package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7AAD528-8516-8B8F-8DF8-F8D3133EB1A2}"/>
              </a:ext>
            </a:extLst>
          </p:cNvPr>
          <p:cNvSpPr/>
          <p:nvPr/>
        </p:nvSpPr>
        <p:spPr>
          <a:xfrm>
            <a:off x="7772400" y="1905000"/>
            <a:ext cx="3810000" cy="2336800"/>
          </a:xfrm>
          <a:prstGeom prst="roundRect">
            <a:avLst/>
          </a:prstGeom>
          <a:solidFill>
            <a:srgbClr val="172742"/>
          </a:solidFill>
          <a:ln w="12700">
            <a:solidFill>
              <a:srgbClr val="D689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400">
                <a:solidFill>
                  <a:srgbClr val="FFFFFF"/>
                </a:solidFill>
                <a:latin typeface="Segoe UI" panose="020B0502040204020203" pitchFamily="34" charset="0"/>
              </a:rPr>
              <a:t>Demonstrated Flows
- TC-UI-AUTH-001 on Edge
- TC-UI-IMP-002 on Chrome
- TC-API-HLT-001 in Newman
- focused fail-case comparison in result view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46BA3AE-F60A-A112-EFE3-AD301FE274FC}"/>
              </a:ext>
            </a:extLst>
          </p:cNvPr>
          <p:cNvSpPr/>
          <p:nvPr/>
        </p:nvSpPr>
        <p:spPr>
          <a:xfrm>
            <a:off x="609600" y="4597400"/>
            <a:ext cx="10972800" cy="1244600"/>
          </a:xfrm>
          <a:prstGeom prst="roundRect">
            <a:avLst/>
          </a:prstGeom>
          <a:solidFill>
            <a:srgbClr val="172742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400">
                <a:solidFill>
                  <a:srgbClr val="FFFFFF"/>
                </a:solidFill>
                <a:latin typeface="Segoe UI" panose="020B0502040204020203" pitchFamily="34" charset="0"/>
              </a:rPr>
              <a:t>Execution principle
Automation is used as bonus evidence and repeatable smoke support. Final status still depends on runtime behavior, visible screenshots, runner outputs, and linked final-result records.</a:t>
            </a:r>
          </a:p>
        </p:txBody>
      </p:sp>
    </p:spTree>
    <p:extLst>
      <p:ext uri="{BB962C8B-B14F-4D97-AF65-F5344CB8AC3E}">
        <p14:creationId xmlns:p14="http://schemas.microsoft.com/office/powerpoint/2010/main" val="2672266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20007B-DA26-57EB-8FED-55800983B93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D5CB16-EC6E-5A20-D38B-8E455C1E758C}"/>
              </a:ext>
            </a:extLst>
          </p:cNvPr>
          <p:cNvSpPr/>
          <p:nvPr/>
        </p:nvSpPr>
        <p:spPr>
          <a:xfrm>
            <a:off x="609600" y="406400"/>
            <a:ext cx="457200" cy="76200"/>
          </a:xfrm>
          <a:prstGeom prst="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52A85D-22EB-9980-B1A5-9CC3AD3AEBFE}"/>
              </a:ext>
            </a:extLst>
          </p:cNvPr>
          <p:cNvSpPr txBox="1"/>
          <p:nvPr/>
        </p:nvSpPr>
        <p:spPr>
          <a:xfrm>
            <a:off x="609600" y="508000"/>
            <a:ext cx="2413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 b="1">
                <a:solidFill>
                  <a:srgbClr val="1079D9"/>
                </a:solidFill>
                <a:latin typeface="Segoe UI" panose="020B0502040204020203" pitchFamily="34" charset="0"/>
              </a:rPr>
              <a:t>05  Real Execution Evidence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54C140-5D5B-ADFC-1383-AF48C1AF874D}"/>
              </a:ext>
            </a:extLst>
          </p:cNvPr>
          <p:cNvSpPr txBox="1"/>
          <p:nvPr/>
        </p:nvSpPr>
        <p:spPr>
          <a:xfrm>
            <a:off x="609600" y="838200"/>
            <a:ext cx="10972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The Deck Uses Real Screenshots And Runner Artifacts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A8284C-26E7-B65C-FAE6-ACA9F8591B80}"/>
              </a:ext>
            </a:extLst>
          </p:cNvPr>
          <p:cNvSpPr txBox="1"/>
          <p:nvPr/>
        </p:nvSpPr>
        <p:spPr>
          <a:xfrm>
            <a:off x="609600" y="1549400"/>
            <a:ext cx="10972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This slide proves that pass and fail statuses are backed by visible runtime output rather than summary claims.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C97725-EE88-B2B9-D46D-49891493E097}"/>
              </a:ext>
            </a:extLst>
          </p:cNvPr>
          <p:cNvSpPr/>
          <p:nvPr/>
        </p:nvSpPr>
        <p:spPr>
          <a:xfrm>
            <a:off x="609600" y="2006600"/>
            <a:ext cx="3657600" cy="195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354B65-C4D0-F538-CE12-B8729FD59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2108200"/>
            <a:ext cx="3454400" cy="14986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3C4725-D245-F1FE-B120-2EDF47B4376C}"/>
              </a:ext>
            </a:extLst>
          </p:cNvPr>
          <p:cNvSpPr txBox="1"/>
          <p:nvPr/>
        </p:nvSpPr>
        <p:spPr>
          <a:xfrm>
            <a:off x="711200" y="3632200"/>
            <a:ext cx="34544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TC-UI-AUTH-001 pass on focused login smoke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9512246-7C58-45DA-872B-F232B0E5B546}"/>
              </a:ext>
            </a:extLst>
          </p:cNvPr>
          <p:cNvSpPr/>
          <p:nvPr/>
        </p:nvSpPr>
        <p:spPr>
          <a:xfrm>
            <a:off x="4470400" y="2006600"/>
            <a:ext cx="3657600" cy="195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4614A09-A46B-6FED-0FB1-372D65E520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108200"/>
            <a:ext cx="3454400" cy="14986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01894CC-29B2-45CC-E3C2-DA5ACD966F90}"/>
              </a:ext>
            </a:extLst>
          </p:cNvPr>
          <p:cNvSpPr txBox="1"/>
          <p:nvPr/>
        </p:nvSpPr>
        <p:spPr>
          <a:xfrm>
            <a:off x="4572000" y="3632200"/>
            <a:ext cx="34544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TC-UI-IMP-002 preview shows 6 / 1 / 5 counts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DC80D1A-FE46-969C-3640-9A19409F23E6}"/>
              </a:ext>
            </a:extLst>
          </p:cNvPr>
          <p:cNvSpPr/>
          <p:nvPr/>
        </p:nvSpPr>
        <p:spPr>
          <a:xfrm>
            <a:off x="609600" y="4140200"/>
            <a:ext cx="7518400" cy="2082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E367B3D-70F6-0CDA-52BC-F20D89E96D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4241800"/>
            <a:ext cx="7315200" cy="16256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81D5F4E-CA29-F06D-508A-0041E07F2795}"/>
              </a:ext>
            </a:extLst>
          </p:cNvPr>
          <p:cNvSpPr txBox="1"/>
          <p:nvPr/>
        </p:nvSpPr>
        <p:spPr>
          <a:xfrm>
            <a:off x="711200" y="5892800"/>
            <a:ext cx="73152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Newman full run proves API regression passed 19 / 19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76B6BE1-073D-E090-1E09-2372FF879A83}"/>
              </a:ext>
            </a:extLst>
          </p:cNvPr>
          <p:cNvSpPr/>
          <p:nvPr/>
        </p:nvSpPr>
        <p:spPr>
          <a:xfrm>
            <a:off x="8382000" y="2006600"/>
            <a:ext cx="3200400" cy="421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300">
                <a:solidFill>
                  <a:srgbClr val="182438"/>
                </a:solidFill>
                <a:latin typeface="Segoe UI" panose="020B0502040204020203" pitchFamily="34" charset="0"/>
              </a:rPr>
              <a:t>Evidence rules
- 63 / 63 cases executed
- 0 cases remain Not Run
- pass status requires runtime proof
- fail status requires mismatch plus evidence
Fail evidence in scope
- purchase validation banner defect
- import confirm defect
- invoice create defect
- invoice cancel defect</a:t>
            </a:r>
          </a:p>
        </p:txBody>
      </p:sp>
    </p:spTree>
    <p:extLst>
      <p:ext uri="{BB962C8B-B14F-4D97-AF65-F5344CB8AC3E}">
        <p14:creationId xmlns:p14="http://schemas.microsoft.com/office/powerpoint/2010/main" val="325109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FD63F4-A353-9C9F-EA69-A389ED03662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C34CF2-FD7E-541D-682B-94153A5E2110}"/>
              </a:ext>
            </a:extLst>
          </p:cNvPr>
          <p:cNvSpPr/>
          <p:nvPr/>
        </p:nvSpPr>
        <p:spPr>
          <a:xfrm>
            <a:off x="609600" y="406400"/>
            <a:ext cx="457200" cy="76200"/>
          </a:xfrm>
          <a:prstGeom prst="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61CE21-F13A-0547-593D-38EB623D3538}"/>
              </a:ext>
            </a:extLst>
          </p:cNvPr>
          <p:cNvSpPr txBox="1"/>
          <p:nvPr/>
        </p:nvSpPr>
        <p:spPr>
          <a:xfrm>
            <a:off x="609600" y="508000"/>
            <a:ext cx="2413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 b="1">
                <a:solidFill>
                  <a:srgbClr val="1079D9"/>
                </a:solidFill>
                <a:latin typeface="Segoe UI" panose="020B0502040204020203" pitchFamily="34" charset="0"/>
              </a:rPr>
              <a:t>06  Result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CAE98-B431-B00F-F4A5-61ACE8EFC505}"/>
              </a:ext>
            </a:extLst>
          </p:cNvPr>
          <p:cNvSpPr txBox="1"/>
          <p:nvPr/>
        </p:nvSpPr>
        <p:spPr>
          <a:xfrm>
            <a:off x="609600" y="838200"/>
            <a:ext cx="10972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Expected Result, Actual Result, Status, Then Evidence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03B408-392A-B5EB-3363-2CD6546B107F}"/>
              </a:ext>
            </a:extLst>
          </p:cNvPr>
          <p:cNvSpPr txBox="1"/>
          <p:nvPr/>
        </p:nvSpPr>
        <p:spPr>
          <a:xfrm>
            <a:off x="609600" y="1549400"/>
            <a:ext cx="10972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This slide shows how each status in the final workbook was justified through runtime behavior rather than summary labels alone.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90BB8AC-8456-7C51-C740-A5FE3D077834}"/>
              </a:ext>
            </a:extLst>
          </p:cNvPr>
          <p:cNvSpPr/>
          <p:nvPr/>
        </p:nvSpPr>
        <p:spPr>
          <a:xfrm>
            <a:off x="609600" y="2057400"/>
            <a:ext cx="5207000" cy="210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BDFA1C-F8E1-0F2F-35BE-159E9E7A8E6A}"/>
              </a:ext>
            </a:extLst>
          </p:cNvPr>
          <p:cNvSpPr/>
          <p:nvPr/>
        </p:nvSpPr>
        <p:spPr>
          <a:xfrm>
            <a:off x="609600" y="2057400"/>
            <a:ext cx="5207000" cy="101600"/>
          </a:xfrm>
          <a:prstGeom prst="roundRect">
            <a:avLst/>
          </a:prstGeom>
          <a:solidFill>
            <a:srgbClr val="2A7F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AD0DA-95E9-8467-EC07-04043255DAC0}"/>
              </a:ext>
            </a:extLst>
          </p:cNvPr>
          <p:cNvSpPr txBox="1"/>
          <p:nvPr/>
        </p:nvSpPr>
        <p:spPr>
          <a:xfrm>
            <a:off x="787400" y="2260600"/>
            <a:ext cx="40386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58647D"/>
                </a:solidFill>
                <a:latin typeface="Segoe UI" panose="020B0502040204020203" pitchFamily="34" charset="0"/>
              </a:rPr>
              <a:t>TC-UI-AUTH-001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261CCCE-7DDB-9DE8-589E-06A1B892B004}"/>
              </a:ext>
            </a:extLst>
          </p:cNvPr>
          <p:cNvSpPr/>
          <p:nvPr/>
        </p:nvSpPr>
        <p:spPr>
          <a:xfrm>
            <a:off x="4876800" y="2235200"/>
            <a:ext cx="736600" cy="254000"/>
          </a:xfrm>
          <a:prstGeom prst="roundRect">
            <a:avLst/>
          </a:prstGeom>
          <a:solidFill>
            <a:srgbClr val="2A7F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E07001-10ED-22FF-8DF9-6D7AF18BDBA3}"/>
              </a:ext>
            </a:extLst>
          </p:cNvPr>
          <p:cNvSpPr txBox="1"/>
          <p:nvPr/>
        </p:nvSpPr>
        <p:spPr>
          <a:xfrm>
            <a:off x="787400" y="2489200"/>
            <a:ext cx="48514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182438"/>
                </a:solidFill>
                <a:latin typeface="Bahnschrift SemiBold" panose="020B0502040204020203" pitchFamily="34" charset="0"/>
              </a:rPr>
              <a:t>Valid admin login reaches dashboard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798369-72F0-084A-6F06-B128A7DF8459}"/>
              </a:ext>
            </a:extLst>
          </p:cNvPr>
          <p:cNvSpPr txBox="1"/>
          <p:nvPr/>
        </p:nvSpPr>
        <p:spPr>
          <a:xfrm>
            <a:off x="787400" y="2921000"/>
            <a:ext cx="4851400" cy="497572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950">
                <a:solidFill>
                  <a:srgbClr val="58647D"/>
                </a:solidFill>
                <a:latin typeface="Segoe UI" panose="020B0502040204020203" pitchFamily="34" charset="0"/>
              </a:rPr>
              <a:t>Expected
Admin login must redirect to dashboard without validation error.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C66FAC-F1CD-CC1A-F22E-B17B24DBAF18}"/>
              </a:ext>
            </a:extLst>
          </p:cNvPr>
          <p:cNvSpPr txBox="1"/>
          <p:nvPr/>
        </p:nvSpPr>
        <p:spPr>
          <a:xfrm>
            <a:off x="787400" y="3429000"/>
            <a:ext cx="4851400" cy="497572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950">
                <a:solidFill>
                  <a:srgbClr val="58647D"/>
                </a:solidFill>
                <a:latin typeface="Segoe UI" panose="020B0502040204020203" pitchFamily="34" charset="0"/>
              </a:rPr>
              <a:t>Actual
Chrome and Edge smoke reruns both reached the dashboard.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6008F2-EA84-2462-519F-203D4020B420}"/>
              </a:ext>
            </a:extLst>
          </p:cNvPr>
          <p:cNvSpPr txBox="1"/>
          <p:nvPr/>
        </p:nvSpPr>
        <p:spPr>
          <a:xfrm>
            <a:off x="787400" y="3835400"/>
            <a:ext cx="4851400" cy="335989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850">
                <a:solidFill>
                  <a:srgbClr val="58647D"/>
                </a:solidFill>
                <a:latin typeface="Segoe UI" panose="020B0502040204020203" pitchFamily="34" charset="0"/>
              </a:rPr>
              <a:t>Evidence: edge-auth-smoke.trx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9D7755-3F3B-2797-3DDB-B71053C382E9}"/>
              </a:ext>
            </a:extLst>
          </p:cNvPr>
          <p:cNvSpPr/>
          <p:nvPr/>
        </p:nvSpPr>
        <p:spPr>
          <a:xfrm>
            <a:off x="6350000" y="2057400"/>
            <a:ext cx="5207000" cy="210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FDB1F32-AF07-5843-A69C-4E0781CB5DCF}"/>
              </a:ext>
            </a:extLst>
          </p:cNvPr>
          <p:cNvSpPr/>
          <p:nvPr/>
        </p:nvSpPr>
        <p:spPr>
          <a:xfrm>
            <a:off x="6350000" y="2057400"/>
            <a:ext cx="5207000" cy="101600"/>
          </a:xfrm>
          <a:prstGeom prst="roundRect">
            <a:avLst/>
          </a:prstGeom>
          <a:solidFill>
            <a:srgbClr val="2A7F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E4D18-F186-36F5-81AE-99D5F58316C5}"/>
              </a:ext>
            </a:extLst>
          </p:cNvPr>
          <p:cNvSpPr txBox="1"/>
          <p:nvPr/>
        </p:nvSpPr>
        <p:spPr>
          <a:xfrm>
            <a:off x="6527800" y="2260600"/>
            <a:ext cx="40386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58647D"/>
                </a:solidFill>
                <a:latin typeface="Segoe UI" panose="020B0502040204020203" pitchFamily="34" charset="0"/>
              </a:rPr>
              <a:t>TC-UI-IMP-002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FC657CF-348D-5FEC-49D3-14101E16E802}"/>
              </a:ext>
            </a:extLst>
          </p:cNvPr>
          <p:cNvSpPr/>
          <p:nvPr/>
        </p:nvSpPr>
        <p:spPr>
          <a:xfrm>
            <a:off x="10617200" y="2235200"/>
            <a:ext cx="736600" cy="254000"/>
          </a:xfrm>
          <a:prstGeom prst="roundRect">
            <a:avLst/>
          </a:prstGeom>
          <a:solidFill>
            <a:srgbClr val="2A7F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4BF8F1-A6DA-D98B-2B1D-E68F763FF405}"/>
              </a:ext>
            </a:extLst>
          </p:cNvPr>
          <p:cNvSpPr txBox="1"/>
          <p:nvPr/>
        </p:nvSpPr>
        <p:spPr>
          <a:xfrm>
            <a:off x="6527800" y="2489200"/>
            <a:ext cx="48514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182438"/>
                </a:solidFill>
                <a:latin typeface="Bahnschrift SemiBold" panose="020B0502040204020203" pitchFamily="34" charset="0"/>
              </a:rPr>
              <a:t>Import preview shows valid and invalid counts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1FF4F1-0FCC-FC28-7FA0-D9A23A568D0F}"/>
              </a:ext>
            </a:extLst>
          </p:cNvPr>
          <p:cNvSpPr txBox="1"/>
          <p:nvPr/>
        </p:nvSpPr>
        <p:spPr>
          <a:xfrm>
            <a:off x="6527800" y="2921000"/>
            <a:ext cx="4851400" cy="497572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950">
                <a:solidFill>
                  <a:srgbClr val="58647D"/>
                </a:solidFill>
                <a:latin typeface="Segoe UI" panose="020B0502040204020203" pitchFamily="34" charset="0"/>
              </a:rPr>
              <a:t>Expected
Preview must show row counts and row-level validation info.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BA4C63-48A5-2637-924A-987A3DED68D2}"/>
              </a:ext>
            </a:extLst>
          </p:cNvPr>
          <p:cNvSpPr txBox="1"/>
          <p:nvPr/>
        </p:nvSpPr>
        <p:spPr>
          <a:xfrm>
            <a:off x="6527800" y="3429000"/>
            <a:ext cx="4851400" cy="497572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950">
                <a:solidFill>
                  <a:srgbClr val="58647D"/>
                </a:solidFill>
                <a:latin typeface="Segoe UI" panose="020B0502040204020203" pitchFamily="34" charset="0"/>
              </a:rPr>
              <a:t>Actual
Preview showed 6 total, 1 valid, and 5 invalid rows.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5E3E66-2D8A-AE1F-602E-B574328FF55B}"/>
              </a:ext>
            </a:extLst>
          </p:cNvPr>
          <p:cNvSpPr txBox="1"/>
          <p:nvPr/>
        </p:nvSpPr>
        <p:spPr>
          <a:xfrm>
            <a:off x="6527800" y="3835400"/>
            <a:ext cx="4851400" cy="335989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850">
                <a:solidFill>
                  <a:srgbClr val="58647D"/>
                </a:solidFill>
                <a:latin typeface="Segoe UI" panose="020B0502040204020203" pitchFamily="34" charset="0"/>
              </a:rPr>
              <a:t>Evidence: import-preview-rerun.trx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556D11B-99CB-119E-5FEF-64F96FC704EA}"/>
              </a:ext>
            </a:extLst>
          </p:cNvPr>
          <p:cNvSpPr/>
          <p:nvPr/>
        </p:nvSpPr>
        <p:spPr>
          <a:xfrm>
            <a:off x="609600" y="4292600"/>
            <a:ext cx="5207000" cy="210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280F3BD-6AB5-B24C-281E-2867501BBEDE}"/>
              </a:ext>
            </a:extLst>
          </p:cNvPr>
          <p:cNvSpPr/>
          <p:nvPr/>
        </p:nvSpPr>
        <p:spPr>
          <a:xfrm>
            <a:off x="609600" y="4292600"/>
            <a:ext cx="5207000" cy="101600"/>
          </a:xfrm>
          <a:prstGeom prst="roundRect">
            <a:avLst/>
          </a:prstGeom>
          <a:solidFill>
            <a:srgbClr val="C43D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1B8F0E-AC7B-58FD-C92E-E66358F26DBF}"/>
              </a:ext>
            </a:extLst>
          </p:cNvPr>
          <p:cNvSpPr txBox="1"/>
          <p:nvPr/>
        </p:nvSpPr>
        <p:spPr>
          <a:xfrm>
            <a:off x="787400" y="4495800"/>
            <a:ext cx="40386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58647D"/>
                </a:solidFill>
                <a:latin typeface="Segoe UI" panose="020B0502040204020203" pitchFamily="34" charset="0"/>
              </a:rPr>
              <a:t>TC-UI-PUR-002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7D64B38-3214-7E57-87B6-515232672069}"/>
              </a:ext>
            </a:extLst>
          </p:cNvPr>
          <p:cNvSpPr/>
          <p:nvPr/>
        </p:nvSpPr>
        <p:spPr>
          <a:xfrm>
            <a:off x="4876800" y="4470400"/>
            <a:ext cx="736600" cy="254000"/>
          </a:xfrm>
          <a:prstGeom prst="roundRect">
            <a:avLst/>
          </a:prstGeom>
          <a:solidFill>
            <a:srgbClr val="C43D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Fail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07F2DC-6CD5-8D63-8DC2-26430ECC6032}"/>
              </a:ext>
            </a:extLst>
          </p:cNvPr>
          <p:cNvSpPr txBox="1"/>
          <p:nvPr/>
        </p:nvSpPr>
        <p:spPr>
          <a:xfrm>
            <a:off x="787400" y="4724400"/>
            <a:ext cx="48514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182438"/>
                </a:solidFill>
                <a:latin typeface="Bahnschrift SemiBold" panose="020B0502040204020203" pitchFamily="34" charset="0"/>
              </a:rPr>
              <a:t>Readable supplier validation should be shown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00D01B-1192-F264-0CC6-6B7D5E3652E4}"/>
              </a:ext>
            </a:extLst>
          </p:cNvPr>
          <p:cNvSpPr txBox="1"/>
          <p:nvPr/>
        </p:nvSpPr>
        <p:spPr>
          <a:xfrm>
            <a:off x="787400" y="5156200"/>
            <a:ext cx="4851400" cy="497572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950">
                <a:solidFill>
                  <a:srgbClr val="58647D"/>
                </a:solidFill>
                <a:latin typeface="Segoe UI" panose="020B0502040204020203" pitchFamily="34" charset="0"/>
              </a:rPr>
              <a:t>Expected
Supplier-missing submission should show a readable error.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43ACCD-22E5-6C4A-1C2B-4800FCCCA47A}"/>
              </a:ext>
            </a:extLst>
          </p:cNvPr>
          <p:cNvSpPr txBox="1"/>
          <p:nvPr/>
        </p:nvSpPr>
        <p:spPr>
          <a:xfrm>
            <a:off x="787400" y="5664200"/>
            <a:ext cx="4851400" cy="497572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950">
                <a:solidFill>
                  <a:srgbClr val="58647D"/>
                </a:solidFill>
                <a:latin typeface="Segoe UI" panose="020B0502040204020203" pitchFamily="34" charset="0"/>
              </a:rPr>
              <a:t>Actual
Submission was blocked, but the validation banner remained unreadable.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AE8B5C-9428-D022-502D-7B79C6C58F24}"/>
              </a:ext>
            </a:extLst>
          </p:cNvPr>
          <p:cNvSpPr txBox="1"/>
          <p:nvPr/>
        </p:nvSpPr>
        <p:spPr>
          <a:xfrm>
            <a:off x="787400" y="6070600"/>
            <a:ext cx="4851400" cy="335989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850">
                <a:solidFill>
                  <a:srgbClr val="58647D"/>
                </a:solidFill>
                <a:latin typeface="Segoe UI" panose="020B0502040204020203" pitchFamily="34" charset="0"/>
              </a:rPr>
              <a:t>Evidence: Issue #2 + rerun TRX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358F38E0-4C30-D7DD-6B16-5632E723200C}"/>
              </a:ext>
            </a:extLst>
          </p:cNvPr>
          <p:cNvSpPr/>
          <p:nvPr/>
        </p:nvSpPr>
        <p:spPr>
          <a:xfrm>
            <a:off x="6350000" y="4292600"/>
            <a:ext cx="5207000" cy="210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5484257-4B31-00A1-2E55-4CB445D9344E}"/>
              </a:ext>
            </a:extLst>
          </p:cNvPr>
          <p:cNvSpPr/>
          <p:nvPr/>
        </p:nvSpPr>
        <p:spPr>
          <a:xfrm>
            <a:off x="6350000" y="4292600"/>
            <a:ext cx="5207000" cy="101600"/>
          </a:xfrm>
          <a:prstGeom prst="roundRect">
            <a:avLst/>
          </a:prstGeom>
          <a:solidFill>
            <a:srgbClr val="C43D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218A09-F542-CE7C-9DB1-C58541A32933}"/>
              </a:ext>
            </a:extLst>
          </p:cNvPr>
          <p:cNvSpPr txBox="1"/>
          <p:nvPr/>
        </p:nvSpPr>
        <p:spPr>
          <a:xfrm>
            <a:off x="6527800" y="4495800"/>
            <a:ext cx="40386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58647D"/>
                </a:solidFill>
                <a:latin typeface="Segoe UI" panose="020B0502040204020203" pitchFamily="34" charset="0"/>
              </a:rPr>
              <a:t>TC-UI-INV-001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D0271C4-B490-D039-D3D9-AF686ADA01F2}"/>
              </a:ext>
            </a:extLst>
          </p:cNvPr>
          <p:cNvSpPr/>
          <p:nvPr/>
        </p:nvSpPr>
        <p:spPr>
          <a:xfrm>
            <a:off x="10617200" y="4470400"/>
            <a:ext cx="736600" cy="254000"/>
          </a:xfrm>
          <a:prstGeom prst="roundRect">
            <a:avLst/>
          </a:prstGeom>
          <a:solidFill>
            <a:srgbClr val="C43D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Fail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441833-E40D-931A-3FCD-5DB6534FE1F1}"/>
              </a:ext>
            </a:extLst>
          </p:cNvPr>
          <p:cNvSpPr txBox="1"/>
          <p:nvPr/>
        </p:nvSpPr>
        <p:spPr>
          <a:xfrm>
            <a:off x="6527800" y="4724400"/>
            <a:ext cx="4851400" cy="389850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 b="1">
                <a:solidFill>
                  <a:srgbClr val="182438"/>
                </a:solidFill>
                <a:latin typeface="Bahnschrift SemiBold" panose="020B0502040204020203" pitchFamily="34" charset="0"/>
              </a:rPr>
              <a:t>Valid walk-in invoice should be created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44D068-B249-14F1-22ED-7CB0FF1B165A}"/>
              </a:ext>
            </a:extLst>
          </p:cNvPr>
          <p:cNvSpPr txBox="1"/>
          <p:nvPr/>
        </p:nvSpPr>
        <p:spPr>
          <a:xfrm>
            <a:off x="6527800" y="5156200"/>
            <a:ext cx="4851400" cy="497572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950">
                <a:solidFill>
                  <a:srgbClr val="58647D"/>
                </a:solidFill>
                <a:latin typeface="Segoe UI" panose="020B0502040204020203" pitchFamily="34" charset="0"/>
              </a:rPr>
              <a:t>Expected
A valid unpaid invoice should redirect to invoice details.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9DE18-F9A9-2EE7-725A-1A98ACC19407}"/>
              </a:ext>
            </a:extLst>
          </p:cNvPr>
          <p:cNvSpPr txBox="1"/>
          <p:nvPr/>
        </p:nvSpPr>
        <p:spPr>
          <a:xfrm>
            <a:off x="6527800" y="5664200"/>
            <a:ext cx="4851400" cy="497572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950">
                <a:solidFill>
                  <a:srgbClr val="58647D"/>
                </a:solidFill>
                <a:latin typeface="Segoe UI" panose="020B0502040204020203" pitchFamily="34" charset="0"/>
              </a:rPr>
              <a:t>Actual
Create returned to the form with a failure toast and still reproduced.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BEECDD-B4B6-B6E5-8C33-20F1FE093DDC}"/>
              </a:ext>
            </a:extLst>
          </p:cNvPr>
          <p:cNvSpPr txBox="1"/>
          <p:nvPr/>
        </p:nvSpPr>
        <p:spPr>
          <a:xfrm>
            <a:off x="6527800" y="6070600"/>
            <a:ext cx="4851400" cy="335989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850">
                <a:solidFill>
                  <a:srgbClr val="58647D"/>
                </a:solidFill>
                <a:latin typeface="Segoe UI" panose="020B0502040204020203" pitchFamily="34" charset="0"/>
              </a:rPr>
              <a:t>Evidence: Issue #1 + rerun TRX</a:t>
            </a:r>
          </a:p>
        </p:txBody>
      </p:sp>
    </p:spTree>
    <p:extLst>
      <p:ext uri="{BB962C8B-B14F-4D97-AF65-F5344CB8AC3E}">
        <p14:creationId xmlns:p14="http://schemas.microsoft.com/office/powerpoint/2010/main" val="1943592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EF75B2-45D1-3432-5A81-DFDAD581796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9A658A-6963-8344-82D5-90054D66D1E7}"/>
              </a:ext>
            </a:extLst>
          </p:cNvPr>
          <p:cNvSpPr/>
          <p:nvPr/>
        </p:nvSpPr>
        <p:spPr>
          <a:xfrm>
            <a:off x="609600" y="406400"/>
            <a:ext cx="457200" cy="76200"/>
          </a:xfrm>
          <a:prstGeom prst="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91CC6D-7A9E-7064-4F5A-9B6ECA9E4004}"/>
              </a:ext>
            </a:extLst>
          </p:cNvPr>
          <p:cNvSpPr txBox="1"/>
          <p:nvPr/>
        </p:nvSpPr>
        <p:spPr>
          <a:xfrm>
            <a:off x="609600" y="508000"/>
            <a:ext cx="2413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 b="1">
                <a:solidFill>
                  <a:srgbClr val="1079D9"/>
                </a:solidFill>
                <a:latin typeface="Segoe UI" panose="020B0502040204020203" pitchFamily="34" charset="0"/>
              </a:rPr>
              <a:t>07  Metrics Snapshot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756D8B-EF42-A526-B011-EB21684756AB}"/>
              </a:ext>
            </a:extLst>
          </p:cNvPr>
          <p:cNvSpPr txBox="1"/>
          <p:nvPr/>
        </p:nvSpPr>
        <p:spPr>
          <a:xfrm>
            <a:off x="609600" y="838200"/>
            <a:ext cx="10972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Execution Is Complete, Stability Is Not Yet Complete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CD4E0D-3134-4F42-D918-E55C91944BDF}"/>
              </a:ext>
            </a:extLst>
          </p:cNvPr>
          <p:cNvSpPr txBox="1"/>
          <p:nvPr/>
        </p:nvSpPr>
        <p:spPr>
          <a:xfrm>
            <a:off x="609600" y="1549400"/>
            <a:ext cx="10972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The metrics separate test coverage from product quality so the conclusion stays rigorous and evidence-based.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20136EB-BF54-05E5-343B-74BDB1ED5991}"/>
              </a:ext>
            </a:extLst>
          </p:cNvPr>
          <p:cNvSpPr/>
          <p:nvPr/>
        </p:nvSpPr>
        <p:spPr>
          <a:xfrm>
            <a:off x="609600" y="1828800"/>
            <a:ext cx="6019800" cy="363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EA50A8-B96D-9653-E05E-83789C29AE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1930400"/>
            <a:ext cx="5816600" cy="3175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325A92-ACC9-AD4D-8D68-6993D931B549}"/>
              </a:ext>
            </a:extLst>
          </p:cNvPr>
          <p:cNvSpPr txBox="1"/>
          <p:nvPr/>
        </p:nvSpPr>
        <p:spPr>
          <a:xfrm>
            <a:off x="711200" y="5130800"/>
            <a:ext cx="58166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Metrics workbook snapshot as of 2026-04-11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8A5011-466D-499B-D79E-A4F003EBF9AF}"/>
              </a:ext>
            </a:extLst>
          </p:cNvPr>
          <p:cNvSpPr/>
          <p:nvPr/>
        </p:nvSpPr>
        <p:spPr>
          <a:xfrm>
            <a:off x="6934200" y="1828800"/>
            <a:ext cx="2159000" cy="104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A163924-91D4-D01C-1926-AFB11C8E3925}"/>
              </a:ext>
            </a:extLst>
          </p:cNvPr>
          <p:cNvSpPr/>
          <p:nvPr/>
        </p:nvSpPr>
        <p:spPr>
          <a:xfrm>
            <a:off x="6934200" y="1828800"/>
            <a:ext cx="101600" cy="1041400"/>
          </a:xfrm>
          <a:prstGeom prst="round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6AA45E-EBF1-2B79-6229-BCE3A2EF961A}"/>
              </a:ext>
            </a:extLst>
          </p:cNvPr>
          <p:cNvSpPr txBox="1"/>
          <p:nvPr/>
        </p:nvSpPr>
        <p:spPr>
          <a:xfrm>
            <a:off x="7188200" y="2057400"/>
            <a:ext cx="18034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63 / 63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63E7EC-C5AA-BAF4-1E54-11ECC6074315}"/>
              </a:ext>
            </a:extLst>
          </p:cNvPr>
          <p:cNvSpPr txBox="1"/>
          <p:nvPr/>
        </p:nvSpPr>
        <p:spPr>
          <a:xfrm>
            <a:off x="7188200" y="2514600"/>
            <a:ext cx="18034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Executed cases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03671B9-12F3-4D84-B98E-B053ABA0869F}"/>
              </a:ext>
            </a:extLst>
          </p:cNvPr>
          <p:cNvSpPr/>
          <p:nvPr/>
        </p:nvSpPr>
        <p:spPr>
          <a:xfrm>
            <a:off x="9296400" y="1828800"/>
            <a:ext cx="2286000" cy="104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27DF457-B90B-64FF-E6FB-9B68F0CFCB52}"/>
              </a:ext>
            </a:extLst>
          </p:cNvPr>
          <p:cNvSpPr/>
          <p:nvPr/>
        </p:nvSpPr>
        <p:spPr>
          <a:xfrm>
            <a:off x="9296400" y="1828800"/>
            <a:ext cx="101600" cy="1041400"/>
          </a:xfrm>
          <a:prstGeom prst="roundRect">
            <a:avLst/>
          </a:prstGeom>
          <a:solidFill>
            <a:srgbClr val="2A7F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42B109-6685-3EB8-1D9D-E1D306251FD9}"/>
              </a:ext>
            </a:extLst>
          </p:cNvPr>
          <p:cNvSpPr txBox="1"/>
          <p:nvPr/>
        </p:nvSpPr>
        <p:spPr>
          <a:xfrm>
            <a:off x="9550400" y="2057400"/>
            <a:ext cx="19304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56 pass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F19A19-771B-1786-E029-0364A8C942D5}"/>
              </a:ext>
            </a:extLst>
          </p:cNvPr>
          <p:cNvSpPr txBox="1"/>
          <p:nvPr/>
        </p:nvSpPr>
        <p:spPr>
          <a:xfrm>
            <a:off x="9550400" y="2514600"/>
            <a:ext cx="19304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Pass rate 88.89%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17BB2DD-3580-8244-44E4-3ADC1F0E101A}"/>
              </a:ext>
            </a:extLst>
          </p:cNvPr>
          <p:cNvSpPr/>
          <p:nvPr/>
        </p:nvSpPr>
        <p:spPr>
          <a:xfrm>
            <a:off x="6934200" y="3022600"/>
            <a:ext cx="2159000" cy="104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943FA5B-B528-540C-D552-DDD37BAF405B}"/>
              </a:ext>
            </a:extLst>
          </p:cNvPr>
          <p:cNvSpPr/>
          <p:nvPr/>
        </p:nvSpPr>
        <p:spPr>
          <a:xfrm>
            <a:off x="6934200" y="3022600"/>
            <a:ext cx="101600" cy="1041400"/>
          </a:xfrm>
          <a:prstGeom prst="roundRect">
            <a:avLst/>
          </a:prstGeom>
          <a:solidFill>
            <a:srgbClr val="C43D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17681A-00FB-C254-1DC0-FEC28460FCD6}"/>
              </a:ext>
            </a:extLst>
          </p:cNvPr>
          <p:cNvSpPr txBox="1"/>
          <p:nvPr/>
        </p:nvSpPr>
        <p:spPr>
          <a:xfrm>
            <a:off x="7188200" y="3251200"/>
            <a:ext cx="18034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7 fail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EC02DE-89D8-A3BD-A89D-7B13CCD01C60}"/>
              </a:ext>
            </a:extLst>
          </p:cNvPr>
          <p:cNvSpPr txBox="1"/>
          <p:nvPr/>
        </p:nvSpPr>
        <p:spPr>
          <a:xfrm>
            <a:off x="7188200" y="3708400"/>
            <a:ext cx="18034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Fail rate 11.11%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60A408C-706B-3C11-AAA9-08CA3E0905A1}"/>
              </a:ext>
            </a:extLst>
          </p:cNvPr>
          <p:cNvSpPr/>
          <p:nvPr/>
        </p:nvSpPr>
        <p:spPr>
          <a:xfrm>
            <a:off x="9296400" y="3022600"/>
            <a:ext cx="2286000" cy="104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5C534F1-2707-79BE-EC09-3D1F0DCD2180}"/>
              </a:ext>
            </a:extLst>
          </p:cNvPr>
          <p:cNvSpPr/>
          <p:nvPr/>
        </p:nvSpPr>
        <p:spPr>
          <a:xfrm>
            <a:off x="9296400" y="3022600"/>
            <a:ext cx="101600" cy="1041400"/>
          </a:xfrm>
          <a:prstGeom prst="roundRect">
            <a:avLst/>
          </a:prstGeom>
          <a:solidFill>
            <a:srgbClr val="D689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D2C95A-899B-9DF1-A10F-8F94F7AC47E6}"/>
              </a:ext>
            </a:extLst>
          </p:cNvPr>
          <p:cNvSpPr txBox="1"/>
          <p:nvPr/>
        </p:nvSpPr>
        <p:spPr>
          <a:xfrm>
            <a:off x="9550400" y="3251200"/>
            <a:ext cx="19304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4 live issues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FCA919-41CD-1E10-4DDB-998144CC2007}"/>
              </a:ext>
            </a:extLst>
          </p:cNvPr>
          <p:cNvSpPr txBox="1"/>
          <p:nvPr/>
        </p:nvSpPr>
        <p:spPr>
          <a:xfrm>
            <a:off x="9550400" y="3708400"/>
            <a:ext cx="1930400" cy="543739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Confirmed defects in GitHub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C6010DD-4258-477B-092C-A006910515C4}"/>
              </a:ext>
            </a:extLst>
          </p:cNvPr>
          <p:cNvSpPr/>
          <p:nvPr/>
        </p:nvSpPr>
        <p:spPr>
          <a:xfrm>
            <a:off x="6934200" y="4318000"/>
            <a:ext cx="4648200" cy="1498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200">
                <a:solidFill>
                  <a:srgbClr val="182438"/>
                </a:solidFill>
                <a:latin typeface="Segoe UI" panose="020B0502040204020203" pitchFamily="34" charset="0"/>
              </a:rPr>
              <a:t>Interface view
- Admin UI: 41 executed
- API: 19 executed and fully passed
- Public UI: 3 executed
Interpretation
100% execution proves coverage, not defect-free behavior.</a:t>
            </a:r>
          </a:p>
        </p:txBody>
      </p:sp>
    </p:spTree>
    <p:extLst>
      <p:ext uri="{BB962C8B-B14F-4D97-AF65-F5344CB8AC3E}">
        <p14:creationId xmlns:p14="http://schemas.microsoft.com/office/powerpoint/2010/main" val="2820725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39AA99-F293-A857-BF45-C18453C3437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06DC9D-78C5-C37A-FCB6-5C95366DEEF1}"/>
              </a:ext>
            </a:extLst>
          </p:cNvPr>
          <p:cNvSpPr/>
          <p:nvPr/>
        </p:nvSpPr>
        <p:spPr>
          <a:xfrm>
            <a:off x="609600" y="406400"/>
            <a:ext cx="457200" cy="76200"/>
          </a:xfrm>
          <a:prstGeom prst="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D0A5AA-1F51-CDFA-AF62-02B011984252}"/>
              </a:ext>
            </a:extLst>
          </p:cNvPr>
          <p:cNvSpPr txBox="1"/>
          <p:nvPr/>
        </p:nvSpPr>
        <p:spPr>
          <a:xfrm>
            <a:off x="609600" y="508000"/>
            <a:ext cx="2413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 b="1">
                <a:solidFill>
                  <a:srgbClr val="1079D9"/>
                </a:solidFill>
                <a:latin typeface="Segoe UI" panose="020B0502040204020203" pitchFamily="34" charset="0"/>
              </a:rPr>
              <a:t>08  Defect Management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A3EC77-3A12-707B-E829-5D5E5A2EED4B}"/>
              </a:ext>
            </a:extLst>
          </p:cNvPr>
          <p:cNvSpPr txBox="1"/>
          <p:nvPr/>
        </p:nvSpPr>
        <p:spPr>
          <a:xfrm>
            <a:off x="609600" y="838200"/>
            <a:ext cx="10972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Defects Are Logged, Reproduced, And Linked To Live Issues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976F71-7DB8-EC29-CB82-967C122D4958}"/>
              </a:ext>
            </a:extLst>
          </p:cNvPr>
          <p:cNvSpPr txBox="1"/>
          <p:nvPr/>
        </p:nvSpPr>
        <p:spPr>
          <a:xfrm>
            <a:off x="609600" y="1549400"/>
            <a:ext cx="10972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Each confirmed defect is supported by reproducible evidence and a live GitHub issue with visible severity and priority labels.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239ACC8-A994-6AF1-850A-2822BC742C62}"/>
              </a:ext>
            </a:extLst>
          </p:cNvPr>
          <p:cNvSpPr/>
          <p:nvPr/>
        </p:nvSpPr>
        <p:spPr>
          <a:xfrm>
            <a:off x="609600" y="1828800"/>
            <a:ext cx="5384800" cy="421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2F85F2-CE0A-97F6-1F71-F19495C2D9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1930400"/>
            <a:ext cx="5181600" cy="3759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058A35-02C6-F62B-91DF-E400F45C20EF}"/>
              </a:ext>
            </a:extLst>
          </p:cNvPr>
          <p:cNvSpPr txBox="1"/>
          <p:nvPr/>
        </p:nvSpPr>
        <p:spPr>
          <a:xfrm>
            <a:off x="711200" y="5715000"/>
            <a:ext cx="51816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Representative GitHub issue with visible labels, severity, and priority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F599250-F9C5-D2E0-41DF-C3FDAEA52CF8}"/>
              </a:ext>
            </a:extLst>
          </p:cNvPr>
          <p:cNvSpPr/>
          <p:nvPr/>
        </p:nvSpPr>
        <p:spPr>
          <a:xfrm>
            <a:off x="6299200" y="1828800"/>
            <a:ext cx="5283200" cy="863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177800" rIns="177800" bIns="177800" rtlCol="0" anchor="ctr"/>
          <a:lstStyle/>
          <a:p>
            <a:r>
              <a:rPr lang="en-US" sz="1200">
                <a:solidFill>
                  <a:srgbClr val="182438"/>
                </a:solidFill>
                <a:latin typeface="Segoe UI" panose="020B0502040204020203" pitchFamily="34" charset="0"/>
              </a:rPr>
              <a:t>BUG-20260406-001  #1
Invoices  |  Sev High  |  Pri High
Open - Confirmed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BAA16F4-56BA-941A-E45B-F388E3B25C49}"/>
              </a:ext>
            </a:extLst>
          </p:cNvPr>
          <p:cNvSpPr/>
          <p:nvPr/>
        </p:nvSpPr>
        <p:spPr>
          <a:xfrm>
            <a:off x="6299200" y="2844800"/>
            <a:ext cx="5283200" cy="863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177800" rIns="177800" bIns="177800" rtlCol="0" anchor="ctr"/>
          <a:lstStyle/>
          <a:p>
            <a:r>
              <a:rPr lang="en-US" sz="1200">
                <a:solidFill>
                  <a:srgbClr val="182438"/>
                </a:solidFill>
                <a:latin typeface="Segoe UI" panose="020B0502040204020203" pitchFamily="34" charset="0"/>
              </a:rPr>
              <a:t>BUG-20260411-002  #2
Purchases  |  Sev Medium  |  Pri Medium
Open - Confirmed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53D8F2E-C95E-5F48-66F4-9693B34678BB}"/>
              </a:ext>
            </a:extLst>
          </p:cNvPr>
          <p:cNvSpPr/>
          <p:nvPr/>
        </p:nvSpPr>
        <p:spPr>
          <a:xfrm>
            <a:off x="6299200" y="3860800"/>
            <a:ext cx="5283200" cy="863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177800" rIns="177800" bIns="177800" rtlCol="0" anchor="ctr"/>
          <a:lstStyle/>
          <a:p>
            <a:r>
              <a:rPr lang="en-US" sz="1200">
                <a:solidFill>
                  <a:srgbClr val="182438"/>
                </a:solidFill>
                <a:latin typeface="Segoe UI" panose="020B0502040204020203" pitchFamily="34" charset="0"/>
              </a:rPr>
              <a:t>BUG-20260411-003  #3
Product Import  |  Sev High  |  Pri High
Open - Confirmed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7E84DC-77DA-D33A-62AA-89C463DE3D54}"/>
              </a:ext>
            </a:extLst>
          </p:cNvPr>
          <p:cNvSpPr/>
          <p:nvPr/>
        </p:nvSpPr>
        <p:spPr>
          <a:xfrm>
            <a:off x="6299200" y="4876800"/>
            <a:ext cx="5283200" cy="863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177800" rIns="177800" bIns="177800" rtlCol="0" anchor="ctr"/>
          <a:lstStyle/>
          <a:p>
            <a:r>
              <a:rPr lang="en-US" sz="1200">
                <a:solidFill>
                  <a:srgbClr val="182438"/>
                </a:solidFill>
                <a:latin typeface="Segoe UI" panose="020B0502040204020203" pitchFamily="34" charset="0"/>
              </a:rPr>
              <a:t>BUG-20260411-004  #4
Invoices  |  Sev High  |  Pri High
Open - Confirmed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77E229-54A3-8E47-47BC-85C5A91EFD23}"/>
              </a:ext>
            </a:extLst>
          </p:cNvPr>
          <p:cNvSpPr txBox="1"/>
          <p:nvPr/>
        </p:nvSpPr>
        <p:spPr>
          <a:xfrm>
            <a:off x="6299200" y="5892800"/>
            <a:ext cx="52832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200">
                <a:solidFill>
                  <a:srgbClr val="58647D"/>
                </a:solidFill>
                <a:latin typeface="Segoe UI" panose="020B0502040204020203" pitchFamily="34" charset="0"/>
              </a:rPr>
              <a:t>All four confirmed defects were rerun on 2026-04-11 and still reproduced. The severity split remains 3 High and 1 Medium.</a:t>
            </a:r>
          </a:p>
        </p:txBody>
      </p:sp>
    </p:spTree>
    <p:extLst>
      <p:ext uri="{BB962C8B-B14F-4D97-AF65-F5344CB8AC3E}">
        <p14:creationId xmlns:p14="http://schemas.microsoft.com/office/powerpoint/2010/main" val="12058654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3ECA38-4B0E-6BA2-231F-B893F1FAAA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8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56757B-4269-8CCA-E744-B2B77D7B2B5F}"/>
              </a:ext>
            </a:extLst>
          </p:cNvPr>
          <p:cNvSpPr/>
          <p:nvPr/>
        </p:nvSpPr>
        <p:spPr>
          <a:xfrm>
            <a:off x="609600" y="406400"/>
            <a:ext cx="457200" cy="76200"/>
          </a:xfrm>
          <a:prstGeom prst="rect">
            <a:avLst/>
          </a:prstGeom>
          <a:solidFill>
            <a:srgbClr val="16A39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FA8BC0-98A5-E891-6DCF-5B166C4BE0BF}"/>
              </a:ext>
            </a:extLst>
          </p:cNvPr>
          <p:cNvSpPr txBox="1"/>
          <p:nvPr/>
        </p:nvSpPr>
        <p:spPr>
          <a:xfrm>
            <a:off x="609600" y="508000"/>
            <a:ext cx="2413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 b="1">
                <a:solidFill>
                  <a:srgbClr val="16A398"/>
                </a:solidFill>
                <a:latin typeface="Segoe UI" panose="020B0502040204020203" pitchFamily="34" charset="0"/>
              </a:rPr>
              <a:t>09  Final Assessment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66E7D0-ED19-8E42-A12D-338F34431A0D}"/>
              </a:ext>
            </a:extLst>
          </p:cNvPr>
          <p:cNvSpPr txBox="1"/>
          <p:nvPr/>
        </p:nvSpPr>
        <p:spPr>
          <a:xfrm>
            <a:off x="609600" y="838200"/>
            <a:ext cx="10972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Bahnschrift SemiBold" panose="020B0502040204020203" pitchFamily="34" charset="0"/>
              </a:rPr>
              <a:t>What Is Proven Today, And What Still Needs Code Fixes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F7B42-456A-9D67-326F-6DB3EFDAFD41}"/>
              </a:ext>
            </a:extLst>
          </p:cNvPr>
          <p:cNvSpPr txBox="1"/>
          <p:nvPr/>
        </p:nvSpPr>
        <p:spPr>
          <a:xfrm>
            <a:off x="609600" y="1549400"/>
            <a:ext cx="10972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DBEEFF"/>
                </a:solidFill>
                <a:latin typeface="Segoe UI" panose="020B0502040204020203" pitchFamily="34" charset="0"/>
              </a:rPr>
              <a:t>The final assessment is intentionally split between what the evidence proves now and what depends on future product changes.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44D0F21-B72F-32C8-7EFE-127D0AAAAD66}"/>
              </a:ext>
            </a:extLst>
          </p:cNvPr>
          <p:cNvSpPr/>
          <p:nvPr/>
        </p:nvSpPr>
        <p:spPr>
          <a:xfrm>
            <a:off x="609600" y="1879600"/>
            <a:ext cx="5105400" cy="2616200"/>
          </a:xfrm>
          <a:prstGeom prst="roundRect">
            <a:avLst/>
          </a:prstGeom>
          <a:solidFill>
            <a:srgbClr val="172742"/>
          </a:solidFill>
          <a:ln w="12700">
            <a:solidFill>
              <a:srgbClr val="2A7F6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r>
              <a:rPr lang="en-US" sz="1500">
                <a:solidFill>
                  <a:srgbClr val="FFFFFF"/>
                </a:solidFill>
                <a:latin typeface="Segoe UI" panose="020B0502040204020203" pitchFamily="34" charset="0"/>
              </a:rPr>
              <a:t>Proven today
- clear linkage from scenario to issue tracker
- 63 / 63 cases executed with 0 Not Run
- automation demonstrates both pass and fail evidence
- the submission package is complete and reviewable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0899C7-617B-2F77-D07E-4AB8BF68549A}"/>
              </a:ext>
            </a:extLst>
          </p:cNvPr>
          <p:cNvSpPr/>
          <p:nvPr/>
        </p:nvSpPr>
        <p:spPr>
          <a:xfrm>
            <a:off x="6350000" y="1879600"/>
            <a:ext cx="5232400" cy="2616200"/>
          </a:xfrm>
          <a:prstGeom prst="roundRect">
            <a:avLst/>
          </a:prstGeom>
          <a:solidFill>
            <a:srgbClr val="172742"/>
          </a:solidFill>
          <a:ln w="12700">
            <a:solidFill>
              <a:srgbClr val="C43D3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r>
              <a:rPr lang="en-US" sz="1500">
                <a:solidFill>
                  <a:srgbClr val="FFFFFF"/>
                </a:solidFill>
                <a:latin typeface="Segoe UI" panose="020B0502040204020203" pitchFamily="34" charset="0"/>
              </a:rPr>
              <a:t>Still open
- 4 product defects remain unresolved
- post-fix retest depends on code fixes
- cross-browser proof is currently limited to the Edge smoke run
- current execution shows stability risks in invoice and import flows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6067A10-BD28-5717-5332-BB695FBA5BE4}"/>
              </a:ext>
            </a:extLst>
          </p:cNvPr>
          <p:cNvSpPr/>
          <p:nvPr/>
        </p:nvSpPr>
        <p:spPr>
          <a:xfrm>
            <a:off x="609600" y="4851400"/>
            <a:ext cx="3454400" cy="111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C6DFDDC-6C0F-B94B-FED2-2E8B120E50DB}"/>
              </a:ext>
            </a:extLst>
          </p:cNvPr>
          <p:cNvSpPr/>
          <p:nvPr/>
        </p:nvSpPr>
        <p:spPr>
          <a:xfrm>
            <a:off x="609600" y="4851400"/>
            <a:ext cx="101600" cy="1117600"/>
          </a:xfrm>
          <a:prstGeom prst="roundRect">
            <a:avLst/>
          </a:prstGeom>
          <a:solidFill>
            <a:srgbClr val="C43D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DE896F-2137-CF60-594D-37239D6ECB3C}"/>
              </a:ext>
            </a:extLst>
          </p:cNvPr>
          <p:cNvSpPr txBox="1"/>
          <p:nvPr/>
        </p:nvSpPr>
        <p:spPr>
          <a:xfrm>
            <a:off x="863600" y="5080000"/>
            <a:ext cx="3098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348705-3B97-F9D7-C13B-FEBD86903612}"/>
              </a:ext>
            </a:extLst>
          </p:cNvPr>
          <p:cNvSpPr txBox="1"/>
          <p:nvPr/>
        </p:nvSpPr>
        <p:spPr>
          <a:xfrm>
            <a:off x="863600" y="5537200"/>
            <a:ext cx="3098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Fix invoice create and invoice cancel first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C2ACFA0-7A22-2062-02E5-8A8D7BC975A6}"/>
              </a:ext>
            </a:extLst>
          </p:cNvPr>
          <p:cNvSpPr/>
          <p:nvPr/>
        </p:nvSpPr>
        <p:spPr>
          <a:xfrm>
            <a:off x="4368800" y="4851400"/>
            <a:ext cx="3454400" cy="111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F4D63A-0F09-F9AD-8FA7-01558FB9B2F4}"/>
              </a:ext>
            </a:extLst>
          </p:cNvPr>
          <p:cNvSpPr/>
          <p:nvPr/>
        </p:nvSpPr>
        <p:spPr>
          <a:xfrm>
            <a:off x="4368800" y="4851400"/>
            <a:ext cx="101600" cy="1117600"/>
          </a:xfrm>
          <a:prstGeom prst="roundRect">
            <a:avLst/>
          </a:prstGeom>
          <a:solidFill>
            <a:srgbClr val="D689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5C93D4-2A91-77CF-4D59-10CDD48E308F}"/>
              </a:ext>
            </a:extLst>
          </p:cNvPr>
          <p:cNvSpPr txBox="1"/>
          <p:nvPr/>
        </p:nvSpPr>
        <p:spPr>
          <a:xfrm>
            <a:off x="4622800" y="5080000"/>
            <a:ext cx="3098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D88AA8-353F-FB67-643C-2BECF91D0DA8}"/>
              </a:ext>
            </a:extLst>
          </p:cNvPr>
          <p:cNvSpPr txBox="1"/>
          <p:nvPr/>
        </p:nvSpPr>
        <p:spPr>
          <a:xfrm>
            <a:off x="4622800" y="5537200"/>
            <a:ext cx="3098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Fix purchase validation and import confirm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CA07C38-E6CB-6074-0E90-6F72B1629CB3}"/>
              </a:ext>
            </a:extLst>
          </p:cNvPr>
          <p:cNvSpPr/>
          <p:nvPr/>
        </p:nvSpPr>
        <p:spPr>
          <a:xfrm>
            <a:off x="8128000" y="4851400"/>
            <a:ext cx="3454400" cy="111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E69131F-6E2C-6629-28AB-A375C655DFA9}"/>
              </a:ext>
            </a:extLst>
          </p:cNvPr>
          <p:cNvSpPr/>
          <p:nvPr/>
        </p:nvSpPr>
        <p:spPr>
          <a:xfrm>
            <a:off x="8128000" y="4851400"/>
            <a:ext cx="101600" cy="1117600"/>
          </a:xfrm>
          <a:prstGeom prst="roundRect">
            <a:avLst/>
          </a:prstGeom>
          <a:solidFill>
            <a:srgbClr val="16A39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47395B-2246-93F7-028F-9255954139FE}"/>
              </a:ext>
            </a:extLst>
          </p:cNvPr>
          <p:cNvSpPr txBox="1"/>
          <p:nvPr/>
        </p:nvSpPr>
        <p:spPr>
          <a:xfrm>
            <a:off x="8382000" y="5080000"/>
            <a:ext cx="3098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945F12-2788-5B6A-A7DA-2C2594C69E4D}"/>
              </a:ext>
            </a:extLst>
          </p:cNvPr>
          <p:cNvSpPr txBox="1"/>
          <p:nvPr/>
        </p:nvSpPr>
        <p:spPr>
          <a:xfrm>
            <a:off x="8382000" y="5537200"/>
            <a:ext cx="3098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Rerun failed cases and attach post-fix evidence</a:t>
            </a:r>
          </a:p>
        </p:txBody>
      </p:sp>
    </p:spTree>
    <p:extLst>
      <p:ext uri="{BB962C8B-B14F-4D97-AF65-F5344CB8AC3E}">
        <p14:creationId xmlns:p14="http://schemas.microsoft.com/office/powerpoint/2010/main" val="1368449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E9C19A-29EF-B63F-6EFA-FC2FED2EA3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554E59-FC1D-15F7-8786-992EB4D7B3A3}"/>
              </a:ext>
            </a:extLst>
          </p:cNvPr>
          <p:cNvSpPr/>
          <p:nvPr/>
        </p:nvSpPr>
        <p:spPr>
          <a:xfrm>
            <a:off x="609600" y="406400"/>
            <a:ext cx="457200" cy="76200"/>
          </a:xfrm>
          <a:prstGeom prst="rect">
            <a:avLst/>
          </a:prstGeom>
          <a:solidFill>
            <a:srgbClr val="1079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05D354-A9E2-DD9D-E781-845AEE924039}"/>
              </a:ext>
            </a:extLst>
          </p:cNvPr>
          <p:cNvSpPr txBox="1"/>
          <p:nvPr/>
        </p:nvSpPr>
        <p:spPr>
          <a:xfrm>
            <a:off x="609600" y="508000"/>
            <a:ext cx="24130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 b="1">
                <a:solidFill>
                  <a:srgbClr val="1079D9"/>
                </a:solidFill>
                <a:latin typeface="Segoe UI" panose="020B0502040204020203" pitchFamily="34" charset="0"/>
              </a:rPr>
              <a:t>10  Q&amp;A Backup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8BB939-D2D8-4645-9B18-B0F460426081}"/>
              </a:ext>
            </a:extLst>
          </p:cNvPr>
          <p:cNvSpPr txBox="1"/>
          <p:nvPr/>
        </p:nvSpPr>
        <p:spPr>
          <a:xfrm>
            <a:off x="609600" y="838200"/>
            <a:ext cx="10972800" cy="574516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2400" b="1">
                <a:solidFill>
                  <a:srgbClr val="182438"/>
                </a:solidFill>
                <a:latin typeface="Bahnschrift SemiBold" panose="020B0502040204020203" pitchFamily="34" charset="0"/>
              </a:rPr>
              <a:t>Short Answers For The Most Likely Review Questions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4E3683-9085-B89A-0E8B-C3CE74CDD5F2}"/>
              </a:ext>
            </a:extLst>
          </p:cNvPr>
          <p:cNvSpPr txBox="1"/>
          <p:nvPr/>
        </p:nvSpPr>
        <p:spPr>
          <a:xfrm>
            <a:off x="609600" y="1549400"/>
            <a:ext cx="10972800" cy="374461"/>
          </a:xfrm>
          <a:prstGeom prst="rect">
            <a:avLst/>
          </a:prstGeom>
          <a:noFill/>
        </p:spPr>
        <p:txBody>
          <a:bodyPr vert="horz" wrap="square" lIns="101600" tIns="101600" rIns="101600" bIns="101600" rtlCol="0">
            <a:spAutoFit/>
          </a:bodyPr>
          <a:lstStyle/>
          <a:p>
            <a:r>
              <a:rPr lang="en-US" sz="1100">
                <a:solidFill>
                  <a:srgbClr val="58647D"/>
                </a:solidFill>
                <a:latin typeface="Segoe UI" panose="020B0502040204020203" pitchFamily="34" charset="0"/>
              </a:rPr>
              <a:t>This backup slide exists to keep the live defense calm, concrete, and evidence-based.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F017809-465B-F9DB-058C-5FBF431A4231}"/>
              </a:ext>
            </a:extLst>
          </p:cNvPr>
          <p:cNvSpPr/>
          <p:nvPr/>
        </p:nvSpPr>
        <p:spPr>
          <a:xfrm>
            <a:off x="609600" y="1854200"/>
            <a:ext cx="10972800" cy="609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500">
                <a:solidFill>
                  <a:srgbClr val="182438"/>
                </a:solidFill>
                <a:latin typeface="Segoe UI" panose="020B0502040204020203" pitchFamily="34" charset="0"/>
              </a:rPr>
              <a:t>Q1. Why do 7 failed cases map to 4 defects?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61925D-380A-E99A-9D8D-C27F8C791B31}"/>
              </a:ext>
            </a:extLst>
          </p:cNvPr>
          <p:cNvSpPr/>
          <p:nvPr/>
        </p:nvSpPr>
        <p:spPr>
          <a:xfrm>
            <a:off x="609600" y="2667000"/>
            <a:ext cx="10972800" cy="609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500">
                <a:solidFill>
                  <a:srgbClr val="182438"/>
                </a:solidFill>
                <a:latin typeface="Segoe UI" panose="020B0502040204020203" pitchFamily="34" charset="0"/>
              </a:rPr>
              <a:t>Q2. How do you distinguish automation failure from product defect?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C4FF944-AFA4-7460-3921-D441021507AA}"/>
              </a:ext>
            </a:extLst>
          </p:cNvPr>
          <p:cNvSpPr/>
          <p:nvPr/>
        </p:nvSpPr>
        <p:spPr>
          <a:xfrm>
            <a:off x="609600" y="3479800"/>
            <a:ext cx="10972800" cy="609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500">
                <a:solidFill>
                  <a:srgbClr val="182438"/>
                </a:solidFill>
                <a:latin typeface="Segoe UI" panose="020B0502040204020203" pitchFamily="34" charset="0"/>
              </a:rPr>
              <a:t>Q3. Why does 100% execution not mean a stable product?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5A17FA-CE01-E5A6-5248-1F3DEF557588}"/>
              </a:ext>
            </a:extLst>
          </p:cNvPr>
          <p:cNvSpPr/>
          <p:nvPr/>
        </p:nvSpPr>
        <p:spPr>
          <a:xfrm>
            <a:off x="609600" y="4292600"/>
            <a:ext cx="10972800" cy="609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500">
                <a:solidFill>
                  <a:srgbClr val="182438"/>
                </a:solidFill>
                <a:latin typeface="Segoe UI" panose="020B0502040204020203" pitchFamily="34" charset="0"/>
              </a:rPr>
              <a:t>Q4. Which module is riskiest right now?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ED9AA6-8CFA-F9CE-5909-5564D76DD2F5}"/>
              </a:ext>
            </a:extLst>
          </p:cNvPr>
          <p:cNvSpPr/>
          <p:nvPr/>
        </p:nvSpPr>
        <p:spPr>
          <a:xfrm>
            <a:off x="609600" y="5105400"/>
            <a:ext cx="10972800" cy="609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7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ctr"/>
          <a:lstStyle/>
          <a:p>
            <a:r>
              <a:rPr lang="en-US" sz="1500">
                <a:solidFill>
                  <a:srgbClr val="182438"/>
                </a:solidFill>
                <a:latin typeface="Segoe UI" panose="020B0502040204020203" pitchFamily="34" charset="0"/>
              </a:rPr>
              <a:t>Q5. What is the first post-fix retest priority?</a:t>
            </a:r>
          </a:p>
        </p:txBody>
      </p:sp>
    </p:spTree>
    <p:extLst>
      <p:ext uri="{BB962C8B-B14F-4D97-AF65-F5344CB8AC3E}">
        <p14:creationId xmlns:p14="http://schemas.microsoft.com/office/powerpoint/2010/main" val="2824306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1362</Words>
  <Application>Microsoft Office PowerPoint</Application>
  <PresentationFormat>Custom</PresentationFormat>
  <Paragraphs>139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Bahnschrift SemiBold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Thiên Hoàng</dc:creator>
  <cp:lastModifiedBy>Thiên Hoàng</cp:lastModifiedBy>
  <cp:revision>1</cp:revision>
  <dcterms:created xsi:type="dcterms:W3CDTF">2026-04-12T11:44:38Z</dcterms:created>
  <dcterms:modified xsi:type="dcterms:W3CDTF">2026-04-12T11:44:39Z</dcterms:modified>
</cp:coreProperties>
</file>